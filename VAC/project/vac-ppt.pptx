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6256000" cy="9144000"/>
  <p:notesSz cx="9144000" cy="16256000"/>
  <p:embeddedFontLst>
    <p:embeddedFont>
      <p:font typeface="Oranienbaum" charset="-122" pitchFamily="34"/>
      <p:regular r:id="rId14"/>
    </p:embeddedFont>
    <p:embeddedFont>
      <p:font typeface="Quattrocento Sans" charset="-122" pitchFamily="34"/>
      <p:regular r:id="rId15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font" Target="fonts/font1.fntdata"/><Relationship Id="rId15" Type="http://schemas.openxmlformats.org/officeDocument/2006/relationships/font" Target="fonts/font2.fntdata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Students</c:v>
                </c:pt>
              </c:strCache>
            </c:strRef>
          </c:tx>
          <c:spPr>
            <a:solidFill>
              <a:srgbClr val="B85C3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2D29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Immediately</c:v>
                  </c:pt>
                  <c:pt idx="1">
                    <c:v>&lt; 1 month</c:v>
                  </c:pt>
                  <c:pt idx="2">
                    <c:v>1-3 months</c:v>
                  </c:pt>
                  <c:pt idx="3">
                    <c:v>3-6 months</c:v>
                  </c:pt>
                  <c:pt idx="4">
                    <c:v>6+ months</c:v>
                  </c:pt>
                  <c:pt idx="5">
                    <c:v>Still adapting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</c:v>
                </c:pt>
                <c:pt idx="1">
                  <c:v>3</c:v>
                </c:pt>
                <c:pt idx="2">
                  <c:v>2</c:v>
                </c:pt>
                <c:pt idx="3">
                  <c:v>4</c:v>
                </c:pt>
                <c:pt idx="4">
                  <c:v>9</c:v>
                </c:pt>
                <c:pt idx="5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2D29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D29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5cfc6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D292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85C38"/>
              </a:solidFill>
              <a:effectLst/>
            </c:spPr>
          </c:dPt>
          <c:dPt>
            <c:idx val="1"/>
            <c:bubble3D val="0"/>
            <c:spPr>
              <a:solidFill>
                <a:srgbClr val="C97B5C"/>
              </a:solidFill>
              <a:effectLst/>
            </c:spPr>
          </c:dPt>
          <c:dPt>
            <c:idx val="2"/>
            <c:bubble3D val="0"/>
            <c:spPr>
              <a:solidFill>
                <a:srgbClr val="7A6F5B"/>
              </a:solidFill>
              <a:effectLst/>
            </c:spPr>
          </c:dPt>
          <c:dPt>
            <c:idx val="3"/>
            <c:bubble3D val="0"/>
            <c:spPr>
              <a:solidFill>
                <a:srgbClr val="A09080"/>
              </a:solidFill>
              <a:effectLst/>
            </c:spPr>
          </c:dPt>
          <c:dPt>
            <c:idx val="4"/>
            <c:bubble3D val="0"/>
            <c:spPr>
              <a:solidFill>
                <a:srgbClr val="2E5A5A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Extremely welcoming</c:v>
                </c:pt>
                <c:pt idx="1">
                  <c:v>Somewhat welcoming</c:v>
                </c:pt>
                <c:pt idx="2">
                  <c:v>Neutral</c:v>
                </c:pt>
                <c:pt idx="3">
                  <c:v>Somewhat unwelcoming</c:v>
                </c:pt>
                <c:pt idx="4">
                  <c:v>Felt isolated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8</c:v>
                </c:pt>
                <c:pt idx="1">
                  <c:v>8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2D2926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85C38"/>
              </a:solidFill>
              <a:effectLst/>
            </c:spPr>
          </c:dPt>
          <c:dPt>
            <c:idx val="1"/>
            <c:bubble3D val="0"/>
            <c:spPr>
              <a:solidFill>
                <a:srgbClr val="C97B5C"/>
              </a:solidFill>
              <a:effectLst/>
            </c:spPr>
          </c:dPt>
          <c:dPt>
            <c:idx val="2"/>
            <c:bubble3D val="0"/>
            <c:spPr>
              <a:solidFill>
                <a:srgbClr val="7A6F5B"/>
              </a:solidFill>
              <a:effectLst/>
            </c:spPr>
          </c:dPt>
          <c:dPt>
            <c:idx val="3"/>
            <c:bubble3D val="0"/>
            <c:spPr>
              <a:solidFill>
                <a:srgbClr val="A09080"/>
              </a:solidFill>
              <a:effectLst/>
            </c:spPr>
          </c:dPt>
          <c:dPt>
            <c:idx val="4"/>
            <c:bubble3D val="0"/>
            <c:spPr>
              <a:solidFill>
                <a:srgbClr val="2E5A5A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Very inclusive</c:v>
                </c:pt>
                <c:pt idx="1">
                  <c:v>Somewhat inclusive</c:v>
                </c:pt>
                <c:pt idx="2">
                  <c:v>Neutral</c:v>
                </c:pt>
                <c:pt idx="3">
                  <c:v>Somewhat exclusive</c:v>
                </c:pt>
                <c:pt idx="4">
                  <c:v>Very exclusive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4</c:v>
                </c:pt>
                <c:pt idx="1">
                  <c:v>4</c:v>
                </c:pt>
                <c:pt idx="2">
                  <c:v>8</c:v>
                </c:pt>
                <c:pt idx="3">
                  <c:v>6</c:v>
                </c:pt>
                <c:pt idx="4">
                  <c:v>3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2D2926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Students</c:v>
                </c:pt>
              </c:strCache>
            </c:strRef>
          </c:tx>
          <c:spPr>
            <a:solidFill>
              <a:srgbClr val="B85C3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2D29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 (Poor)</c:v>
                  </c:pt>
                  <c:pt idx="1">
                    <c:v>2</c:v>
                  </c:pt>
                  <c:pt idx="2">
                    <c:v>3 (Neutral)</c:v>
                  </c:pt>
                  <c:pt idx="3">
                    <c:v>4</c:v>
                  </c:pt>
                  <c:pt idx="4">
                    <c:v>5 (Excellent)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</c:v>
                </c:pt>
                <c:pt idx="1">
                  <c:v>3</c:v>
                </c:pt>
                <c:pt idx="2">
                  <c:v>8</c:v>
                </c:pt>
                <c:pt idx="3">
                  <c:v>4</c:v>
                </c:pt>
                <c:pt idx="4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2D29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D29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12700" cap="flat">
              <a:solidFill>
                <a:srgbClr val="E0E6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Responses</c:v>
                </c:pt>
              </c:strCache>
            </c:strRef>
          </c:tx>
          <c:spPr>
            <a:solidFill>
              <a:srgbClr val="B85C3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2D29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Diverse student body</c:v>
                  </c:pt>
                  <c:pt idx="1">
                    <c:v>Faculty accessibility</c:v>
                  </c:pt>
                  <c:pt idx="2">
                    <c:v>Lower fees</c:v>
                  </c:pt>
                  <c:pt idx="3">
                    <c:v>Campus life</c:v>
                  </c:pt>
                  <c:pt idx="4">
                    <c:v>Nothing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</c:v>
                </c:pt>
                <c:pt idx="1">
                  <c:v>5</c:v>
                </c:pt>
                <c:pt idx="2">
                  <c:v>4</c:v>
                </c:pt>
                <c:pt idx="3">
                  <c:v>2</c:v>
                </c:pt>
                <c:pt idx="4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2D29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D29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5cfc6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D292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Students</c:v>
                </c:pt>
              </c:strCache>
            </c:strRef>
          </c:tx>
          <c:spPr>
            <a:solidFill>
              <a:srgbClr val="2E5A5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2D29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Not at all</c:v>
                  </c:pt>
                  <c:pt idx="1">
                    <c:v>Minimally</c:v>
                  </c:pt>
                  <c:pt idx="2">
                    <c:v>Moderately</c:v>
                  </c:pt>
                  <c:pt idx="3">
                    <c:v>Significantly</c:v>
                  </c:pt>
                  <c:pt idx="4">
                    <c:v>Tremendously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</c:v>
                </c:pt>
                <c:pt idx="1">
                  <c:v>3</c:v>
                </c:pt>
                <c:pt idx="2">
                  <c:v>1</c:v>
                </c:pt>
                <c:pt idx="3">
                  <c:v>3</c:v>
                </c:pt>
                <c:pt idx="4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2D29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D29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12700" cap="flat">
              <a:solidFill>
                <a:srgbClr val="E0E6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bfzimilsut4gy/mnt/agents/output/du_presentation/images/2_Abstract_Art_Illustration_of_Diverse.png">    </p:cNvPr>
          <p:cNvPicPr>
            <a:picLocks noChangeAspect="1"/>
          </p:cNvPicPr>
          <p:nvPr/>
        </p:nvPicPr>
        <p:blipFill>
          <a:blip r:embed="rId1"/>
          <a:srcRect l="0" r="0" t="12687" b="12687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2D2926">
                  <a:alpha val="90000"/>
                </a:srgbClr>
              </a:gs>
              <a:gs pos="55000">
                <a:srgbClr val="2D2926">
                  <a:alpha val="67000"/>
                </a:srgbClr>
              </a:gs>
              <a:gs pos="100000">
                <a:srgbClr val="2D2926">
                  <a:alpha val="25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16000" y="3048000"/>
            <a:ext cx="889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4200" spc="100" kern="0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Foreign Students at DU:</a:t>
            </a:r>
            <a:endParaRPr lang="en-US" sz="4000" dirty="0"/>
          </a:p>
          <a:p>
            <a:pPr>
              <a:lnSpc>
                <a:spcPct val="120000"/>
              </a:lnSpc>
            </a:pPr>
            <a:r>
              <a:rPr lang="en-US" sz="4200" spc="100" kern="0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Negotiating Cultural Diversity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1016000" y="4762500"/>
            <a:ext cx="1524000" cy="38100"/>
          </a:xfrm>
          <a:prstGeom prst="rect">
            <a:avLst/>
          </a:prstGeom>
          <a:solidFill>
            <a:srgbClr val="B85C38"/>
          </a:solidFill>
          <a:ln/>
        </p:spPr>
      </p:sp>
      <p:sp>
        <p:nvSpPr>
          <p:cNvPr id="6" name="Text 3"/>
          <p:cNvSpPr/>
          <p:nvPr/>
        </p:nvSpPr>
        <p:spPr>
          <a:xfrm>
            <a:off x="1016000" y="5016500"/>
            <a:ext cx="762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i="1" spc="200" kern="0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Vasudhaiva Kutumbakam</a:t>
            </a:r>
            <a:pPr>
              <a:lnSpc>
                <a:spcPct val="100000"/>
              </a:lnSpc>
            </a:pPr>
            <a:r>
              <a:rPr lang="en-US" sz="2200" spc="200" kern="0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 — The World is One Family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16000" y="56515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Survey-Based Exploration of Life at Delhi University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016000" y="6350000"/>
            <a:ext cx="2540000" cy="457200"/>
          </a:xfrm>
          <a:prstGeom prst="roundRect">
            <a:avLst>
              <a:gd name="adj" fmla="val 8000"/>
            </a:avLst>
          </a:prstGeom>
          <a:solidFill>
            <a:srgbClr val="B85C38"/>
          </a:solidFill>
          <a:ln/>
        </p:spPr>
      </p:sp>
      <p:sp>
        <p:nvSpPr>
          <p:cNvPr id="9" name="Text 6"/>
          <p:cNvSpPr/>
          <p:nvPr/>
        </p:nvSpPr>
        <p:spPr>
          <a:xfrm>
            <a:off x="1016000" y="6350000"/>
            <a:ext cx="254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VAC Course Presentation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016000" y="7175064"/>
            <a:ext cx="6350000" cy="867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Aryan Kushwaha - 245703428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name 1 - 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name 2 - 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60400"/>
            <a:ext cx="50800" cy="406400"/>
          </a:xfrm>
          <a:prstGeom prst="rect">
            <a:avLst/>
          </a:prstGeom>
          <a:solidFill>
            <a:srgbClr val="B85C38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B85C38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Objectives and Methodology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524000"/>
            <a:ext cx="4572000" cy="2794000"/>
          </a:xfrm>
          <a:prstGeom prst="rect">
            <a:avLst/>
          </a:prstGeom>
          <a:solidFill>
            <a:srgbClr val="EDE6D9"/>
          </a:solidFill>
          <a:ln/>
        </p:spPr>
      </p:sp>
      <p:sp>
        <p:nvSpPr>
          <p:cNvPr id="5" name="Shape 3"/>
          <p:cNvSpPr/>
          <p:nvPr/>
        </p:nvSpPr>
        <p:spPr>
          <a:xfrm>
            <a:off x="1016000" y="1778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00050" y="228600"/>
                </a:moveTo>
                <a:cubicBezTo>
                  <a:pt x="400050" y="133974"/>
                  <a:pt x="323226" y="57150"/>
                  <a:pt x="228600" y="57150"/>
                </a:cubicBezTo>
                <a:cubicBezTo>
                  <a:pt x="133974" y="57150"/>
                  <a:pt x="57150" y="133974"/>
                  <a:pt x="57150" y="228600"/>
                </a:cubicBezTo>
                <a:cubicBezTo>
                  <a:pt x="57150" y="323226"/>
                  <a:pt x="133974" y="400050"/>
                  <a:pt x="228600" y="400050"/>
                </a:cubicBezTo>
                <a:cubicBezTo>
                  <a:pt x="323226" y="400050"/>
                  <a:pt x="400050" y="323226"/>
                  <a:pt x="400050" y="228600"/>
                </a:cubicBezTo>
                <a:close/>
                <a:moveTo>
                  <a:pt x="0" y="228600"/>
                </a:moveTo>
                <a:cubicBezTo>
                  <a:pt x="0" y="102432"/>
                  <a:pt x="102432" y="0"/>
                  <a:pt x="228600" y="0"/>
                </a:cubicBezTo>
                <a:cubicBezTo>
                  <a:pt x="354768" y="0"/>
                  <a:pt x="457200" y="102432"/>
                  <a:pt x="457200" y="228600"/>
                </a:cubicBezTo>
                <a:cubicBezTo>
                  <a:pt x="457200" y="354768"/>
                  <a:pt x="354768" y="457200"/>
                  <a:pt x="228600" y="457200"/>
                </a:cubicBezTo>
                <a:cubicBezTo>
                  <a:pt x="102432" y="457200"/>
                  <a:pt x="0" y="354768"/>
                  <a:pt x="0" y="228600"/>
                </a:cubicBezTo>
                <a:close/>
                <a:moveTo>
                  <a:pt x="228600" y="300038"/>
                </a:moveTo>
                <a:cubicBezTo>
                  <a:pt x="268027" y="300038"/>
                  <a:pt x="300038" y="268027"/>
                  <a:pt x="300038" y="228600"/>
                </a:cubicBezTo>
                <a:cubicBezTo>
                  <a:pt x="300038" y="189173"/>
                  <a:pt x="268027" y="157163"/>
                  <a:pt x="228600" y="157163"/>
                </a:cubicBezTo>
                <a:cubicBezTo>
                  <a:pt x="189173" y="157163"/>
                  <a:pt x="157163" y="189173"/>
                  <a:pt x="157163" y="228600"/>
                </a:cubicBezTo>
                <a:cubicBezTo>
                  <a:pt x="157163" y="268027"/>
                  <a:pt x="189173" y="300038"/>
                  <a:pt x="228600" y="300038"/>
                </a:cubicBezTo>
                <a:close/>
                <a:moveTo>
                  <a:pt x="228600" y="100013"/>
                </a:moveTo>
                <a:cubicBezTo>
                  <a:pt x="299569" y="100013"/>
                  <a:pt x="357188" y="157631"/>
                  <a:pt x="357188" y="228600"/>
                </a:cubicBezTo>
                <a:cubicBezTo>
                  <a:pt x="357188" y="299569"/>
                  <a:pt x="299569" y="357188"/>
                  <a:pt x="228600" y="357188"/>
                </a:cubicBezTo>
                <a:cubicBezTo>
                  <a:pt x="157631" y="357188"/>
                  <a:pt x="100013" y="299569"/>
                  <a:pt x="100013" y="228600"/>
                </a:cubicBezTo>
                <a:cubicBezTo>
                  <a:pt x="100013" y="157631"/>
                  <a:pt x="157631" y="100013"/>
                  <a:pt x="228600" y="100013"/>
                </a:cubicBezTo>
                <a:close/>
                <a:moveTo>
                  <a:pt x="200025" y="228600"/>
                </a:moveTo>
                <a:cubicBezTo>
                  <a:pt x="200025" y="212829"/>
                  <a:pt x="212829" y="200025"/>
                  <a:pt x="228600" y="200025"/>
                </a:cubicBezTo>
                <a:cubicBezTo>
                  <a:pt x="244371" y="200025"/>
                  <a:pt x="257175" y="212829"/>
                  <a:pt x="257175" y="228600"/>
                </a:cubicBezTo>
                <a:cubicBezTo>
                  <a:pt x="257175" y="244371"/>
                  <a:pt x="244371" y="257175"/>
                  <a:pt x="228600" y="257175"/>
                </a:cubicBezTo>
                <a:cubicBezTo>
                  <a:pt x="212829" y="257175"/>
                  <a:pt x="200025" y="244371"/>
                  <a:pt x="200025" y="228600"/>
                </a:cubicBezTo>
                <a:close/>
              </a:path>
            </a:pathLst>
          </a:custGeom>
          <a:solidFill>
            <a:srgbClr val="B85C38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23876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B85C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Course Objective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000" y="2844800"/>
            <a:ext cx="406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9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 learn to adapt, interact, and celebrate our pluralistic culture through lived experience and dialogue.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842000" y="1524000"/>
            <a:ext cx="4572000" cy="2794000"/>
          </a:xfrm>
          <a:prstGeom prst="rect">
            <a:avLst/>
          </a:prstGeom>
          <a:solidFill>
            <a:srgbClr val="EDE6D9"/>
          </a:solidFill>
          <a:ln/>
        </p:spPr>
      </p:sp>
      <p:sp>
        <p:nvSpPr>
          <p:cNvPr id="9" name="Shape 7"/>
          <p:cNvSpPr/>
          <p:nvPr/>
        </p:nvSpPr>
        <p:spPr>
          <a:xfrm>
            <a:off x="6153150" y="1778000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278070" y="28575"/>
                </a:moveTo>
                <a:lnTo>
                  <a:pt x="285750" y="28575"/>
                </a:lnTo>
                <a:cubicBezTo>
                  <a:pt x="317272" y="28575"/>
                  <a:pt x="342900" y="54203"/>
                  <a:pt x="342900" y="85725"/>
                </a:cubicBezTo>
                <a:lnTo>
                  <a:pt x="342900" y="400050"/>
                </a:lnTo>
                <a:cubicBezTo>
                  <a:pt x="342900" y="431572"/>
                  <a:pt x="317272" y="457200"/>
                  <a:pt x="285750" y="457200"/>
                </a:cubicBezTo>
                <a:lnTo>
                  <a:pt x="57150" y="457200"/>
                </a:lnTo>
                <a:cubicBezTo>
                  <a:pt x="25628" y="457200"/>
                  <a:pt x="0" y="431572"/>
                  <a:pt x="0" y="400050"/>
                </a:cubicBezTo>
                <a:lnTo>
                  <a:pt x="0" y="85725"/>
                </a:lnTo>
                <a:cubicBezTo>
                  <a:pt x="0" y="54203"/>
                  <a:pt x="25628" y="28575"/>
                  <a:pt x="57150" y="28575"/>
                </a:cubicBezTo>
                <a:lnTo>
                  <a:pt x="64830" y="28575"/>
                </a:lnTo>
                <a:cubicBezTo>
                  <a:pt x="74652" y="11519"/>
                  <a:pt x="93137" y="0"/>
                  <a:pt x="114300" y="0"/>
                </a:cubicBezTo>
                <a:lnTo>
                  <a:pt x="228600" y="0"/>
                </a:lnTo>
                <a:cubicBezTo>
                  <a:pt x="249763" y="0"/>
                  <a:pt x="268248" y="11519"/>
                  <a:pt x="278070" y="28575"/>
                </a:cubicBezTo>
                <a:close/>
                <a:moveTo>
                  <a:pt x="221456" y="100013"/>
                </a:moveTo>
                <a:cubicBezTo>
                  <a:pt x="233333" y="100013"/>
                  <a:pt x="242888" y="90458"/>
                  <a:pt x="242888" y="78581"/>
                </a:cubicBezTo>
                <a:cubicBezTo>
                  <a:pt x="242888" y="66705"/>
                  <a:pt x="233333" y="57150"/>
                  <a:pt x="221456" y="57150"/>
                </a:cubicBezTo>
                <a:lnTo>
                  <a:pt x="121444" y="57150"/>
                </a:lnTo>
                <a:cubicBezTo>
                  <a:pt x="109567" y="57150"/>
                  <a:pt x="100013" y="66705"/>
                  <a:pt x="100013" y="78581"/>
                </a:cubicBezTo>
                <a:cubicBezTo>
                  <a:pt x="100013" y="90458"/>
                  <a:pt x="109567" y="100013"/>
                  <a:pt x="121444" y="100013"/>
                </a:cubicBezTo>
                <a:lnTo>
                  <a:pt x="221456" y="100013"/>
                </a:lnTo>
                <a:close/>
                <a:moveTo>
                  <a:pt x="114300" y="228600"/>
                </a:moveTo>
                <a:cubicBezTo>
                  <a:pt x="114300" y="212829"/>
                  <a:pt x="101496" y="200025"/>
                  <a:pt x="85725" y="200025"/>
                </a:cubicBezTo>
                <a:cubicBezTo>
                  <a:pt x="69954" y="200025"/>
                  <a:pt x="57150" y="212829"/>
                  <a:pt x="57150" y="228600"/>
                </a:cubicBezTo>
                <a:cubicBezTo>
                  <a:pt x="57150" y="244371"/>
                  <a:pt x="69954" y="257175"/>
                  <a:pt x="85725" y="257175"/>
                </a:cubicBezTo>
                <a:cubicBezTo>
                  <a:pt x="101496" y="257175"/>
                  <a:pt x="114300" y="244371"/>
                  <a:pt x="114300" y="228600"/>
                </a:cubicBezTo>
                <a:close/>
                <a:moveTo>
                  <a:pt x="142875" y="228600"/>
                </a:moveTo>
                <a:cubicBezTo>
                  <a:pt x="142875" y="240476"/>
                  <a:pt x="152430" y="250031"/>
                  <a:pt x="164306" y="250031"/>
                </a:cubicBezTo>
                <a:lnTo>
                  <a:pt x="264319" y="250031"/>
                </a:lnTo>
                <a:cubicBezTo>
                  <a:pt x="276195" y="250031"/>
                  <a:pt x="285750" y="240476"/>
                  <a:pt x="285750" y="228600"/>
                </a:cubicBezTo>
                <a:cubicBezTo>
                  <a:pt x="285750" y="216724"/>
                  <a:pt x="276195" y="207169"/>
                  <a:pt x="264319" y="207169"/>
                </a:cubicBezTo>
                <a:lnTo>
                  <a:pt x="164306" y="207169"/>
                </a:lnTo>
                <a:cubicBezTo>
                  <a:pt x="152430" y="207169"/>
                  <a:pt x="142875" y="216724"/>
                  <a:pt x="142875" y="228600"/>
                </a:cubicBezTo>
                <a:close/>
                <a:moveTo>
                  <a:pt x="142875" y="342900"/>
                </a:moveTo>
                <a:cubicBezTo>
                  <a:pt x="142875" y="354776"/>
                  <a:pt x="152430" y="364331"/>
                  <a:pt x="164306" y="364331"/>
                </a:cubicBezTo>
                <a:lnTo>
                  <a:pt x="264319" y="364331"/>
                </a:lnTo>
                <a:cubicBezTo>
                  <a:pt x="276195" y="364331"/>
                  <a:pt x="285750" y="354776"/>
                  <a:pt x="285750" y="342900"/>
                </a:cubicBezTo>
                <a:cubicBezTo>
                  <a:pt x="285750" y="331024"/>
                  <a:pt x="276195" y="321469"/>
                  <a:pt x="264319" y="321469"/>
                </a:cubicBezTo>
                <a:lnTo>
                  <a:pt x="164306" y="321469"/>
                </a:lnTo>
                <a:cubicBezTo>
                  <a:pt x="152430" y="321469"/>
                  <a:pt x="142875" y="331024"/>
                  <a:pt x="142875" y="342900"/>
                </a:cubicBezTo>
                <a:close/>
                <a:moveTo>
                  <a:pt x="85725" y="371475"/>
                </a:moveTo>
                <a:cubicBezTo>
                  <a:pt x="101496" y="371475"/>
                  <a:pt x="114300" y="358671"/>
                  <a:pt x="114300" y="342900"/>
                </a:cubicBezTo>
                <a:cubicBezTo>
                  <a:pt x="114300" y="327129"/>
                  <a:pt x="101496" y="314325"/>
                  <a:pt x="85725" y="314325"/>
                </a:cubicBezTo>
                <a:cubicBezTo>
                  <a:pt x="69954" y="314325"/>
                  <a:pt x="57150" y="327129"/>
                  <a:pt x="57150" y="342900"/>
                </a:cubicBezTo>
                <a:cubicBezTo>
                  <a:pt x="57150" y="358671"/>
                  <a:pt x="69954" y="371475"/>
                  <a:pt x="85725" y="371475"/>
                </a:cubicBezTo>
                <a:close/>
              </a:path>
            </a:pathLst>
          </a:custGeom>
          <a:solidFill>
            <a:srgbClr val="B85C38"/>
          </a:solidFill>
          <a:ln/>
        </p:spPr>
      </p:sp>
      <p:sp>
        <p:nvSpPr>
          <p:cNvPr id="10" name="Text 8"/>
          <p:cNvSpPr/>
          <p:nvPr/>
        </p:nvSpPr>
        <p:spPr>
          <a:xfrm>
            <a:off x="6096000" y="23876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B85C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Survey Method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96000" y="2844800"/>
            <a:ext cx="406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9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Google Form distributed to foreign students across DU colleges to collect authentic lived experiences.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922000" y="1524000"/>
            <a:ext cx="4572000" cy="2794000"/>
          </a:xfrm>
          <a:prstGeom prst="rect">
            <a:avLst/>
          </a:prstGeom>
          <a:solidFill>
            <a:srgbClr val="EDE6D9"/>
          </a:solidFill>
          <a:ln/>
        </p:spPr>
      </p:sp>
      <p:sp>
        <p:nvSpPr>
          <p:cNvPr id="13" name="Shape 11"/>
          <p:cNvSpPr/>
          <p:nvPr/>
        </p:nvSpPr>
        <p:spPr>
          <a:xfrm>
            <a:off x="11176000" y="1778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14236" y="250031"/>
                </a:moveTo>
                <a:lnTo>
                  <a:pt x="143768" y="250031"/>
                </a:lnTo>
                <a:cubicBezTo>
                  <a:pt x="146358" y="307628"/>
                  <a:pt x="159127" y="360670"/>
                  <a:pt x="177254" y="399514"/>
                </a:cubicBezTo>
                <a:cubicBezTo>
                  <a:pt x="187434" y="421392"/>
                  <a:pt x="198418" y="436840"/>
                  <a:pt x="208597" y="446306"/>
                </a:cubicBezTo>
                <a:cubicBezTo>
                  <a:pt x="218599" y="455682"/>
                  <a:pt x="225475" y="457200"/>
                  <a:pt x="229046" y="457200"/>
                </a:cubicBezTo>
                <a:cubicBezTo>
                  <a:pt x="232618" y="457200"/>
                  <a:pt x="239494" y="455682"/>
                  <a:pt x="249495" y="446306"/>
                </a:cubicBezTo>
                <a:cubicBezTo>
                  <a:pt x="259675" y="436840"/>
                  <a:pt x="270659" y="421303"/>
                  <a:pt x="280839" y="399514"/>
                </a:cubicBezTo>
                <a:cubicBezTo>
                  <a:pt x="298966" y="360670"/>
                  <a:pt x="311735" y="307628"/>
                  <a:pt x="314325" y="250031"/>
                </a:cubicBezTo>
                <a:close/>
                <a:moveTo>
                  <a:pt x="143679" y="207169"/>
                </a:moveTo>
                <a:lnTo>
                  <a:pt x="314146" y="207169"/>
                </a:lnTo>
                <a:cubicBezTo>
                  <a:pt x="311646" y="149572"/>
                  <a:pt x="298877" y="96530"/>
                  <a:pt x="280749" y="57686"/>
                </a:cubicBezTo>
                <a:cubicBezTo>
                  <a:pt x="270570" y="35897"/>
                  <a:pt x="259586" y="20360"/>
                  <a:pt x="249406" y="10894"/>
                </a:cubicBezTo>
                <a:cubicBezTo>
                  <a:pt x="239405" y="1518"/>
                  <a:pt x="232529" y="0"/>
                  <a:pt x="228957" y="0"/>
                </a:cubicBezTo>
                <a:cubicBezTo>
                  <a:pt x="225385" y="0"/>
                  <a:pt x="218509" y="1518"/>
                  <a:pt x="208508" y="10894"/>
                </a:cubicBezTo>
                <a:cubicBezTo>
                  <a:pt x="198328" y="20360"/>
                  <a:pt x="187345" y="35897"/>
                  <a:pt x="177165" y="57686"/>
                </a:cubicBezTo>
                <a:cubicBezTo>
                  <a:pt x="159038" y="96530"/>
                  <a:pt x="146268" y="149572"/>
                  <a:pt x="143679" y="207169"/>
                </a:cubicBezTo>
                <a:close/>
                <a:moveTo>
                  <a:pt x="100816" y="207169"/>
                </a:moveTo>
                <a:cubicBezTo>
                  <a:pt x="103942" y="130731"/>
                  <a:pt x="123676" y="59740"/>
                  <a:pt x="152519" y="13127"/>
                </a:cubicBezTo>
                <a:cubicBezTo>
                  <a:pt x="70277" y="42237"/>
                  <a:pt x="9733" y="117157"/>
                  <a:pt x="1339" y="207169"/>
                </a:cubicBezTo>
                <a:lnTo>
                  <a:pt x="100816" y="207169"/>
                </a:lnTo>
                <a:close/>
                <a:moveTo>
                  <a:pt x="1339" y="250031"/>
                </a:moveTo>
                <a:cubicBezTo>
                  <a:pt x="9733" y="340043"/>
                  <a:pt x="70277" y="414963"/>
                  <a:pt x="152519" y="444073"/>
                </a:cubicBezTo>
                <a:cubicBezTo>
                  <a:pt x="123676" y="397460"/>
                  <a:pt x="103942" y="326469"/>
                  <a:pt x="100816" y="250031"/>
                </a:cubicBezTo>
                <a:lnTo>
                  <a:pt x="1339" y="250031"/>
                </a:lnTo>
                <a:close/>
                <a:moveTo>
                  <a:pt x="357098" y="250031"/>
                </a:moveTo>
                <a:cubicBezTo>
                  <a:pt x="353973" y="326469"/>
                  <a:pt x="334238" y="397460"/>
                  <a:pt x="305395" y="444073"/>
                </a:cubicBezTo>
                <a:cubicBezTo>
                  <a:pt x="387638" y="414873"/>
                  <a:pt x="448181" y="340043"/>
                  <a:pt x="456575" y="250031"/>
                </a:cubicBezTo>
                <a:lnTo>
                  <a:pt x="357098" y="250031"/>
                </a:lnTo>
                <a:close/>
                <a:moveTo>
                  <a:pt x="456575" y="207169"/>
                </a:moveTo>
                <a:cubicBezTo>
                  <a:pt x="448181" y="117157"/>
                  <a:pt x="387638" y="42237"/>
                  <a:pt x="305395" y="13127"/>
                </a:cubicBezTo>
                <a:cubicBezTo>
                  <a:pt x="334238" y="59740"/>
                  <a:pt x="353973" y="130731"/>
                  <a:pt x="357098" y="207169"/>
                </a:cubicBezTo>
                <a:lnTo>
                  <a:pt x="456575" y="207169"/>
                </a:lnTo>
                <a:close/>
              </a:path>
            </a:pathLst>
          </a:custGeom>
          <a:solidFill>
            <a:srgbClr val="B85C38"/>
          </a:solidFill>
          <a:ln/>
        </p:spPr>
      </p:sp>
      <p:sp>
        <p:nvSpPr>
          <p:cNvPr id="14" name="Text 12"/>
          <p:cNvSpPr/>
          <p:nvPr/>
        </p:nvSpPr>
        <p:spPr>
          <a:xfrm>
            <a:off x="11176000" y="23876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B85C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Respondent Profile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176000" y="2844800"/>
            <a:ext cx="406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9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25 students from 16 countries across Asia, Africa, Europe, and the Americas.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4699000"/>
            <a:ext cx="14732000" cy="12700"/>
          </a:xfrm>
          <a:prstGeom prst="rect">
            <a:avLst/>
          </a:prstGeom>
          <a:solidFill>
            <a:srgbClr val="D5CFC6"/>
          </a:solidFill>
          <a:ln/>
        </p:spPr>
      </p:sp>
      <p:sp>
        <p:nvSpPr>
          <p:cNvPr id="17" name="Text 15"/>
          <p:cNvSpPr/>
          <p:nvPr/>
        </p:nvSpPr>
        <p:spPr>
          <a:xfrm>
            <a:off x="762000" y="5016500"/>
            <a:ext cx="254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400" dirty="0">
                <a:solidFill>
                  <a:srgbClr val="B85C38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25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762000" y="5778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7A6F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Responses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810000" y="5016500"/>
            <a:ext cx="254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400" dirty="0">
                <a:solidFill>
                  <a:srgbClr val="B85C38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16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3810000" y="5778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7A6F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Countries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858000" y="5016500"/>
            <a:ext cx="254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400" dirty="0">
                <a:solidFill>
                  <a:srgbClr val="B85C38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12</a:t>
            </a:r>
            <a:endParaRPr lang="en-US" sz="4400" dirty="0"/>
          </a:p>
        </p:txBody>
      </p:sp>
      <p:sp>
        <p:nvSpPr>
          <p:cNvPr id="22" name="Text 20"/>
          <p:cNvSpPr/>
          <p:nvPr/>
        </p:nvSpPr>
        <p:spPr>
          <a:xfrm>
            <a:off x="6858000" y="5778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7A6F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DU Colleges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906000" y="5016500"/>
            <a:ext cx="254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400" dirty="0">
                <a:solidFill>
                  <a:srgbClr val="B85C38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5</a:t>
            </a:r>
            <a:endParaRPr lang="en-US" sz="4400" dirty="0"/>
          </a:p>
        </p:txBody>
      </p:sp>
      <p:sp>
        <p:nvSpPr>
          <p:cNvPr id="24" name="Text 22"/>
          <p:cNvSpPr/>
          <p:nvPr/>
        </p:nvSpPr>
        <p:spPr>
          <a:xfrm>
            <a:off x="9906000" y="5778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7A6F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Survey Dimensions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954000" y="5016500"/>
            <a:ext cx="254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400" dirty="0">
                <a:solidFill>
                  <a:srgbClr val="B85C38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100%</a:t>
            </a:r>
            <a:endParaRPr lang="en-US" sz="4400" dirty="0"/>
          </a:p>
        </p:txBody>
      </p:sp>
      <p:sp>
        <p:nvSpPr>
          <p:cNvPr id="26" name="Text 24"/>
          <p:cNvSpPr/>
          <p:nvPr/>
        </p:nvSpPr>
        <p:spPr>
          <a:xfrm>
            <a:off x="12954000" y="5778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7A6F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Consent Rate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62000" y="6477000"/>
            <a:ext cx="14732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2D29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Cultural Lens Approach: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9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data is viewed through a cultural lens to understand human connections rather than just demographic percentages. Survey dimensions include cultural adaptation, empathy &amp; belonging, communication barriers, academic collaboration, and overall experience.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62000" y="8509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7A6F5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Foreign Students at DU | Objectives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60400"/>
            <a:ext cx="50800" cy="406400"/>
          </a:xfrm>
          <a:prstGeom prst="rect">
            <a:avLst/>
          </a:prstGeom>
          <a:solidFill>
            <a:srgbClr val="B85C38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B85C38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Cultural Adaptability — Integrating into a New World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762000" y="1651000"/>
          <a:ext cx="6858000" cy="4318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62000" y="6223000"/>
            <a:ext cx="6858000" cy="1397000"/>
          </a:xfrm>
          <a:prstGeom prst="rect">
            <a:avLst/>
          </a:prstGeom>
          <a:solidFill>
            <a:srgbClr val="EDE6D9"/>
          </a:solidFill>
          <a:ln/>
        </p:spPr>
      </p:sp>
      <p:sp>
        <p:nvSpPr>
          <p:cNvPr id="6" name="Text 3"/>
          <p:cNvSpPr/>
          <p:nvPr/>
        </p:nvSpPr>
        <p:spPr>
          <a:xfrm>
            <a:off x="1016000" y="6286500"/>
            <a:ext cx="635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B85C38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52%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9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adapted within 6 months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B85C38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32%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9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felt at home within 1 month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128000" y="1651000"/>
            <a:ext cx="736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B85C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Top Cultural Shocks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128000" y="2082800"/>
            <a:ext cx="7366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B85C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9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Spicy food — 40% of respondents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B85C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9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Religious practices everywhere — 36%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B85C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9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Flexible "Indian Standard Time" — 32%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B85C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9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Loud noises everywhere — 32%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B85C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9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Gender segregation — 28%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128000" y="4064000"/>
            <a:ext cx="736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E5A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Most Appreciated Aspects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128000" y="4495800"/>
            <a:ext cx="7366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E5A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9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Festival celebrations — 24%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E5A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9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Hospitality and warmth — 24%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E5A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9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Food variety — 16%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E5A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9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Music and arts — 12%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8128000" y="6223000"/>
            <a:ext cx="7366000" cy="1016000"/>
          </a:xfrm>
          <a:prstGeom prst="rect">
            <a:avLst/>
          </a:prstGeom>
          <a:solidFill>
            <a:srgbClr val="EDE6D9"/>
          </a:solidFill>
          <a:ln/>
        </p:spPr>
      </p:sp>
      <p:sp>
        <p:nvSpPr>
          <p:cNvPr id="12" name="Shape 9"/>
          <p:cNvSpPr/>
          <p:nvPr/>
        </p:nvSpPr>
        <p:spPr>
          <a:xfrm>
            <a:off x="8128000" y="6223000"/>
            <a:ext cx="50800" cy="1016000"/>
          </a:xfrm>
          <a:prstGeom prst="rect">
            <a:avLst/>
          </a:prstGeom>
          <a:solidFill>
            <a:srgbClr val="2E5A5A"/>
          </a:solidFill>
          <a:ln/>
        </p:spPr>
      </p:sp>
      <p:sp>
        <p:nvSpPr>
          <p:cNvPr id="13" name="Text 10"/>
          <p:cNvSpPr/>
          <p:nvPr/>
        </p:nvSpPr>
        <p:spPr>
          <a:xfrm>
            <a:off x="8382000" y="6286500"/>
            <a:ext cx="685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2D29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Takeaway: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9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Despite initial shocks, a significant proportion demonstrated high cultural adaptability by integrating local customs into daily routines.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62000" y="8509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7A6F5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Foreign Students at DU | Adaptability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60400"/>
            <a:ext cx="50800" cy="406400"/>
          </a:xfrm>
          <a:prstGeom prst="rect">
            <a:avLst/>
          </a:prstGeom>
          <a:solidFill>
            <a:srgbClr val="B85C38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B85C38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Empathy and Pluralism on Campus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651000"/>
            <a:ext cx="14732000" cy="2159000"/>
          </a:xfrm>
          <a:prstGeom prst="rect">
            <a:avLst/>
          </a:prstGeom>
          <a:solidFill>
            <a:srgbClr val="EDE6D9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651000"/>
            <a:ext cx="50800" cy="2159000"/>
          </a:xfrm>
          <a:prstGeom prst="rect">
            <a:avLst/>
          </a:prstGeom>
          <a:solidFill>
            <a:srgbClr val="B85C38"/>
          </a:solidFill>
          <a:ln/>
        </p:spPr>
      </p:sp>
      <p:sp>
        <p:nvSpPr>
          <p:cNvPr id="6" name="Text 4"/>
          <p:cNvSpPr/>
          <p:nvPr/>
        </p:nvSpPr>
        <p:spPr>
          <a:xfrm>
            <a:off x="1066800" y="1778000"/>
            <a:ext cx="14097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2D2926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"I am proud to belong to a religion which has taught the world both tolerance and universal acceptance. I am proud to belong to a nation which has sheltered the persecuted and the refugees of all religions and all nations of the earth."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66800" y="3352800"/>
            <a:ext cx="14097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600" dirty="0">
                <a:solidFill>
                  <a:srgbClr val="7A6F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 Swami Vivekananda, Chicago Address, 1893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41910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B85C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Empathy &amp; Belonging Index</a:t>
            </a:r>
            <a:endParaRPr lang="en-US" sz="16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762000" y="4699000"/>
          <a:ext cx="6858000" cy="3048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0" name="Chart 1" descr=""/>
          <p:cNvGraphicFramePr/>
          <p:nvPr/>
        </p:nvGraphicFramePr>
        <p:xfrm>
          <a:off x="8128000" y="4699000"/>
          <a:ext cx="7366000" cy="3048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Shape 7"/>
          <p:cNvSpPr/>
          <p:nvPr/>
        </p:nvSpPr>
        <p:spPr>
          <a:xfrm>
            <a:off x="762000" y="8001000"/>
            <a:ext cx="14732000" cy="762000"/>
          </a:xfrm>
          <a:prstGeom prst="rect">
            <a:avLst/>
          </a:prstGeom>
          <a:solidFill>
            <a:srgbClr val="EDE6D9"/>
          </a:solidFill>
          <a:ln/>
        </p:spPr>
      </p:sp>
      <p:sp>
        <p:nvSpPr>
          <p:cNvPr id="12" name="Shape 8"/>
          <p:cNvSpPr/>
          <p:nvPr/>
        </p:nvSpPr>
        <p:spPr>
          <a:xfrm>
            <a:off x="762000" y="8001000"/>
            <a:ext cx="50800" cy="762000"/>
          </a:xfrm>
          <a:prstGeom prst="rect">
            <a:avLst/>
          </a:prstGeom>
          <a:solidFill>
            <a:srgbClr val="2E5A5A"/>
          </a:solidFill>
          <a:ln/>
        </p:spPr>
      </p:sp>
      <p:sp>
        <p:nvSpPr>
          <p:cNvPr id="13" name="Text 9"/>
          <p:cNvSpPr/>
          <p:nvPr/>
        </p:nvSpPr>
        <p:spPr>
          <a:xfrm>
            <a:off x="1066800" y="8064500"/>
            <a:ext cx="1409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2D29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Critical Reflection: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2D29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While 64% found DU welcoming, nearly 1 in 3 students do not feel included — a gap between Vivekananda's ideal and current campus reality.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762000" y="8763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7A6F5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Foreign Students at DU | Empathy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60400"/>
            <a:ext cx="50800" cy="406400"/>
          </a:xfrm>
          <a:prstGeom prst="rect">
            <a:avLst/>
          </a:prstGeom>
          <a:solidFill>
            <a:srgbClr val="B85C38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B85C38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Bridging Gaps through Effective Communication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778000"/>
            <a:ext cx="4064000" cy="2921000"/>
          </a:xfrm>
          <a:prstGeom prst="rect">
            <a:avLst/>
          </a:prstGeom>
          <a:solidFill>
            <a:srgbClr val="EDE6D9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778000"/>
            <a:ext cx="4064000" cy="76200"/>
          </a:xfrm>
          <a:prstGeom prst="rect">
            <a:avLst/>
          </a:prstGeom>
          <a:solidFill>
            <a:srgbClr val="B85C38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2159000"/>
            <a:ext cx="4064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600" dirty="0">
                <a:solidFill>
                  <a:srgbClr val="B85C38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32%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000" y="3175000"/>
            <a:ext cx="3556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2D29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Language barriers — the #1 complaint among foreign students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34000" y="17780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B85C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Faculty Interaction Ratings</a:t>
            </a:r>
            <a:endParaRPr lang="en-US" sz="16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334000" y="2260600"/>
          <a:ext cx="66040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/>
          <p:nvPr/>
        </p:nvSpPr>
        <p:spPr>
          <a:xfrm>
            <a:off x="12192000" y="1778000"/>
            <a:ext cx="3302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3600" dirty="0">
                <a:solidFill>
                  <a:srgbClr val="B85C38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2.9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7A6F5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/ 5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29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Average rating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600" dirty="0">
                <a:solidFill>
                  <a:srgbClr val="2E5A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600" dirty="0">
                <a:solidFill>
                  <a:srgbClr val="2D29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Only 16% rated excellent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E5A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9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24% rated poor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62000" y="48260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E5A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Qualitative Insight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62000" y="5308600"/>
            <a:ext cx="1473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29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Students from non-English-speaking backgrounds (Bhutan, Afghanistan, Nigeria) consistently reported lower faculty interaction scores. This suggests that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D29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empathetic listening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29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the primary tool students use to overcome language barriers — rather than formal language support structures.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62000" y="6858000"/>
            <a:ext cx="14732000" cy="1016000"/>
          </a:xfrm>
          <a:prstGeom prst="rect">
            <a:avLst/>
          </a:prstGeom>
          <a:solidFill>
            <a:srgbClr val="EDE6D9"/>
          </a:solidFill>
          <a:ln/>
        </p:spPr>
      </p:sp>
      <p:sp>
        <p:nvSpPr>
          <p:cNvPr id="14" name="Shape 11"/>
          <p:cNvSpPr/>
          <p:nvPr/>
        </p:nvSpPr>
        <p:spPr>
          <a:xfrm>
            <a:off x="762000" y="6858000"/>
            <a:ext cx="50800" cy="1016000"/>
          </a:xfrm>
          <a:prstGeom prst="rect">
            <a:avLst/>
          </a:prstGeom>
          <a:solidFill>
            <a:srgbClr val="2E5A5A"/>
          </a:solidFill>
          <a:ln/>
        </p:spPr>
      </p:sp>
      <p:sp>
        <p:nvSpPr>
          <p:cNvPr id="15" name="Text 12"/>
          <p:cNvSpPr/>
          <p:nvPr/>
        </p:nvSpPr>
        <p:spPr>
          <a:xfrm>
            <a:off x="1066800" y="6921500"/>
            <a:ext cx="14097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2D29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Takeaway: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9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Applying communication skills in everyday life helps build genuine connections. The survey underscores the need for more structured empathetic communication channels between faculty and international students.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62000" y="8509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7A6F5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Foreign Students at DU | Communication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60400"/>
            <a:ext cx="50800" cy="406400"/>
          </a:xfrm>
          <a:prstGeom prst="rect">
            <a:avLst/>
          </a:prstGeom>
          <a:solidFill>
            <a:srgbClr val="B85C38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B85C38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"United We Stand" — Cross-Cultural Teamwork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762000" y="1651000"/>
          <a:ext cx="6858000" cy="3810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8128000" y="1651000"/>
            <a:ext cx="736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B85C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Academic Growth Contribution</a:t>
            </a:r>
            <a:endParaRPr lang="en-US" sz="1600" dirty="0"/>
          </a:p>
        </p:txBody>
      </p:sp>
      <p:graphicFrame>
        <p:nvGraphicFramePr>
          <p:cNvPr id="6" name="Chart 1" descr=""/>
          <p:cNvGraphicFramePr/>
          <p:nvPr/>
        </p:nvGraphicFramePr>
        <p:xfrm>
          <a:off x="8128000" y="2133600"/>
          <a:ext cx="7366000" cy="2540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8128000" y="4953000"/>
            <a:ext cx="7366000" cy="1651000"/>
          </a:xfrm>
          <a:prstGeom prst="rect">
            <a:avLst/>
          </a:prstGeom>
          <a:solidFill>
            <a:srgbClr val="EDE6D9"/>
          </a:solidFill>
          <a:ln/>
        </p:spPr>
      </p:sp>
      <p:sp>
        <p:nvSpPr>
          <p:cNvPr id="8" name="Shape 4"/>
          <p:cNvSpPr/>
          <p:nvPr/>
        </p:nvSpPr>
        <p:spPr>
          <a:xfrm>
            <a:off x="8128000" y="4953000"/>
            <a:ext cx="50800" cy="1651000"/>
          </a:xfrm>
          <a:prstGeom prst="rect">
            <a:avLst/>
          </a:prstGeom>
          <a:solidFill>
            <a:srgbClr val="B85C38"/>
          </a:solidFill>
          <a:ln/>
        </p:spPr>
      </p:sp>
      <p:sp>
        <p:nvSpPr>
          <p:cNvPr id="9" name="Text 5"/>
          <p:cNvSpPr/>
          <p:nvPr/>
        </p:nvSpPr>
        <p:spPr>
          <a:xfrm>
            <a:off x="8432800" y="5054600"/>
            <a:ext cx="6858000" cy="144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2D29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Collaboration Insight: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9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Despite academic challenges (52% reported minimal/no growth), the "diverse student body" emerged as DU's strongest advantage — suggesting peer-to-peer knowledge sharing is the primary driver of value.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762000" y="6985000"/>
            <a:ext cx="14732000" cy="889000"/>
          </a:xfrm>
          <a:prstGeom prst="rect">
            <a:avLst/>
          </a:prstGeom>
          <a:solidFill>
            <a:srgbClr val="EDE6D9"/>
          </a:solidFill>
          <a:ln/>
        </p:spPr>
      </p:sp>
      <p:sp>
        <p:nvSpPr>
          <p:cNvPr id="11" name="Shape 7"/>
          <p:cNvSpPr/>
          <p:nvPr/>
        </p:nvSpPr>
        <p:spPr>
          <a:xfrm>
            <a:off x="762000" y="6985000"/>
            <a:ext cx="50800" cy="889000"/>
          </a:xfrm>
          <a:prstGeom prst="rect">
            <a:avLst/>
          </a:prstGeom>
          <a:solidFill>
            <a:srgbClr val="2E5A5A"/>
          </a:solidFill>
          <a:ln/>
        </p:spPr>
      </p:sp>
      <p:sp>
        <p:nvSpPr>
          <p:cNvPr id="12" name="Text 8"/>
          <p:cNvSpPr/>
          <p:nvPr/>
        </p:nvSpPr>
        <p:spPr>
          <a:xfrm>
            <a:off x="1066800" y="7048500"/>
            <a:ext cx="1409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2D29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Takeaway: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29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Teamwork and group activities are essential to addressing challenges in metropolitan cities. When students collaborate across cultural boundaries, they discover DU's greatest strength.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62000" y="8509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7A6F5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Foreign Students at DU | Teamwork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bfzimilsut4gy/mnt/agents/output/du_presentation/images/10_Multicultural_Art_Showcasing_Diverse.png">    </p:cNvPr>
          <p:cNvPicPr>
            <a:picLocks noChangeAspect="1"/>
          </p:cNvPicPr>
          <p:nvPr/>
        </p:nvPicPr>
        <p:blipFill>
          <a:blip r:embed="rId1"/>
          <a:srcRect l="0" r="0" t="12687" b="12687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2D2926">
                  <a:alpha val="25000"/>
                </a:srgbClr>
              </a:gs>
              <a:gs pos="40000">
                <a:srgbClr val="2D2926">
                  <a:alpha val="67000"/>
                </a:srgbClr>
              </a:gs>
              <a:gs pos="100000">
                <a:srgbClr val="2D2926">
                  <a:alpha val="90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16000" y="20447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spc="100" kern="0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Conclusion — Dialogue Between Past and Present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1016000" y="2870200"/>
            <a:ext cx="1524000" cy="38100"/>
          </a:xfrm>
          <a:prstGeom prst="rect">
            <a:avLst/>
          </a:prstGeom>
          <a:solidFill>
            <a:srgbClr val="B85C38"/>
          </a:solidFill>
          <a:ln/>
        </p:spPr>
      </p:sp>
      <p:sp>
        <p:nvSpPr>
          <p:cNvPr id="6" name="Text 3"/>
          <p:cNvSpPr/>
          <p:nvPr/>
        </p:nvSpPr>
        <p:spPr>
          <a:xfrm>
            <a:off x="1016000" y="3187700"/>
            <a:ext cx="8890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Engaging in a dialogue with foreign students allows us to engage in a dialogue between the past and the present, inculcating principles for a meaningful life.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Only 32% would definitely recommend DU — revealing significant room for improvement in the foreign student experience.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016000" y="5334000"/>
            <a:ext cx="8890000" cy="1397000"/>
          </a:xfrm>
          <a:prstGeom prst="rect">
            <a:avLst/>
          </a:prstGeom>
          <a:solidFill>
            <a:srgbClr val="FFFFFF">
              <a:alpha val="8235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1016000" y="5334000"/>
            <a:ext cx="50800" cy="1397000"/>
          </a:xfrm>
          <a:prstGeom prst="rect">
            <a:avLst/>
          </a:prstGeom>
          <a:solidFill>
            <a:srgbClr val="B85C38"/>
          </a:solidFill>
          <a:ln/>
        </p:spPr>
      </p:sp>
      <p:sp>
        <p:nvSpPr>
          <p:cNvPr id="9" name="Text 6"/>
          <p:cNvSpPr/>
          <p:nvPr/>
        </p:nvSpPr>
        <p:spPr>
          <a:xfrm>
            <a:off x="1320800" y="5194300"/>
            <a:ext cx="8382000" cy="1193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Closing Thought: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Interacting with a diverse group equips us to work towards an ethically robust society, an inclusive community, and strengthens the nation. </a:t>
            </a:r>
            <a:pPr>
              <a:lnSpc>
                <a:spcPct val="150000"/>
              </a:lnSpc>
            </a:pPr>
            <a:r>
              <a:rPr lang="en-US" sz="1800" i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Vasudhaiva Kutumbakam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not merely an ancient ideal — it is a call to action.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016000" y="6870700"/>
            <a:ext cx="889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i="1" dirty="0">
                <a:solidFill>
                  <a:srgbClr val="FFFFFF">
                    <a:alpha val="66667"/>
                  </a:srgbClr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"As the different streams... all mingle their water in the sea, so, O Lord, the different paths which men take... all lead to Thee."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FFFFFF">
                    <a:alpha val="66667"/>
                  </a:srgbClr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 — Swami Vivekananda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016000" y="8026400"/>
            <a:ext cx="2794000" cy="457200"/>
          </a:xfrm>
          <a:prstGeom prst="roundRect">
            <a:avLst>
              <a:gd name="adj" fmla="val 8000"/>
            </a:avLst>
          </a:prstGeom>
          <a:solidFill>
            <a:srgbClr val="B85C38"/>
          </a:solidFill>
          <a:ln/>
        </p:spPr>
      </p:sp>
      <p:sp>
        <p:nvSpPr>
          <p:cNvPr id="12" name="Text 9"/>
          <p:cNvSpPr/>
          <p:nvPr/>
        </p:nvSpPr>
        <p:spPr>
          <a:xfrm>
            <a:off x="1016000" y="8013700"/>
            <a:ext cx="279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Thank You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Foreign Students at DU: Negotiating Cultural Diversity</dc:title>
  <dc:subject>Foreign Students at DU: Negotiating Cultural Diversity</dc:subject>
  <dc:creator>Kimi</dc:creator>
  <cp:lastModifiedBy>Kimi</cp:lastModifiedBy>
  <cp:revision>1</cp:revision>
  <dcterms:created xsi:type="dcterms:W3CDTF">2026-04-23T15:30:59Z</dcterms:created>
  <dcterms:modified xsi:type="dcterms:W3CDTF">2026-04-23T15:30:59Z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{"Label":"Foreign Students at DU: Negotiating Cultural Diversity","ContentProducer":"001191110108MACG2KBH8F10000","ProduceID":"19dbc15a-c2a2-8f05-8000-00001d005e4e","ReservedCode1":"","ContentPropagator":"001191110108MACG2KBH8F20000","PropagateID":"19dbc15a-c2a2-8f05-8000-00001d005e4e","ReservedCode2":""}</vt:lpwstr>
  </property>
</Properties>
</file>