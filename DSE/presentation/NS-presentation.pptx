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Sorts Mill Goudy"/>
      <p:regular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FBCAEA-1432-42C1-8BF8-FA0AA1E8F944}">
  <a:tblStyle styleId="{D7FBCAEA-1432-42C1-8BF8-FA0AA1E8F9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tsMillGoudy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font" Target="fonts/SortsMillGoudy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e0a8f8f56_2_3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de0a8f8f56_2_3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56" name="Google Shape;56;g3de0a8f8f56_2_3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e0a8f8f56_2_18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de0a8f8f56_2_18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9" name="Google Shape;69;g3de0a8f8f56_2_18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e0a8f8f56_2_45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de0a8f8f56_2_45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97" name="Google Shape;97;g3de0a8f8f56_2_45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e0a8f8f56_2_76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de0a8f8f56_2_76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9" name="Google Shape;129;g3de0a8f8f56_2_76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e0a8f8f56_2_118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de0a8f8f56_2_118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72" name="Google Shape;172;g3de0a8f8f56_2_118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e0a8f8f56_2_171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de0a8f8f56_2_171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26" name="Google Shape;226;g3de0a8f8f56_2_171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e0a8f8f56_2_220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de0a8f8f56_2_220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74" name="Google Shape;274;g3de0a8f8f56_2_220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e0a8f8f56_2_295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de0a8f8f56_2_295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50" name="Google Shape;350;g3de0a8f8f56_2_295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e0a8f8f56_2_352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de0a8f8f56_2_352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06" name="Google Shape;406;g3de0a8f8f56_2_352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e0a8f8f56_2_410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3de0a8f8f56_2_410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65" name="Google Shape;465;g3de0a8f8f56_2_410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de0a8f8f56_2_431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de0a8f8f56_2_431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87" name="Google Shape;487;g3de0a8f8f56_2_431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e0a8f8f56_2_488:notes"/>
          <p:cNvSpPr/>
          <p:nvPr>
            <p:ph idx="2" type="sldImg"/>
          </p:nvPr>
        </p:nvSpPr>
        <p:spPr>
          <a:xfrm>
            <a:off x="514350" y="642938"/>
            <a:ext cx="41148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de0a8f8f56_2_488:notes"/>
          <p:cNvSpPr txBox="1"/>
          <p:nvPr>
            <p:ph idx="1" type="body"/>
          </p:nvPr>
        </p:nvSpPr>
        <p:spPr>
          <a:xfrm>
            <a:off x="514350" y="2475309"/>
            <a:ext cx="4114800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31425" lIns="62850" spcFirstLastPara="1" rIns="62850" wrap="square" tIns="3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544" name="Google Shape;544;g3de0a8f8f56_2_488:notes"/>
          <p:cNvSpPr txBox="1"/>
          <p:nvPr>
            <p:ph idx="12" type="sldNum"/>
          </p:nvPr>
        </p:nvSpPr>
        <p:spPr>
          <a:xfrm>
            <a:off x="2913460" y="4885432"/>
            <a:ext cx="2228850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31425" lIns="62850" spcFirstLastPara="1" rIns="62850" wrap="square" tIns="3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9cc2a42c75101e531e3554ad74bb935d46bb05e9.jpg" id="58" name="Google Shape;58;p16"/>
          <p:cNvPicPr preferRelativeResize="0"/>
          <p:nvPr/>
        </p:nvPicPr>
        <p:blipFill rotWithShape="1">
          <a:blip r:embed="rId3">
            <a:alphaModFix amt="20000"/>
          </a:blip>
          <a:srcRect b="9532" l="0" r="0" t="9532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9" name="Google Shape;59;p1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9144000" w="16256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94901"/>
                </a:srgbClr>
              </a:gs>
              <a:gs pos="50000">
                <a:srgbClr val="FFFFFF">
                  <a:alpha val="85098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60" name="Google Shape;60;p16"/>
          <p:cNvSpPr/>
          <p:nvPr/>
        </p:nvSpPr>
        <p:spPr>
          <a:xfrm>
            <a:off x="285750" y="1393119"/>
            <a:ext cx="1907381" cy="257175"/>
          </a:xfrm>
          <a:custGeom>
            <a:rect b="b" l="l" r="r" t="t"/>
            <a:pathLst>
              <a:path extrusionOk="0" h="457200" w="3390900">
                <a:moveTo>
                  <a:pt x="0" y="0"/>
                </a:moveTo>
                <a:lnTo>
                  <a:pt x="3390900" y="0"/>
                </a:lnTo>
                <a:lnTo>
                  <a:pt x="33909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61" name="Google Shape;61;p16"/>
          <p:cNvSpPr/>
          <p:nvPr/>
        </p:nvSpPr>
        <p:spPr>
          <a:xfrm>
            <a:off x="285750" y="1393119"/>
            <a:ext cx="19573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REGULATORY COMPLIANCE</a:t>
            </a:r>
            <a:endParaRPr b="0" i="0" sz="900" u="none" cap="none" strike="noStrike"/>
          </a:p>
        </p:txBody>
      </p:sp>
      <p:sp>
        <p:nvSpPr>
          <p:cNvPr id="62" name="Google Shape;62;p16"/>
          <p:cNvSpPr/>
          <p:nvPr/>
        </p:nvSpPr>
        <p:spPr>
          <a:xfrm>
            <a:off x="285750" y="1764533"/>
            <a:ext cx="8786813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Navigating Regulatory Compliance:</a:t>
            </a:r>
            <a:endParaRPr b="0" i="0" sz="9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HIPAA, PCI-DSS, and GDPR</a:t>
            </a:r>
            <a:endParaRPr b="0" i="0" sz="900" u="none" cap="none" strike="noStrike"/>
          </a:p>
        </p:txBody>
      </p:sp>
      <p:sp>
        <p:nvSpPr>
          <p:cNvPr id="63" name="Google Shape;63;p16"/>
          <p:cNvSpPr/>
          <p:nvPr/>
        </p:nvSpPr>
        <p:spPr>
          <a:xfrm>
            <a:off x="285750" y="3007510"/>
            <a:ext cx="8658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Protecting Data, Maintaining Trust, and Avoiding Penalties</a:t>
            </a:r>
            <a:endParaRPr b="0" i="0" sz="900" u="none" cap="none" strike="noStrike"/>
          </a:p>
        </p:txBody>
      </p:sp>
      <p:sp>
        <p:nvSpPr>
          <p:cNvPr id="64" name="Google Shape;64;p16"/>
          <p:cNvSpPr/>
          <p:nvPr/>
        </p:nvSpPr>
        <p:spPr>
          <a:xfrm>
            <a:off x="285743" y="3578835"/>
            <a:ext cx="114300" cy="1143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482238" y="3597955"/>
            <a:ext cx="1514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Aryan Kushwaha</a:t>
            </a:r>
            <a:endParaRPr sz="1000">
              <a:solidFill>
                <a:srgbClr val="6B728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245703428</a:t>
            </a:r>
            <a:endParaRPr sz="1000">
              <a:solidFill>
                <a:srgbClr val="6B7280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285750" y="285750"/>
            <a:ext cx="57150" cy="457200"/>
          </a:xfrm>
          <a:custGeom>
            <a:rect b="b" l="l" r="r" t="t"/>
            <a:pathLst>
              <a:path extrusionOk="0" h="812800" w="101600">
                <a:moveTo>
                  <a:pt x="0" y="0"/>
                </a:moveTo>
                <a:lnTo>
                  <a:pt x="101600" y="0"/>
                </a:lnTo>
                <a:lnTo>
                  <a:pt x="1016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72" name="Google Shape;72;p17"/>
          <p:cNvSpPr/>
          <p:nvPr/>
        </p:nvSpPr>
        <p:spPr>
          <a:xfrm>
            <a:off x="457165" y="285750"/>
            <a:ext cx="207168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OVERVIEW</a:t>
            </a:r>
            <a:endParaRPr b="0" i="0" sz="900" u="none" cap="none" strike="noStrike"/>
          </a:p>
        </p:txBody>
      </p:sp>
      <p:sp>
        <p:nvSpPr>
          <p:cNvPr id="73" name="Google Shape;73;p17"/>
          <p:cNvSpPr/>
          <p:nvPr/>
        </p:nvSpPr>
        <p:spPr>
          <a:xfrm>
            <a:off x="457165" y="457165"/>
            <a:ext cx="215026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Table of Contents</a:t>
            </a:r>
            <a:endParaRPr b="0" i="0" sz="900" u="none" cap="none" strike="noStrike"/>
          </a:p>
        </p:txBody>
      </p:sp>
      <p:sp>
        <p:nvSpPr>
          <p:cNvPr id="74" name="Google Shape;74;p17"/>
          <p:cNvSpPr/>
          <p:nvPr/>
        </p:nvSpPr>
        <p:spPr>
          <a:xfrm>
            <a:off x="299757" y="1009739"/>
            <a:ext cx="28015" cy="885825"/>
          </a:xfrm>
          <a:custGeom>
            <a:rect b="b" l="l" r="r" t="t"/>
            <a:pathLst>
              <a:path extrusionOk="0" h="1574800" w="49804">
                <a:moveTo>
                  <a:pt x="0" y="0"/>
                </a:moveTo>
                <a:lnTo>
                  <a:pt x="49804" y="0"/>
                </a:lnTo>
                <a:lnTo>
                  <a:pt x="49804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75" name="Google Shape;75;p17"/>
          <p:cNvSpPr/>
          <p:nvPr/>
        </p:nvSpPr>
        <p:spPr>
          <a:xfrm>
            <a:off x="485180" y="1085789"/>
            <a:ext cx="29289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01</a:t>
            </a:r>
            <a:endParaRPr b="0" i="0" sz="900" u="none" cap="none" strike="noStrike"/>
          </a:p>
        </p:txBody>
      </p:sp>
      <p:sp>
        <p:nvSpPr>
          <p:cNvPr id="76" name="Google Shape;76;p17"/>
          <p:cNvSpPr/>
          <p:nvPr/>
        </p:nvSpPr>
        <p:spPr>
          <a:xfrm>
            <a:off x="757141" y="1111002"/>
            <a:ext cx="2486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Shift to Regulatory Security</a:t>
            </a:r>
            <a:endParaRPr b="0" i="0" sz="900" u="none" cap="none" strike="noStrike"/>
          </a:p>
        </p:txBody>
      </p:sp>
      <p:sp>
        <p:nvSpPr>
          <p:cNvPr id="77" name="Google Shape;77;p17"/>
          <p:cNvSpPr/>
          <p:nvPr/>
        </p:nvSpPr>
        <p:spPr>
          <a:xfrm>
            <a:off x="828053" y="1438320"/>
            <a:ext cx="368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Understanding the evolution from paper to electronic records and the regulatory imperative</a:t>
            </a:r>
            <a:endParaRPr b="0" i="0" sz="900" u="none" cap="none" strike="noStrike"/>
          </a:p>
        </p:txBody>
      </p:sp>
      <p:sp>
        <p:nvSpPr>
          <p:cNvPr id="78" name="Google Shape;78;p17"/>
          <p:cNvSpPr/>
          <p:nvPr/>
        </p:nvSpPr>
        <p:spPr>
          <a:xfrm>
            <a:off x="4700298" y="1009739"/>
            <a:ext cx="28015" cy="885825"/>
          </a:xfrm>
          <a:custGeom>
            <a:rect b="b" l="l" r="r" t="t"/>
            <a:pathLst>
              <a:path extrusionOk="0" h="1574800" w="49804">
                <a:moveTo>
                  <a:pt x="0" y="0"/>
                </a:moveTo>
                <a:lnTo>
                  <a:pt x="49804" y="0"/>
                </a:lnTo>
                <a:lnTo>
                  <a:pt x="49804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79" name="Google Shape;79;p17"/>
          <p:cNvSpPr/>
          <p:nvPr/>
        </p:nvSpPr>
        <p:spPr>
          <a:xfrm>
            <a:off x="4885721" y="1085789"/>
            <a:ext cx="3214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02</a:t>
            </a:r>
            <a:endParaRPr b="0" i="0" sz="900" u="none" cap="none" strike="noStrike"/>
          </a:p>
        </p:txBody>
      </p:sp>
      <p:sp>
        <p:nvSpPr>
          <p:cNvPr id="80" name="Google Shape;80;p17"/>
          <p:cNvSpPr/>
          <p:nvPr/>
        </p:nvSpPr>
        <p:spPr>
          <a:xfrm>
            <a:off x="5185128" y="1111002"/>
            <a:ext cx="2736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HIPAA: Healthcare Data Protection</a:t>
            </a:r>
            <a:endParaRPr b="0" i="0" sz="900" u="none" cap="none" strike="noStrike"/>
          </a:p>
        </p:txBody>
      </p:sp>
      <p:sp>
        <p:nvSpPr>
          <p:cNvPr id="81" name="Google Shape;81;p17"/>
          <p:cNvSpPr/>
          <p:nvPr/>
        </p:nvSpPr>
        <p:spPr>
          <a:xfrm>
            <a:off x="5228595" y="1438320"/>
            <a:ext cx="368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U.S. federal regulation for medical information security and 2024-2025 enforcement landscape</a:t>
            </a:r>
            <a:endParaRPr b="0" i="0" sz="900" u="none" cap="none" strike="noStrike"/>
          </a:p>
        </p:txBody>
      </p:sp>
      <p:sp>
        <p:nvSpPr>
          <p:cNvPr id="82" name="Google Shape;82;p17"/>
          <p:cNvSpPr/>
          <p:nvPr/>
        </p:nvSpPr>
        <p:spPr>
          <a:xfrm>
            <a:off x="299757" y="2085977"/>
            <a:ext cx="28015" cy="885825"/>
          </a:xfrm>
          <a:custGeom>
            <a:rect b="b" l="l" r="r" t="t"/>
            <a:pathLst>
              <a:path extrusionOk="0" h="1574800" w="49804">
                <a:moveTo>
                  <a:pt x="0" y="0"/>
                </a:moveTo>
                <a:lnTo>
                  <a:pt x="49804" y="0"/>
                </a:lnTo>
                <a:lnTo>
                  <a:pt x="49804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83" name="Google Shape;83;p17"/>
          <p:cNvSpPr/>
          <p:nvPr/>
        </p:nvSpPr>
        <p:spPr>
          <a:xfrm>
            <a:off x="485180" y="2200269"/>
            <a:ext cx="307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03</a:t>
            </a:r>
            <a:endParaRPr b="0" i="0" sz="900" u="none" cap="none" strike="noStrike"/>
          </a:p>
        </p:txBody>
      </p:sp>
      <p:sp>
        <p:nvSpPr>
          <p:cNvPr id="84" name="Google Shape;84;p17"/>
          <p:cNvSpPr/>
          <p:nvPr/>
        </p:nvSpPr>
        <p:spPr>
          <a:xfrm>
            <a:off x="770842" y="2225482"/>
            <a:ext cx="256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PCI-DSS: Payment Card Security</a:t>
            </a:r>
            <a:endParaRPr b="0" i="0" sz="900" u="none" cap="none" strike="noStrike"/>
          </a:p>
        </p:txBody>
      </p:sp>
      <p:sp>
        <p:nvSpPr>
          <p:cNvPr id="85" name="Google Shape;85;p17"/>
          <p:cNvSpPr/>
          <p:nvPr/>
        </p:nvSpPr>
        <p:spPr>
          <a:xfrm>
            <a:off x="828053" y="2514559"/>
            <a:ext cx="368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Industry standard for credit card data protection and 12 core requirements</a:t>
            </a:r>
            <a:endParaRPr b="0" i="0" sz="900" u="none" cap="none" strike="noStrike"/>
          </a:p>
        </p:txBody>
      </p:sp>
      <p:sp>
        <p:nvSpPr>
          <p:cNvPr id="86" name="Google Shape;86;p17"/>
          <p:cNvSpPr/>
          <p:nvPr/>
        </p:nvSpPr>
        <p:spPr>
          <a:xfrm>
            <a:off x="4700298" y="2085977"/>
            <a:ext cx="28015" cy="885825"/>
          </a:xfrm>
          <a:custGeom>
            <a:rect b="b" l="l" r="r" t="t"/>
            <a:pathLst>
              <a:path extrusionOk="0" h="1574800" w="49804">
                <a:moveTo>
                  <a:pt x="0" y="0"/>
                </a:moveTo>
                <a:lnTo>
                  <a:pt x="49804" y="0"/>
                </a:lnTo>
                <a:lnTo>
                  <a:pt x="49804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87" name="Google Shape;87;p17"/>
          <p:cNvSpPr/>
          <p:nvPr/>
        </p:nvSpPr>
        <p:spPr>
          <a:xfrm>
            <a:off x="4885721" y="2200269"/>
            <a:ext cx="328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04</a:t>
            </a:r>
            <a:endParaRPr b="0" i="0" sz="900" u="none" cap="none" strike="noStrike"/>
          </a:p>
        </p:txBody>
      </p:sp>
      <p:sp>
        <p:nvSpPr>
          <p:cNvPr id="88" name="Google Shape;88;p17"/>
          <p:cNvSpPr/>
          <p:nvPr/>
        </p:nvSpPr>
        <p:spPr>
          <a:xfrm>
            <a:off x="5192832" y="2225482"/>
            <a:ext cx="252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GDPR: Global Privacy Standards</a:t>
            </a:r>
            <a:endParaRPr b="0" i="0" sz="900" u="none" cap="none" strike="noStrike"/>
          </a:p>
        </p:txBody>
      </p:sp>
      <p:sp>
        <p:nvSpPr>
          <p:cNvPr id="89" name="Google Shape;89;p17"/>
          <p:cNvSpPr/>
          <p:nvPr/>
        </p:nvSpPr>
        <p:spPr>
          <a:xfrm>
            <a:off x="5228595" y="2514559"/>
            <a:ext cx="368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EU comprehensive privacy law with extraterritorial reach and €7.1B+ in enforcement</a:t>
            </a:r>
            <a:endParaRPr b="0" i="0" sz="900" u="none" cap="none" strike="noStrike"/>
          </a:p>
        </p:txBody>
      </p:sp>
      <p:sp>
        <p:nvSpPr>
          <p:cNvPr id="90" name="Google Shape;90;p17"/>
          <p:cNvSpPr/>
          <p:nvPr/>
        </p:nvSpPr>
        <p:spPr>
          <a:xfrm>
            <a:off x="299757" y="3162215"/>
            <a:ext cx="28015" cy="714375"/>
          </a:xfrm>
          <a:custGeom>
            <a:rect b="b" l="l" r="r" t="t"/>
            <a:pathLst>
              <a:path extrusionOk="0" h="1270000" w="49804">
                <a:moveTo>
                  <a:pt x="0" y="0"/>
                </a:moveTo>
                <a:lnTo>
                  <a:pt x="49804" y="0"/>
                </a:lnTo>
                <a:lnTo>
                  <a:pt x="49804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91" name="Google Shape;91;p17"/>
          <p:cNvSpPr/>
          <p:nvPr/>
        </p:nvSpPr>
        <p:spPr>
          <a:xfrm>
            <a:off x="485180" y="3276506"/>
            <a:ext cx="292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05</a:t>
            </a:r>
            <a:endParaRPr b="0" i="0" sz="900" u="none" cap="none" strike="noStrike"/>
          </a:p>
        </p:txBody>
      </p:sp>
      <p:sp>
        <p:nvSpPr>
          <p:cNvPr id="92" name="Google Shape;92;p17"/>
          <p:cNvSpPr/>
          <p:nvPr/>
        </p:nvSpPr>
        <p:spPr>
          <a:xfrm>
            <a:off x="757579" y="3301720"/>
            <a:ext cx="31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Comparative Analysis &amp; Key Takeaways</a:t>
            </a:r>
            <a:endParaRPr b="0" i="0" sz="900" u="none" cap="none" strike="noStrike"/>
          </a:p>
        </p:txBody>
      </p:sp>
      <p:sp>
        <p:nvSpPr>
          <p:cNvPr id="93" name="Google Shape;93;p17"/>
          <p:cNvSpPr/>
          <p:nvPr/>
        </p:nvSpPr>
        <p:spPr>
          <a:xfrm>
            <a:off x="828053" y="3590797"/>
            <a:ext cx="8086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Framework comparison, professional value, and strategic compliance recommendations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00" name="Google Shape;100;p18"/>
          <p:cNvSpPr/>
          <p:nvPr/>
        </p:nvSpPr>
        <p:spPr>
          <a:xfrm>
            <a:off x="457165" y="285750"/>
            <a:ext cx="36504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1.1</a:t>
            </a:r>
            <a:endParaRPr b="0" i="0" sz="900" u="none" cap="none" strike="noStrike"/>
          </a:p>
        </p:txBody>
      </p:sp>
      <p:sp>
        <p:nvSpPr>
          <p:cNvPr id="101" name="Google Shape;101;p18"/>
          <p:cNvSpPr/>
          <p:nvPr/>
        </p:nvSpPr>
        <p:spPr>
          <a:xfrm>
            <a:off x="457165" y="457165"/>
            <a:ext cx="37290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Shift to Regulatory Security</a:t>
            </a:r>
            <a:endParaRPr b="0" i="0" sz="900" u="none" cap="none" strike="noStrike"/>
          </a:p>
        </p:txBody>
      </p:sp>
      <p:sp>
        <p:nvSpPr>
          <p:cNvPr id="102" name="Google Shape;102;p18"/>
          <p:cNvSpPr/>
          <p:nvPr/>
        </p:nvSpPr>
        <p:spPr>
          <a:xfrm>
            <a:off x="285750" y="966535"/>
            <a:ext cx="2743200" cy="28015"/>
          </a:xfrm>
          <a:custGeom>
            <a:rect b="b" l="l" r="r" t="t"/>
            <a:pathLst>
              <a:path extrusionOk="0" h="49804" w="4876800">
                <a:moveTo>
                  <a:pt x="0" y="0"/>
                </a:moveTo>
                <a:lnTo>
                  <a:pt x="4876800" y="0"/>
                </a:lnTo>
                <a:lnTo>
                  <a:pt x="48768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03" name="Google Shape;103;p18"/>
          <p:cNvSpPr/>
          <p:nvPr/>
        </p:nvSpPr>
        <p:spPr>
          <a:xfrm>
            <a:off x="285750" y="1113955"/>
            <a:ext cx="342900" cy="342900"/>
          </a:xfrm>
          <a:custGeom>
            <a:rect b="b" l="l" r="r" t="t"/>
            <a:pathLst>
              <a:path extrusionOk="0"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04" name="Google Shape;104;p18"/>
          <p:cNvSpPr/>
          <p:nvPr/>
        </p:nvSpPr>
        <p:spPr>
          <a:xfrm>
            <a:off x="250031" y="1113955"/>
            <a:ext cx="4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b="0" i="0" sz="900" u="none" cap="none" strike="noStrike"/>
          </a:p>
        </p:txBody>
      </p:sp>
      <p:sp>
        <p:nvSpPr>
          <p:cNvPr id="105" name="Google Shape;105;p18"/>
          <p:cNvSpPr/>
          <p:nvPr/>
        </p:nvSpPr>
        <p:spPr>
          <a:xfrm>
            <a:off x="714331" y="1185392"/>
            <a:ext cx="100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Core Issue</a:t>
            </a:r>
            <a:endParaRPr b="0" i="0" sz="900" u="none" cap="none" strike="noStrike"/>
          </a:p>
        </p:txBody>
      </p:sp>
      <p:sp>
        <p:nvSpPr>
          <p:cNvPr id="106" name="Google Shape;106;p18"/>
          <p:cNvSpPr/>
          <p:nvPr/>
        </p:nvSpPr>
        <p:spPr>
          <a:xfrm>
            <a:off x="285750" y="1561657"/>
            <a:ext cx="28005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As records migrate from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paper to electronic systems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, data becomes easier to transfer but also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easier to manipulate or steal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. Digital transformation introduces new vulnerabilities that traditional security measures cannot address.</a:t>
            </a:r>
            <a:endParaRPr b="0" i="0" sz="900" u="none" cap="none" strike="noStrike"/>
          </a:p>
        </p:txBody>
      </p:sp>
      <p:sp>
        <p:nvSpPr>
          <p:cNvPr id="107" name="Google Shape;107;p18"/>
          <p:cNvSpPr/>
          <p:nvPr/>
        </p:nvSpPr>
        <p:spPr>
          <a:xfrm>
            <a:off x="3200374" y="966535"/>
            <a:ext cx="2743200" cy="28015"/>
          </a:xfrm>
          <a:custGeom>
            <a:rect b="b" l="l" r="r" t="t"/>
            <a:pathLst>
              <a:path extrusionOk="0" h="49804" w="4876800">
                <a:moveTo>
                  <a:pt x="0" y="0"/>
                </a:moveTo>
                <a:lnTo>
                  <a:pt x="4876800" y="0"/>
                </a:lnTo>
                <a:lnTo>
                  <a:pt x="48768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08" name="Google Shape;108;p18"/>
          <p:cNvSpPr/>
          <p:nvPr/>
        </p:nvSpPr>
        <p:spPr>
          <a:xfrm>
            <a:off x="3200374" y="1113955"/>
            <a:ext cx="342900" cy="342900"/>
          </a:xfrm>
          <a:custGeom>
            <a:rect b="b" l="l" r="r" t="t"/>
            <a:pathLst>
              <a:path extrusionOk="0"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09" name="Google Shape;109;p18"/>
          <p:cNvSpPr/>
          <p:nvPr/>
        </p:nvSpPr>
        <p:spPr>
          <a:xfrm>
            <a:off x="3164655" y="1113955"/>
            <a:ext cx="4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b="0" i="0" sz="900" u="none" cap="none" strike="noStrike"/>
          </a:p>
        </p:txBody>
      </p:sp>
      <p:sp>
        <p:nvSpPr>
          <p:cNvPr id="110" name="Google Shape;110;p18"/>
          <p:cNvSpPr/>
          <p:nvPr/>
        </p:nvSpPr>
        <p:spPr>
          <a:xfrm>
            <a:off x="3628955" y="1185392"/>
            <a:ext cx="1200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Driving Force</a:t>
            </a:r>
            <a:endParaRPr b="0" i="0" sz="900" u="none" cap="none" strike="noStrike"/>
          </a:p>
        </p:txBody>
      </p:sp>
      <p:sp>
        <p:nvSpPr>
          <p:cNvPr id="111" name="Google Shape;111;p18"/>
          <p:cNvSpPr/>
          <p:nvPr/>
        </p:nvSpPr>
        <p:spPr>
          <a:xfrm>
            <a:off x="3200374" y="1561657"/>
            <a:ext cx="2800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Historically, businesses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lagged in security infrastructure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because there was no immediate business need or ROI. Today, security is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heavily regulatory-driven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, with enforcement actions reaching billions in penalties.</a:t>
            </a:r>
            <a:endParaRPr b="0" i="0" sz="900" u="none" cap="none" strike="noStrike"/>
          </a:p>
        </p:txBody>
      </p:sp>
      <p:sp>
        <p:nvSpPr>
          <p:cNvPr id="112" name="Google Shape;112;p18"/>
          <p:cNvSpPr/>
          <p:nvPr/>
        </p:nvSpPr>
        <p:spPr>
          <a:xfrm>
            <a:off x="6114998" y="966535"/>
            <a:ext cx="2743200" cy="28015"/>
          </a:xfrm>
          <a:custGeom>
            <a:rect b="b" l="l" r="r" t="t"/>
            <a:pathLst>
              <a:path extrusionOk="0" h="49804" w="4876800">
                <a:moveTo>
                  <a:pt x="0" y="0"/>
                </a:moveTo>
                <a:lnTo>
                  <a:pt x="4876800" y="0"/>
                </a:lnTo>
                <a:lnTo>
                  <a:pt x="48768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13" name="Google Shape;113;p18"/>
          <p:cNvSpPr/>
          <p:nvPr/>
        </p:nvSpPr>
        <p:spPr>
          <a:xfrm>
            <a:off x="6114998" y="1113955"/>
            <a:ext cx="342900" cy="342900"/>
          </a:xfrm>
          <a:custGeom>
            <a:rect b="b" l="l" r="r" t="t"/>
            <a:pathLst>
              <a:path extrusionOk="0"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14" name="Google Shape;114;p18"/>
          <p:cNvSpPr/>
          <p:nvPr/>
        </p:nvSpPr>
        <p:spPr>
          <a:xfrm>
            <a:off x="6079279" y="1113955"/>
            <a:ext cx="4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b="0" i="0" sz="900" u="none" cap="none" strike="noStrike"/>
          </a:p>
        </p:txBody>
      </p:sp>
      <p:sp>
        <p:nvSpPr>
          <p:cNvPr id="115" name="Google Shape;115;p18"/>
          <p:cNvSpPr/>
          <p:nvPr/>
        </p:nvSpPr>
        <p:spPr>
          <a:xfrm>
            <a:off x="6543579" y="1185392"/>
            <a:ext cx="65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Goal</a:t>
            </a:r>
            <a:endParaRPr b="0" i="0" sz="900" u="none" cap="none" strike="noStrike"/>
          </a:p>
        </p:txBody>
      </p:sp>
      <p:sp>
        <p:nvSpPr>
          <p:cNvPr id="116" name="Google Shape;116;p18"/>
          <p:cNvSpPr/>
          <p:nvPr/>
        </p:nvSpPr>
        <p:spPr>
          <a:xfrm>
            <a:off x="6114998" y="1561657"/>
            <a:ext cx="2800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Regulations and standards provide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frameworks to ensure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the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security, integrity, and privacy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of sensitive information, establishing baseline requirements that organizations must meet to operate legally and ethically.</a:t>
            </a:r>
            <a:endParaRPr b="0" i="0" sz="900" u="none" cap="none" strike="noStrike"/>
          </a:p>
        </p:txBody>
      </p:sp>
      <p:sp>
        <p:nvSpPr>
          <p:cNvPr id="117" name="Google Shape;117;p18"/>
          <p:cNvSpPr/>
          <p:nvPr/>
        </p:nvSpPr>
        <p:spPr>
          <a:xfrm>
            <a:off x="299757" y="2680618"/>
            <a:ext cx="8557932" cy="900113"/>
          </a:xfrm>
          <a:custGeom>
            <a:rect b="b" l="l" r="r" t="t"/>
            <a:pathLst>
              <a:path extrusionOk="0" h="1600200" w="15214102">
                <a:moveTo>
                  <a:pt x="0" y="0"/>
                </a:moveTo>
                <a:lnTo>
                  <a:pt x="15214102" y="0"/>
                </a:lnTo>
                <a:lnTo>
                  <a:pt x="15214102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118" name="Google Shape;118;p18"/>
          <p:cNvSpPr/>
          <p:nvPr/>
        </p:nvSpPr>
        <p:spPr>
          <a:xfrm>
            <a:off x="299757" y="2680618"/>
            <a:ext cx="28015" cy="900113"/>
          </a:xfrm>
          <a:custGeom>
            <a:rect b="b" l="l" r="r" t="t"/>
            <a:pathLst>
              <a:path extrusionOk="0" h="1600200" w="49804">
                <a:moveTo>
                  <a:pt x="0" y="0"/>
                </a:moveTo>
                <a:lnTo>
                  <a:pt x="49804" y="0"/>
                </a:lnTo>
                <a:lnTo>
                  <a:pt x="49804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19" name="Google Shape;119;p18"/>
          <p:cNvSpPr/>
          <p:nvPr/>
        </p:nvSpPr>
        <p:spPr>
          <a:xfrm>
            <a:off x="527149" y="2823448"/>
            <a:ext cx="187523" cy="214313"/>
          </a:xfrm>
          <a:custGeom>
            <a:rect b="b" l="l" r="r" t="t"/>
            <a:pathLst>
              <a:path extrusionOk="0" h="381000" w="333375">
                <a:moveTo>
                  <a:pt x="0" y="160734"/>
                </a:moveTo>
                <a:cubicBezTo>
                  <a:pt x="0" y="111398"/>
                  <a:pt x="39960" y="71438"/>
                  <a:pt x="89297" y="71438"/>
                </a:cubicBezTo>
                <a:lnTo>
                  <a:pt x="95250" y="71438"/>
                </a:lnTo>
                <a:cubicBezTo>
                  <a:pt x="108421" y="71438"/>
                  <a:pt x="119063" y="82079"/>
                  <a:pt x="119063" y="95250"/>
                </a:cubicBezTo>
                <a:cubicBezTo>
                  <a:pt x="119063" y="108421"/>
                  <a:pt x="108421" y="119063"/>
                  <a:pt x="95250" y="119063"/>
                </a:cubicBezTo>
                <a:lnTo>
                  <a:pt x="89297" y="119063"/>
                </a:lnTo>
                <a:cubicBezTo>
                  <a:pt x="66303" y="119063"/>
                  <a:pt x="47625" y="137740"/>
                  <a:pt x="47625" y="160734"/>
                </a:cubicBezTo>
                <a:lnTo>
                  <a:pt x="47625" y="166688"/>
                </a:lnTo>
                <a:lnTo>
                  <a:pt x="95250" y="166688"/>
                </a:lnTo>
                <a:cubicBezTo>
                  <a:pt x="121518" y="166688"/>
                  <a:pt x="142875" y="188044"/>
                  <a:pt x="142875" y="214313"/>
                </a:cubicBezTo>
                <a:lnTo>
                  <a:pt x="142875" y="261938"/>
                </a:lnTo>
                <a:cubicBezTo>
                  <a:pt x="142875" y="288206"/>
                  <a:pt x="121518" y="309563"/>
                  <a:pt x="95250" y="309563"/>
                </a:cubicBezTo>
                <a:lnTo>
                  <a:pt x="47625" y="309563"/>
                </a:lnTo>
                <a:cubicBezTo>
                  <a:pt x="21357" y="309563"/>
                  <a:pt x="0" y="288206"/>
                  <a:pt x="0" y="261938"/>
                </a:cubicBezTo>
                <a:lnTo>
                  <a:pt x="0" y="160734"/>
                </a:lnTo>
                <a:close/>
                <a:moveTo>
                  <a:pt x="190500" y="160734"/>
                </a:moveTo>
                <a:cubicBezTo>
                  <a:pt x="190500" y="111398"/>
                  <a:pt x="230460" y="71438"/>
                  <a:pt x="279797" y="71438"/>
                </a:cubicBezTo>
                <a:lnTo>
                  <a:pt x="285750" y="71438"/>
                </a:lnTo>
                <a:cubicBezTo>
                  <a:pt x="298921" y="71438"/>
                  <a:pt x="309563" y="82079"/>
                  <a:pt x="309563" y="95250"/>
                </a:cubicBezTo>
                <a:cubicBezTo>
                  <a:pt x="309563" y="108421"/>
                  <a:pt x="298921" y="119063"/>
                  <a:pt x="285750" y="119063"/>
                </a:cubicBezTo>
                <a:lnTo>
                  <a:pt x="279797" y="119063"/>
                </a:lnTo>
                <a:cubicBezTo>
                  <a:pt x="256803" y="119063"/>
                  <a:pt x="238125" y="137740"/>
                  <a:pt x="238125" y="160734"/>
                </a:cubicBezTo>
                <a:lnTo>
                  <a:pt x="238125" y="166688"/>
                </a:lnTo>
                <a:lnTo>
                  <a:pt x="285750" y="166688"/>
                </a:lnTo>
                <a:cubicBezTo>
                  <a:pt x="312018" y="166688"/>
                  <a:pt x="333375" y="188044"/>
                  <a:pt x="333375" y="214313"/>
                </a:cubicBezTo>
                <a:lnTo>
                  <a:pt x="333375" y="261938"/>
                </a:lnTo>
                <a:cubicBezTo>
                  <a:pt x="333375" y="288206"/>
                  <a:pt x="312018" y="309563"/>
                  <a:pt x="285750" y="309563"/>
                </a:cubicBezTo>
                <a:lnTo>
                  <a:pt x="238125" y="309563"/>
                </a:lnTo>
                <a:cubicBezTo>
                  <a:pt x="211857" y="309563"/>
                  <a:pt x="190500" y="288206"/>
                  <a:pt x="190500" y="261938"/>
                </a:cubicBezTo>
                <a:lnTo>
                  <a:pt x="190500" y="160734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867361" y="2794909"/>
            <a:ext cx="80583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"Security is no longer an optional investment—it is a fundamental requirement for business continuity and customer trust. Regulatory frameworks transform security from a cost center into a competitive advantage."</a:t>
            </a:r>
            <a:endParaRPr b="0" i="0" sz="900" u="none" cap="none" strike="noStrike"/>
          </a:p>
        </p:txBody>
      </p:sp>
      <p:sp>
        <p:nvSpPr>
          <p:cNvPr id="121" name="Google Shape;121;p18"/>
          <p:cNvSpPr/>
          <p:nvPr/>
        </p:nvSpPr>
        <p:spPr>
          <a:xfrm>
            <a:off x="867361" y="3298561"/>
            <a:ext cx="8051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— Industry Analysis, 2024-2025</a:t>
            </a:r>
            <a:endParaRPr b="0" i="0" sz="900" u="none" cap="none" strike="noStrike"/>
          </a:p>
        </p:txBody>
      </p:sp>
      <p:sp>
        <p:nvSpPr>
          <p:cNvPr id="122" name="Google Shape;122;p18"/>
          <p:cNvSpPr/>
          <p:nvPr/>
        </p:nvSpPr>
        <p:spPr>
          <a:xfrm>
            <a:off x="300038" y="3803343"/>
            <a:ext cx="114300" cy="114300"/>
          </a:xfrm>
          <a:custGeom>
            <a:rect b="b" l="l" r="r" t="t"/>
            <a:pathLst>
              <a:path extrusionOk="0" h="203200" w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485749" y="3774803"/>
            <a:ext cx="2343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Enforcement actions increased 340% since 2018</a:t>
            </a:r>
            <a:endParaRPr b="0" i="0" sz="900" u="none" cap="none" strike="noStrike"/>
          </a:p>
        </p:txBody>
      </p:sp>
      <p:sp>
        <p:nvSpPr>
          <p:cNvPr id="124" name="Google Shape;124;p18"/>
          <p:cNvSpPr/>
          <p:nvPr/>
        </p:nvSpPr>
        <p:spPr>
          <a:xfrm>
            <a:off x="6620418" y="3803343"/>
            <a:ext cx="114300" cy="114300"/>
          </a:xfrm>
          <a:custGeom>
            <a:rect b="b" l="l" r="r" t="t"/>
            <a:pathLst>
              <a:path extrusionOk="0" h="203200" w="203200">
                <a:moveTo>
                  <a:pt x="139660" y="111125"/>
                </a:moveTo>
                <a:lnTo>
                  <a:pt x="63897" y="111125"/>
                </a:lnTo>
                <a:cubicBezTo>
                  <a:pt x="65048" y="136723"/>
                  <a:pt x="70723" y="160298"/>
                  <a:pt x="78780" y="177562"/>
                </a:cubicBezTo>
                <a:cubicBezTo>
                  <a:pt x="83304" y="187285"/>
                  <a:pt x="88186" y="194151"/>
                  <a:pt x="92710" y="198358"/>
                </a:cubicBezTo>
                <a:cubicBezTo>
                  <a:pt x="97155" y="202525"/>
                  <a:pt x="100211" y="203200"/>
                  <a:pt x="101798" y="203200"/>
                </a:cubicBezTo>
                <a:cubicBezTo>
                  <a:pt x="103386" y="203200"/>
                  <a:pt x="106442" y="202525"/>
                  <a:pt x="110887" y="198358"/>
                </a:cubicBezTo>
                <a:cubicBezTo>
                  <a:pt x="115411" y="194151"/>
                  <a:pt x="120293" y="187246"/>
                  <a:pt x="124817" y="177562"/>
                </a:cubicBezTo>
                <a:cubicBezTo>
                  <a:pt x="132874" y="160298"/>
                  <a:pt x="138549" y="136723"/>
                  <a:pt x="139700" y="111125"/>
                </a:cubicBezTo>
                <a:close/>
                <a:moveTo>
                  <a:pt x="63857" y="92075"/>
                </a:moveTo>
                <a:lnTo>
                  <a:pt x="139621" y="92075"/>
                </a:lnTo>
                <a:cubicBezTo>
                  <a:pt x="138509" y="66477"/>
                  <a:pt x="132834" y="42902"/>
                  <a:pt x="124777" y="25638"/>
                </a:cubicBezTo>
                <a:cubicBezTo>
                  <a:pt x="120253" y="15954"/>
                  <a:pt x="115372" y="9049"/>
                  <a:pt x="110847" y="4842"/>
                </a:cubicBezTo>
                <a:cubicBezTo>
                  <a:pt x="106402" y="675"/>
                  <a:pt x="103346" y="0"/>
                  <a:pt x="101759" y="0"/>
                </a:cubicBezTo>
                <a:cubicBezTo>
                  <a:pt x="100171" y="0"/>
                  <a:pt x="97115" y="675"/>
                  <a:pt x="92670" y="4842"/>
                </a:cubicBezTo>
                <a:cubicBezTo>
                  <a:pt x="88146" y="9049"/>
                  <a:pt x="83264" y="15954"/>
                  <a:pt x="78740" y="25638"/>
                </a:cubicBezTo>
                <a:cubicBezTo>
                  <a:pt x="70683" y="42902"/>
                  <a:pt x="65008" y="66477"/>
                  <a:pt x="63857" y="92075"/>
                </a:cubicBezTo>
                <a:close/>
                <a:moveTo>
                  <a:pt x="44807" y="92075"/>
                </a:moveTo>
                <a:cubicBezTo>
                  <a:pt x="46196" y="58103"/>
                  <a:pt x="54967" y="26551"/>
                  <a:pt x="67786" y="5834"/>
                </a:cubicBezTo>
                <a:cubicBezTo>
                  <a:pt x="31234" y="18772"/>
                  <a:pt x="4326" y="52070"/>
                  <a:pt x="595" y="92075"/>
                </a:cubicBezTo>
                <a:lnTo>
                  <a:pt x="44807" y="92075"/>
                </a:lnTo>
                <a:close/>
                <a:moveTo>
                  <a:pt x="595" y="111125"/>
                </a:moveTo>
                <a:cubicBezTo>
                  <a:pt x="4326" y="151130"/>
                  <a:pt x="31234" y="184428"/>
                  <a:pt x="67786" y="197366"/>
                </a:cubicBezTo>
                <a:cubicBezTo>
                  <a:pt x="54967" y="176649"/>
                  <a:pt x="46196" y="145098"/>
                  <a:pt x="44807" y="111125"/>
                </a:cubicBezTo>
                <a:lnTo>
                  <a:pt x="595" y="111125"/>
                </a:lnTo>
                <a:close/>
                <a:moveTo>
                  <a:pt x="158710" y="111125"/>
                </a:moveTo>
                <a:cubicBezTo>
                  <a:pt x="157321" y="145098"/>
                  <a:pt x="148550" y="176649"/>
                  <a:pt x="135731" y="197366"/>
                </a:cubicBezTo>
                <a:cubicBezTo>
                  <a:pt x="172283" y="184388"/>
                  <a:pt x="199192" y="151130"/>
                  <a:pt x="202922" y="111125"/>
                </a:cubicBezTo>
                <a:lnTo>
                  <a:pt x="158710" y="111125"/>
                </a:lnTo>
                <a:close/>
                <a:moveTo>
                  <a:pt x="202922" y="92075"/>
                </a:moveTo>
                <a:cubicBezTo>
                  <a:pt x="199192" y="52070"/>
                  <a:pt x="172283" y="18772"/>
                  <a:pt x="135731" y="5834"/>
                </a:cubicBezTo>
                <a:cubicBezTo>
                  <a:pt x="148550" y="26551"/>
                  <a:pt x="157321" y="58103"/>
                  <a:pt x="158710" y="92075"/>
                </a:cubicBezTo>
                <a:lnTo>
                  <a:pt x="202922" y="92075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6806129" y="3774803"/>
            <a:ext cx="2107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Global compliance market: $64.5B by 2027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32" name="Google Shape;132;p19"/>
          <p:cNvSpPr/>
          <p:nvPr/>
        </p:nvSpPr>
        <p:spPr>
          <a:xfrm>
            <a:off x="457165" y="285750"/>
            <a:ext cx="51649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2.1</a:t>
            </a:r>
            <a:endParaRPr b="0" i="0" sz="900" u="none" cap="none" strike="noStrike"/>
          </a:p>
        </p:txBody>
      </p:sp>
      <p:sp>
        <p:nvSpPr>
          <p:cNvPr id="133" name="Google Shape;133;p19"/>
          <p:cNvSpPr/>
          <p:nvPr/>
        </p:nvSpPr>
        <p:spPr>
          <a:xfrm>
            <a:off x="457165" y="457165"/>
            <a:ext cx="52435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HIPAA Overview: Healthcare Data Protection</a:t>
            </a:r>
            <a:endParaRPr b="0" i="0" sz="900" u="none" cap="none" strike="noStrike"/>
          </a:p>
        </p:txBody>
      </p:sp>
      <p:sp>
        <p:nvSpPr>
          <p:cNvPr id="134" name="Google Shape;134;p19"/>
          <p:cNvSpPr/>
          <p:nvPr/>
        </p:nvSpPr>
        <p:spPr>
          <a:xfrm>
            <a:off x="299757" y="933646"/>
            <a:ext cx="28015" cy="842963"/>
          </a:xfrm>
          <a:custGeom>
            <a:rect b="b" l="l" r="r" t="t"/>
            <a:pathLst>
              <a:path extrusionOk="0" h="1498600" w="49804">
                <a:moveTo>
                  <a:pt x="0" y="0"/>
                </a:moveTo>
                <a:lnTo>
                  <a:pt x="49804" y="0"/>
                </a:lnTo>
                <a:lnTo>
                  <a:pt x="49804" y="1498600"/>
                </a:lnTo>
                <a:lnTo>
                  <a:pt x="0" y="1498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35" name="Google Shape;135;p19"/>
          <p:cNvSpPr/>
          <p:nvPr/>
        </p:nvSpPr>
        <p:spPr>
          <a:xfrm>
            <a:off x="467355" y="943065"/>
            <a:ext cx="192881" cy="171450"/>
          </a:xfrm>
          <a:custGeom>
            <a:rect b="b" l="l" r="r" t="t"/>
            <a:pathLst>
              <a:path extrusionOk="0" h="304800" w="342900">
                <a:moveTo>
                  <a:pt x="76200" y="38100"/>
                </a:moveTo>
                <a:cubicBezTo>
                  <a:pt x="76200" y="17085"/>
                  <a:pt x="93285" y="0"/>
                  <a:pt x="114300" y="0"/>
                </a:cubicBezTo>
                <a:lnTo>
                  <a:pt x="228600" y="0"/>
                </a:lnTo>
                <a:cubicBezTo>
                  <a:pt x="249615" y="0"/>
                  <a:pt x="266700" y="17085"/>
                  <a:pt x="266700" y="38100"/>
                </a:cubicBezTo>
                <a:lnTo>
                  <a:pt x="266700" y="76200"/>
                </a:lnTo>
                <a:lnTo>
                  <a:pt x="304800" y="76200"/>
                </a:lnTo>
                <a:cubicBezTo>
                  <a:pt x="325815" y="76200"/>
                  <a:pt x="342900" y="93285"/>
                  <a:pt x="342900" y="114300"/>
                </a:cubicBezTo>
                <a:lnTo>
                  <a:pt x="342900" y="266700"/>
                </a:lnTo>
                <a:cubicBezTo>
                  <a:pt x="342900" y="287715"/>
                  <a:pt x="325815" y="304800"/>
                  <a:pt x="3048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14300"/>
                </a:lnTo>
                <a:cubicBezTo>
                  <a:pt x="0" y="93285"/>
                  <a:pt x="17085" y="76200"/>
                  <a:pt x="38100" y="76200"/>
                </a:cubicBezTo>
                <a:lnTo>
                  <a:pt x="76200" y="76200"/>
                </a:lnTo>
                <a:lnTo>
                  <a:pt x="76200" y="38100"/>
                </a:lnTo>
                <a:close/>
                <a:moveTo>
                  <a:pt x="161925" y="209550"/>
                </a:moveTo>
                <a:cubicBezTo>
                  <a:pt x="151388" y="209550"/>
                  <a:pt x="142875" y="218063"/>
                  <a:pt x="142875" y="228600"/>
                </a:cubicBezTo>
                <a:lnTo>
                  <a:pt x="142875" y="276225"/>
                </a:lnTo>
                <a:lnTo>
                  <a:pt x="200025" y="276225"/>
                </a:lnTo>
                <a:lnTo>
                  <a:pt x="200025" y="228600"/>
                </a:lnTo>
                <a:cubicBezTo>
                  <a:pt x="200025" y="218063"/>
                  <a:pt x="191512" y="209550"/>
                  <a:pt x="180975" y="209550"/>
                </a:cubicBezTo>
                <a:lnTo>
                  <a:pt x="161925" y="209550"/>
                </a:lnTo>
                <a:close/>
                <a:moveTo>
                  <a:pt x="76200" y="219075"/>
                </a:moveTo>
                <a:lnTo>
                  <a:pt x="76200" y="200025"/>
                </a:lnTo>
                <a:cubicBezTo>
                  <a:pt x="76200" y="194786"/>
                  <a:pt x="71914" y="190500"/>
                  <a:pt x="66675" y="190500"/>
                </a:cubicBezTo>
                <a:lnTo>
                  <a:pt x="47625" y="190500"/>
                </a:lnTo>
                <a:cubicBezTo>
                  <a:pt x="42386" y="190500"/>
                  <a:pt x="38100" y="194786"/>
                  <a:pt x="38100" y="200025"/>
                </a:cubicBezTo>
                <a:lnTo>
                  <a:pt x="38100" y="219075"/>
                </a:lnTo>
                <a:cubicBezTo>
                  <a:pt x="38100" y="224314"/>
                  <a:pt x="42386" y="228600"/>
                  <a:pt x="47625" y="228600"/>
                </a:cubicBezTo>
                <a:lnTo>
                  <a:pt x="66675" y="228600"/>
                </a:lnTo>
                <a:cubicBezTo>
                  <a:pt x="71914" y="228600"/>
                  <a:pt x="76200" y="224314"/>
                  <a:pt x="76200" y="219075"/>
                </a:cubicBezTo>
                <a:close/>
                <a:moveTo>
                  <a:pt x="66675" y="152400"/>
                </a:moveTo>
                <a:cubicBezTo>
                  <a:pt x="71914" y="152400"/>
                  <a:pt x="76200" y="148114"/>
                  <a:pt x="76200" y="142875"/>
                </a:cubicBezTo>
                <a:lnTo>
                  <a:pt x="76200" y="123825"/>
                </a:lnTo>
                <a:cubicBezTo>
                  <a:pt x="76200" y="118586"/>
                  <a:pt x="71914" y="114300"/>
                  <a:pt x="66675" y="114300"/>
                </a:cubicBezTo>
                <a:lnTo>
                  <a:pt x="47625" y="114300"/>
                </a:lnTo>
                <a:cubicBezTo>
                  <a:pt x="42386" y="114300"/>
                  <a:pt x="38100" y="118586"/>
                  <a:pt x="38100" y="123825"/>
                </a:cubicBezTo>
                <a:lnTo>
                  <a:pt x="38100" y="142875"/>
                </a:lnTo>
                <a:cubicBezTo>
                  <a:pt x="38100" y="148114"/>
                  <a:pt x="42386" y="152400"/>
                  <a:pt x="47625" y="152400"/>
                </a:cubicBezTo>
                <a:lnTo>
                  <a:pt x="66675" y="152400"/>
                </a:lnTo>
                <a:close/>
                <a:moveTo>
                  <a:pt x="304800" y="219075"/>
                </a:moveTo>
                <a:lnTo>
                  <a:pt x="304800" y="200025"/>
                </a:lnTo>
                <a:cubicBezTo>
                  <a:pt x="304800" y="194786"/>
                  <a:pt x="300514" y="190500"/>
                  <a:pt x="295275" y="190500"/>
                </a:cubicBezTo>
                <a:lnTo>
                  <a:pt x="276225" y="190500"/>
                </a:lnTo>
                <a:cubicBezTo>
                  <a:pt x="270986" y="190500"/>
                  <a:pt x="266700" y="194786"/>
                  <a:pt x="266700" y="200025"/>
                </a:cubicBezTo>
                <a:lnTo>
                  <a:pt x="266700" y="219075"/>
                </a:lnTo>
                <a:cubicBezTo>
                  <a:pt x="266700" y="224314"/>
                  <a:pt x="270986" y="228600"/>
                  <a:pt x="276225" y="228600"/>
                </a:cubicBezTo>
                <a:lnTo>
                  <a:pt x="295275" y="228600"/>
                </a:lnTo>
                <a:cubicBezTo>
                  <a:pt x="300514" y="228600"/>
                  <a:pt x="304800" y="224314"/>
                  <a:pt x="304800" y="219075"/>
                </a:cubicBezTo>
                <a:close/>
                <a:moveTo>
                  <a:pt x="295275" y="152400"/>
                </a:moveTo>
                <a:cubicBezTo>
                  <a:pt x="300514" y="152400"/>
                  <a:pt x="304800" y="148114"/>
                  <a:pt x="304800" y="142875"/>
                </a:cubicBezTo>
                <a:lnTo>
                  <a:pt x="304800" y="123825"/>
                </a:lnTo>
                <a:cubicBezTo>
                  <a:pt x="304800" y="118586"/>
                  <a:pt x="300514" y="114300"/>
                  <a:pt x="295275" y="114300"/>
                </a:cubicBezTo>
                <a:lnTo>
                  <a:pt x="276225" y="114300"/>
                </a:lnTo>
                <a:cubicBezTo>
                  <a:pt x="270986" y="114300"/>
                  <a:pt x="266700" y="118586"/>
                  <a:pt x="266700" y="123825"/>
                </a:cubicBezTo>
                <a:lnTo>
                  <a:pt x="266700" y="142875"/>
                </a:lnTo>
                <a:cubicBezTo>
                  <a:pt x="266700" y="148114"/>
                  <a:pt x="270986" y="152400"/>
                  <a:pt x="276225" y="152400"/>
                </a:cubicBezTo>
                <a:lnTo>
                  <a:pt x="295275" y="152400"/>
                </a:lnTo>
                <a:close/>
                <a:moveTo>
                  <a:pt x="157163" y="61912"/>
                </a:moveTo>
                <a:lnTo>
                  <a:pt x="157163" y="80962"/>
                </a:lnTo>
                <a:lnTo>
                  <a:pt x="138113" y="80962"/>
                </a:lnTo>
                <a:cubicBezTo>
                  <a:pt x="132874" y="80962"/>
                  <a:pt x="128588" y="85249"/>
                  <a:pt x="128588" y="90488"/>
                </a:cubicBezTo>
                <a:lnTo>
                  <a:pt x="128588" y="100013"/>
                </a:lnTo>
                <a:cubicBezTo>
                  <a:pt x="128588" y="105251"/>
                  <a:pt x="132874" y="109537"/>
                  <a:pt x="138113" y="109537"/>
                </a:cubicBezTo>
                <a:lnTo>
                  <a:pt x="157163" y="109537"/>
                </a:lnTo>
                <a:lnTo>
                  <a:pt x="157163" y="128588"/>
                </a:lnTo>
                <a:cubicBezTo>
                  <a:pt x="157163" y="133826"/>
                  <a:pt x="161449" y="138113"/>
                  <a:pt x="166688" y="138113"/>
                </a:cubicBezTo>
                <a:lnTo>
                  <a:pt x="176212" y="138113"/>
                </a:lnTo>
                <a:cubicBezTo>
                  <a:pt x="181451" y="138113"/>
                  <a:pt x="185738" y="133826"/>
                  <a:pt x="185738" y="128588"/>
                </a:cubicBezTo>
                <a:lnTo>
                  <a:pt x="185738" y="109537"/>
                </a:lnTo>
                <a:lnTo>
                  <a:pt x="204787" y="109537"/>
                </a:lnTo>
                <a:cubicBezTo>
                  <a:pt x="210026" y="109537"/>
                  <a:pt x="214313" y="105251"/>
                  <a:pt x="214313" y="100013"/>
                </a:cubicBezTo>
                <a:lnTo>
                  <a:pt x="214313" y="90488"/>
                </a:lnTo>
                <a:cubicBezTo>
                  <a:pt x="214313" y="85249"/>
                  <a:pt x="210026" y="80962"/>
                  <a:pt x="204787" y="80962"/>
                </a:cubicBezTo>
                <a:lnTo>
                  <a:pt x="185738" y="80962"/>
                </a:lnTo>
                <a:lnTo>
                  <a:pt x="185738" y="61912"/>
                </a:lnTo>
                <a:cubicBezTo>
                  <a:pt x="185738" y="56674"/>
                  <a:pt x="181451" y="52388"/>
                  <a:pt x="176212" y="52388"/>
                </a:cubicBezTo>
                <a:lnTo>
                  <a:pt x="166688" y="52388"/>
                </a:lnTo>
                <a:cubicBezTo>
                  <a:pt x="161449" y="52388"/>
                  <a:pt x="157163" y="56674"/>
                  <a:pt x="157163" y="61912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690073" y="914525"/>
            <a:ext cx="46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What It Is</a:t>
            </a:r>
            <a:endParaRPr b="0" i="0" sz="900" u="none" cap="none" strike="noStrike"/>
          </a:p>
        </p:txBody>
      </p:sp>
      <p:sp>
        <p:nvSpPr>
          <p:cNvPr id="137" name="Google Shape;137;p19"/>
          <p:cNvSpPr/>
          <p:nvPr/>
        </p:nvSpPr>
        <p:spPr>
          <a:xfrm>
            <a:off x="456640" y="1219352"/>
            <a:ext cx="4857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Health Insurance Portability and Accountability Act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is a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U.S. federal regulation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enacted in 1996 to establish national standards for electronic healthcare transactions and protect patient privacy.</a:t>
            </a:r>
            <a:endParaRPr b="0" i="0" sz="900" u="none" cap="none" strike="noStrike"/>
          </a:p>
        </p:txBody>
      </p:sp>
      <p:sp>
        <p:nvSpPr>
          <p:cNvPr id="138" name="Google Shape;138;p19"/>
          <p:cNvSpPr/>
          <p:nvPr/>
        </p:nvSpPr>
        <p:spPr>
          <a:xfrm>
            <a:off x="299757" y="1909818"/>
            <a:ext cx="28015" cy="900113"/>
          </a:xfrm>
          <a:custGeom>
            <a:rect b="b" l="l" r="r" t="t"/>
            <a:pathLst>
              <a:path extrusionOk="0" h="1600200" w="49804">
                <a:moveTo>
                  <a:pt x="0" y="0"/>
                </a:moveTo>
                <a:lnTo>
                  <a:pt x="49804" y="0"/>
                </a:lnTo>
                <a:lnTo>
                  <a:pt x="49804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39" name="Google Shape;139;p19"/>
          <p:cNvSpPr/>
          <p:nvPr/>
        </p:nvSpPr>
        <p:spPr>
          <a:xfrm>
            <a:off x="467355" y="1919238"/>
            <a:ext cx="192881" cy="171450"/>
          </a:xfrm>
          <a:custGeom>
            <a:rect b="b" l="l" r="r" t="t"/>
            <a:pathLst>
              <a:path extrusionOk="0" h="304800" w="3429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690073" y="1909818"/>
            <a:ext cx="46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Scope</a:t>
            </a:r>
            <a:endParaRPr b="0" i="0" sz="900" u="none" cap="none" strike="noStrike"/>
          </a:p>
        </p:txBody>
      </p:sp>
      <p:sp>
        <p:nvSpPr>
          <p:cNvPr id="141" name="Google Shape;141;p19"/>
          <p:cNvSpPr/>
          <p:nvPr/>
        </p:nvSpPr>
        <p:spPr>
          <a:xfrm>
            <a:off x="456640" y="2195525"/>
            <a:ext cx="4857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Applies to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any facility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that creates, accesses, shares, or destroys medical information, including:</a:t>
            </a:r>
            <a:endParaRPr b="0" i="0" sz="900" u="none" cap="none" strike="noStrike"/>
          </a:p>
        </p:txBody>
      </p:sp>
      <p:sp>
        <p:nvSpPr>
          <p:cNvPr id="142" name="Google Shape;142;p19"/>
          <p:cNvSpPr/>
          <p:nvPr/>
        </p:nvSpPr>
        <p:spPr>
          <a:xfrm>
            <a:off x="470927" y="2474009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638779" y="2438334"/>
            <a:ext cx="9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Hospitals &amp; clinics</a:t>
            </a:r>
            <a:endParaRPr b="0" i="0" sz="900" u="none" cap="none" strike="noStrike"/>
          </a:p>
        </p:txBody>
      </p:sp>
      <p:sp>
        <p:nvSpPr>
          <p:cNvPr id="144" name="Google Shape;144;p19"/>
          <p:cNvSpPr/>
          <p:nvPr/>
        </p:nvSpPr>
        <p:spPr>
          <a:xfrm>
            <a:off x="2928648" y="2474009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3096501" y="2438334"/>
            <a:ext cx="1228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Health plans &amp; insurers</a:t>
            </a:r>
            <a:endParaRPr b="0" i="0" sz="90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470927" y="2673964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638779" y="2638289"/>
            <a:ext cx="1343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Healthcare clearinghouses</a:t>
            </a:r>
            <a:endParaRPr b="0" i="0" sz="900" u="none" cap="none" strike="noStrike"/>
          </a:p>
        </p:txBody>
      </p:sp>
      <p:sp>
        <p:nvSpPr>
          <p:cNvPr id="148" name="Google Shape;148;p19"/>
          <p:cNvSpPr/>
          <p:nvPr/>
        </p:nvSpPr>
        <p:spPr>
          <a:xfrm>
            <a:off x="2928648" y="2673964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3096501" y="2638289"/>
            <a:ext cx="9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Business associates</a:t>
            </a:r>
            <a:endParaRPr b="0" i="0" sz="900" u="none" cap="none" strike="noStrike"/>
          </a:p>
        </p:txBody>
      </p:sp>
      <p:sp>
        <p:nvSpPr>
          <p:cNvPr id="150" name="Google Shape;150;p19"/>
          <p:cNvSpPr/>
          <p:nvPr/>
        </p:nvSpPr>
        <p:spPr>
          <a:xfrm>
            <a:off x="299757" y="2962237"/>
            <a:ext cx="28015" cy="842963"/>
          </a:xfrm>
          <a:custGeom>
            <a:rect b="b" l="l" r="r" t="t"/>
            <a:pathLst>
              <a:path extrusionOk="0" h="1498600" w="49804">
                <a:moveTo>
                  <a:pt x="0" y="0"/>
                </a:moveTo>
                <a:lnTo>
                  <a:pt x="49804" y="0"/>
                </a:lnTo>
                <a:lnTo>
                  <a:pt x="49804" y="1498600"/>
                </a:lnTo>
                <a:lnTo>
                  <a:pt x="0" y="1498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51" name="Google Shape;151;p19"/>
          <p:cNvSpPr/>
          <p:nvPr/>
        </p:nvSpPr>
        <p:spPr>
          <a:xfrm>
            <a:off x="478071" y="2971656"/>
            <a:ext cx="171450" cy="171450"/>
          </a:xfrm>
          <a:custGeom>
            <a:rect b="b" l="l" r="r" t="t"/>
            <a:pathLst>
              <a:path extrusionOk="0" h="304800" w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690073" y="2943116"/>
            <a:ext cx="46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Objective</a:t>
            </a:r>
            <a:endParaRPr b="0" i="0" sz="900" u="none" cap="none" strike="noStrike"/>
          </a:p>
        </p:txBody>
      </p:sp>
      <p:sp>
        <p:nvSpPr>
          <p:cNvPr id="153" name="Google Shape;153;p19"/>
          <p:cNvSpPr/>
          <p:nvPr/>
        </p:nvSpPr>
        <p:spPr>
          <a:xfrm>
            <a:off x="456640" y="3247944"/>
            <a:ext cx="4857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Provides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national standards and procedures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for the storage, use, and transmission of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personal medical information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and healthcare data, ensuring confidentiality while enabling necessary information flow.</a:t>
            </a:r>
            <a:endParaRPr b="0" i="0" sz="90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5436254" y="921529"/>
            <a:ext cx="3414432" cy="1857095"/>
          </a:xfrm>
          <a:custGeom>
            <a:rect b="b" l="l" r="r" t="t"/>
            <a:pathLst>
              <a:path extrusionOk="0" h="3301502" w="6070102">
                <a:moveTo>
                  <a:pt x="0" y="0"/>
                </a:moveTo>
                <a:lnTo>
                  <a:pt x="6070102" y="0"/>
                </a:lnTo>
                <a:lnTo>
                  <a:pt x="6070102" y="3301502"/>
                </a:lnTo>
                <a:lnTo>
                  <a:pt x="0" y="330150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cap="flat" cmpd="sng" w="249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9"/>
          <p:cNvSpPr/>
          <p:nvPr/>
        </p:nvSpPr>
        <p:spPr>
          <a:xfrm>
            <a:off x="5521830" y="1042823"/>
            <a:ext cx="32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2024-2025 Enforcement Snapshot</a:t>
            </a:r>
            <a:endParaRPr b="0" i="0" sz="1000" u="none" cap="none" strike="noStrike"/>
          </a:p>
        </p:txBody>
      </p:sp>
      <p:sp>
        <p:nvSpPr>
          <p:cNvPr id="156" name="Google Shape;156;p19"/>
          <p:cNvSpPr/>
          <p:nvPr/>
        </p:nvSpPr>
        <p:spPr>
          <a:xfrm>
            <a:off x="5557549" y="1617081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157" name="Google Shape;157;p19"/>
          <p:cNvSpPr/>
          <p:nvPr/>
        </p:nvSpPr>
        <p:spPr>
          <a:xfrm>
            <a:off x="5557549" y="1385653"/>
            <a:ext cx="935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Total Fines (2024)</a:t>
            </a:r>
            <a:endParaRPr b="0" i="0" sz="900" u="none" cap="none" strike="noStrike"/>
          </a:p>
        </p:txBody>
      </p:sp>
      <p:sp>
        <p:nvSpPr>
          <p:cNvPr id="158" name="Google Shape;158;p19"/>
          <p:cNvSpPr/>
          <p:nvPr/>
        </p:nvSpPr>
        <p:spPr>
          <a:xfrm>
            <a:off x="8180907" y="1357070"/>
            <a:ext cx="63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$9.9M+</a:t>
            </a:r>
            <a:endParaRPr b="0" i="0" sz="900" u="none" cap="none" strike="noStrike"/>
          </a:p>
        </p:txBody>
      </p:sp>
      <p:sp>
        <p:nvSpPr>
          <p:cNvPr id="159" name="Google Shape;159;p19"/>
          <p:cNvSpPr/>
          <p:nvPr/>
        </p:nvSpPr>
        <p:spPr>
          <a:xfrm>
            <a:off x="5557549" y="1965470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160" name="Google Shape;160;p19"/>
          <p:cNvSpPr/>
          <p:nvPr/>
        </p:nvSpPr>
        <p:spPr>
          <a:xfrm>
            <a:off x="5557549" y="1734042"/>
            <a:ext cx="11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Enforcement Actions</a:t>
            </a:r>
            <a:endParaRPr b="0" i="0" sz="900" u="none" cap="none" strike="noStrike"/>
          </a:p>
        </p:txBody>
      </p:sp>
      <p:sp>
        <p:nvSpPr>
          <p:cNvPr id="161" name="Google Shape;161;p19"/>
          <p:cNvSpPr/>
          <p:nvPr/>
        </p:nvSpPr>
        <p:spPr>
          <a:xfrm>
            <a:off x="8569480" y="1705458"/>
            <a:ext cx="2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22</a:t>
            </a:r>
            <a:endParaRPr b="0" i="0" sz="900" u="none" cap="none" strike="noStrike"/>
          </a:p>
        </p:txBody>
      </p:sp>
      <p:sp>
        <p:nvSpPr>
          <p:cNvPr id="162" name="Google Shape;162;p19"/>
          <p:cNvSpPr/>
          <p:nvPr/>
        </p:nvSpPr>
        <p:spPr>
          <a:xfrm>
            <a:off x="5557549" y="2313860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163" name="Google Shape;163;p19"/>
          <p:cNvSpPr/>
          <p:nvPr/>
        </p:nvSpPr>
        <p:spPr>
          <a:xfrm>
            <a:off x="5557549" y="2082432"/>
            <a:ext cx="9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Largest Single Fine</a:t>
            </a:r>
            <a:endParaRPr b="0" i="0" sz="900" u="none" cap="none" strike="noStrike"/>
          </a:p>
        </p:txBody>
      </p:sp>
      <p:sp>
        <p:nvSpPr>
          <p:cNvPr id="164" name="Google Shape;164;p19"/>
          <p:cNvSpPr/>
          <p:nvPr/>
        </p:nvSpPr>
        <p:spPr>
          <a:xfrm>
            <a:off x="8208134" y="2053849"/>
            <a:ext cx="60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$6.75M</a:t>
            </a:r>
            <a:endParaRPr b="0" i="0" sz="900" u="none" cap="none" strike="noStrike"/>
          </a:p>
        </p:txBody>
      </p:sp>
      <p:sp>
        <p:nvSpPr>
          <p:cNvPr id="165" name="Google Shape;165;p19"/>
          <p:cNvSpPr/>
          <p:nvPr/>
        </p:nvSpPr>
        <p:spPr>
          <a:xfrm>
            <a:off x="5557549" y="2430821"/>
            <a:ext cx="907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Records Affected</a:t>
            </a:r>
            <a:endParaRPr b="0" i="0" sz="900" u="none" cap="none" strike="noStrike"/>
          </a:p>
        </p:txBody>
      </p:sp>
      <p:sp>
        <p:nvSpPr>
          <p:cNvPr id="166" name="Google Shape;166;p19"/>
          <p:cNvSpPr/>
          <p:nvPr/>
        </p:nvSpPr>
        <p:spPr>
          <a:xfrm>
            <a:off x="8333106" y="2402237"/>
            <a:ext cx="48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10M+</a:t>
            </a:r>
            <a:endParaRPr b="0" i="0" sz="900" u="none" cap="none" strike="noStrike"/>
          </a:p>
        </p:txBody>
      </p:sp>
      <p:pic>
        <p:nvPicPr>
          <p:cNvPr descr="https://kimi-web-img.moonshot.cn/img/discover.strongdm.com/b285c569db6f729a36d014379f66c1e773eaa53d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20818" l="0" r="0" t="20818"/>
          <a:stretch/>
        </p:blipFill>
        <p:spPr>
          <a:xfrm>
            <a:off x="5429250" y="2921070"/>
            <a:ext cx="3400500" cy="1114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68" name="Google Shape;168;p19"/>
          <p:cNvSpPr/>
          <p:nvPr/>
        </p:nvSpPr>
        <p:spPr>
          <a:xfrm>
            <a:off x="5404247" y="4206902"/>
            <a:ext cx="3479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Figure 1: Healthcare data security framework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75" name="Google Shape;175;p20"/>
          <p:cNvSpPr/>
          <p:nvPr/>
        </p:nvSpPr>
        <p:spPr>
          <a:xfrm>
            <a:off x="457165" y="285750"/>
            <a:ext cx="60793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2.2</a:t>
            </a:r>
            <a:endParaRPr b="0" i="0" sz="900" u="none" cap="none" strike="noStrike"/>
          </a:p>
        </p:txBody>
      </p:sp>
      <p:sp>
        <p:nvSpPr>
          <p:cNvPr id="176" name="Google Shape;176;p20"/>
          <p:cNvSpPr/>
          <p:nvPr/>
        </p:nvSpPr>
        <p:spPr>
          <a:xfrm>
            <a:off x="457165" y="457165"/>
            <a:ext cx="61579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HIPAA Penalties &amp; 2024-2025 Enforcement Landscape</a:t>
            </a:r>
            <a:endParaRPr b="0" i="0" sz="900" u="none" cap="none" strike="noStrike"/>
          </a:p>
        </p:txBody>
      </p:sp>
      <p:sp>
        <p:nvSpPr>
          <p:cNvPr id="177" name="Google Shape;177;p20"/>
          <p:cNvSpPr/>
          <p:nvPr/>
        </p:nvSpPr>
        <p:spPr>
          <a:xfrm>
            <a:off x="294680" y="933505"/>
            <a:ext cx="160734" cy="142875"/>
          </a:xfrm>
          <a:custGeom>
            <a:rect b="b" l="l" r="r" t="t"/>
            <a:pathLst>
              <a:path extrusionOk="0" h="254000" w="285750">
                <a:moveTo>
                  <a:pt x="84138" y="76101"/>
                </a:moveTo>
                <a:lnTo>
                  <a:pt x="74861" y="66824"/>
                </a:lnTo>
                <a:cubicBezTo>
                  <a:pt x="68659" y="60623"/>
                  <a:pt x="68659" y="50552"/>
                  <a:pt x="74861" y="44351"/>
                </a:cubicBezTo>
                <a:lnTo>
                  <a:pt x="131763" y="-12601"/>
                </a:lnTo>
                <a:cubicBezTo>
                  <a:pt x="137964" y="-18802"/>
                  <a:pt x="148034" y="-18802"/>
                  <a:pt x="154236" y="-12601"/>
                </a:cubicBezTo>
                <a:lnTo>
                  <a:pt x="163513" y="-3274"/>
                </a:lnTo>
                <a:cubicBezTo>
                  <a:pt x="169714" y="2927"/>
                  <a:pt x="169714" y="12998"/>
                  <a:pt x="163513" y="19199"/>
                </a:cubicBezTo>
                <a:lnTo>
                  <a:pt x="106611" y="76101"/>
                </a:lnTo>
                <a:cubicBezTo>
                  <a:pt x="100409" y="82302"/>
                  <a:pt x="90339" y="82302"/>
                  <a:pt x="84138" y="76101"/>
                </a:cubicBezTo>
                <a:close/>
                <a:moveTo>
                  <a:pt x="136922" y="105023"/>
                </a:moveTo>
                <a:lnTo>
                  <a:pt x="121345" y="89446"/>
                </a:lnTo>
                <a:lnTo>
                  <a:pt x="176907" y="33883"/>
                </a:lnTo>
                <a:lnTo>
                  <a:pt x="236141" y="93117"/>
                </a:lnTo>
                <a:lnTo>
                  <a:pt x="180578" y="148679"/>
                </a:lnTo>
                <a:lnTo>
                  <a:pt x="165001" y="133102"/>
                </a:lnTo>
                <a:lnTo>
                  <a:pt x="49907" y="248196"/>
                </a:lnTo>
                <a:cubicBezTo>
                  <a:pt x="42168" y="255935"/>
                  <a:pt x="29617" y="255935"/>
                  <a:pt x="21828" y="248196"/>
                </a:cubicBezTo>
                <a:cubicBezTo>
                  <a:pt x="14039" y="240457"/>
                  <a:pt x="14089" y="227905"/>
                  <a:pt x="21828" y="220117"/>
                </a:cubicBezTo>
                <a:lnTo>
                  <a:pt x="136922" y="105023"/>
                </a:lnTo>
                <a:close/>
                <a:moveTo>
                  <a:pt x="193923" y="185837"/>
                </a:moveTo>
                <a:cubicBezTo>
                  <a:pt x="187722" y="179636"/>
                  <a:pt x="187722" y="169565"/>
                  <a:pt x="193923" y="163364"/>
                </a:cubicBezTo>
                <a:lnTo>
                  <a:pt x="250825" y="106462"/>
                </a:lnTo>
                <a:cubicBezTo>
                  <a:pt x="257026" y="100261"/>
                  <a:pt x="267097" y="100261"/>
                  <a:pt x="273298" y="106462"/>
                </a:cubicBezTo>
                <a:lnTo>
                  <a:pt x="282575" y="115739"/>
                </a:lnTo>
                <a:cubicBezTo>
                  <a:pt x="288776" y="121940"/>
                  <a:pt x="288776" y="132011"/>
                  <a:pt x="282575" y="138212"/>
                </a:cubicBezTo>
                <a:lnTo>
                  <a:pt x="225673" y="195163"/>
                </a:lnTo>
                <a:cubicBezTo>
                  <a:pt x="219472" y="201364"/>
                  <a:pt x="209401" y="201364"/>
                  <a:pt x="203200" y="195163"/>
                </a:cubicBezTo>
                <a:lnTo>
                  <a:pt x="193923" y="185886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483465" y="904965"/>
            <a:ext cx="409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Four-Tier Penalty Structure (2026)</a:t>
            </a:r>
            <a:endParaRPr b="0" i="0" sz="1000" u="none" cap="none" strike="noStrike"/>
          </a:p>
        </p:txBody>
      </p:sp>
      <p:sp>
        <p:nvSpPr>
          <p:cNvPr id="179" name="Google Shape;179;p20"/>
          <p:cNvSpPr/>
          <p:nvPr/>
        </p:nvSpPr>
        <p:spPr>
          <a:xfrm>
            <a:off x="299757" y="1228913"/>
            <a:ext cx="28015" cy="400050"/>
          </a:xfrm>
          <a:custGeom>
            <a:rect b="b" l="l" r="r" t="t"/>
            <a:pathLst>
              <a:path extrusionOk="0" h="711200" w="49804">
                <a:moveTo>
                  <a:pt x="0" y="0"/>
                </a:moveTo>
                <a:lnTo>
                  <a:pt x="49804" y="0"/>
                </a:lnTo>
                <a:lnTo>
                  <a:pt x="49804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>
            <a:noFill/>
          </a:ln>
        </p:spPr>
      </p:sp>
      <p:sp>
        <p:nvSpPr>
          <p:cNvPr id="180" name="Google Shape;180;p20"/>
          <p:cNvSpPr/>
          <p:nvPr/>
        </p:nvSpPr>
        <p:spPr>
          <a:xfrm>
            <a:off x="399472" y="1257453"/>
            <a:ext cx="130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Tier 1: Reasonable Efforts</a:t>
            </a:r>
            <a:endParaRPr b="0" i="0" sz="900" u="none" cap="none" strike="noStrike"/>
          </a:p>
        </p:txBody>
      </p:sp>
      <p:sp>
        <p:nvSpPr>
          <p:cNvPr id="181" name="Google Shape;181;p20"/>
          <p:cNvSpPr/>
          <p:nvPr/>
        </p:nvSpPr>
        <p:spPr>
          <a:xfrm>
            <a:off x="3932214" y="1271723"/>
            <a:ext cx="607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$145 – $73,011</a:t>
            </a:r>
            <a:endParaRPr b="0" i="0" sz="900" u="none" cap="none" strike="noStrike"/>
          </a:p>
        </p:txBody>
      </p:sp>
      <p:sp>
        <p:nvSpPr>
          <p:cNvPr id="182" name="Google Shape;182;p20"/>
          <p:cNvSpPr/>
          <p:nvPr/>
        </p:nvSpPr>
        <p:spPr>
          <a:xfrm>
            <a:off x="399472" y="1457408"/>
            <a:ext cx="4136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Per violation | Annual cap: $2,190,294</a:t>
            </a:r>
            <a:endParaRPr b="0" i="0" sz="900" u="none" cap="none" strike="noStrike"/>
          </a:p>
        </p:txBody>
      </p:sp>
      <p:sp>
        <p:nvSpPr>
          <p:cNvPr id="183" name="Google Shape;183;p20"/>
          <p:cNvSpPr/>
          <p:nvPr/>
        </p:nvSpPr>
        <p:spPr>
          <a:xfrm>
            <a:off x="299757" y="1705068"/>
            <a:ext cx="28015" cy="400050"/>
          </a:xfrm>
          <a:custGeom>
            <a:rect b="b" l="l" r="r" t="t"/>
            <a:pathLst>
              <a:path extrusionOk="0" h="711200" w="49804">
                <a:moveTo>
                  <a:pt x="0" y="0"/>
                </a:moveTo>
                <a:lnTo>
                  <a:pt x="49804" y="0"/>
                </a:lnTo>
                <a:lnTo>
                  <a:pt x="49804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>
            <a:noFill/>
          </a:ln>
        </p:spPr>
      </p:sp>
      <p:sp>
        <p:nvSpPr>
          <p:cNvPr id="184" name="Google Shape;184;p20"/>
          <p:cNvSpPr/>
          <p:nvPr/>
        </p:nvSpPr>
        <p:spPr>
          <a:xfrm>
            <a:off x="399472" y="1733607"/>
            <a:ext cx="1278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Tier 2: Lack of Oversight</a:t>
            </a:r>
            <a:endParaRPr b="0" i="0" sz="900" u="none" cap="none" strike="noStrike"/>
          </a:p>
        </p:txBody>
      </p:sp>
      <p:sp>
        <p:nvSpPr>
          <p:cNvPr id="185" name="Google Shape;185;p20"/>
          <p:cNvSpPr/>
          <p:nvPr/>
        </p:nvSpPr>
        <p:spPr>
          <a:xfrm>
            <a:off x="3857713" y="1747877"/>
            <a:ext cx="678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$1,461 – $73,011</a:t>
            </a:r>
            <a:endParaRPr b="0" i="0" sz="900" u="none" cap="none" strike="noStrike"/>
          </a:p>
        </p:txBody>
      </p:sp>
      <p:sp>
        <p:nvSpPr>
          <p:cNvPr id="186" name="Google Shape;186;p20"/>
          <p:cNvSpPr/>
          <p:nvPr/>
        </p:nvSpPr>
        <p:spPr>
          <a:xfrm>
            <a:off x="399472" y="1933562"/>
            <a:ext cx="4136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Per violation | Annual cap: $2,190,294</a:t>
            </a:r>
            <a:endParaRPr b="0" i="0" sz="900" u="none" cap="none" strike="noStrike"/>
          </a:p>
        </p:txBody>
      </p:sp>
      <p:sp>
        <p:nvSpPr>
          <p:cNvPr id="187" name="Google Shape;187;p20"/>
          <p:cNvSpPr/>
          <p:nvPr/>
        </p:nvSpPr>
        <p:spPr>
          <a:xfrm>
            <a:off x="299757" y="2181221"/>
            <a:ext cx="28015" cy="400050"/>
          </a:xfrm>
          <a:custGeom>
            <a:rect b="b" l="l" r="r" t="t"/>
            <a:pathLst>
              <a:path extrusionOk="0" h="711200" w="49804">
                <a:moveTo>
                  <a:pt x="0" y="0"/>
                </a:moveTo>
                <a:lnTo>
                  <a:pt x="49804" y="0"/>
                </a:lnTo>
                <a:lnTo>
                  <a:pt x="49804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>
            <a:noFill/>
          </a:ln>
        </p:spPr>
      </p:sp>
      <p:sp>
        <p:nvSpPr>
          <p:cNvPr id="188" name="Google Shape;188;p20"/>
          <p:cNvSpPr/>
          <p:nvPr/>
        </p:nvSpPr>
        <p:spPr>
          <a:xfrm>
            <a:off x="399472" y="2209761"/>
            <a:ext cx="137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Tier 3: Neglect – Corrected</a:t>
            </a:r>
            <a:endParaRPr b="0" i="0" sz="900" u="none" cap="none" strike="noStrike"/>
          </a:p>
        </p:txBody>
      </p:sp>
      <p:sp>
        <p:nvSpPr>
          <p:cNvPr id="189" name="Google Shape;189;p20"/>
          <p:cNvSpPr/>
          <p:nvPr/>
        </p:nvSpPr>
        <p:spPr>
          <a:xfrm>
            <a:off x="3792009" y="2224031"/>
            <a:ext cx="743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$14,602 – $73,011</a:t>
            </a:r>
            <a:endParaRPr b="0" i="0" sz="900" u="none" cap="none" strike="noStrike"/>
          </a:p>
        </p:txBody>
      </p:sp>
      <p:sp>
        <p:nvSpPr>
          <p:cNvPr id="190" name="Google Shape;190;p20"/>
          <p:cNvSpPr/>
          <p:nvPr/>
        </p:nvSpPr>
        <p:spPr>
          <a:xfrm>
            <a:off x="399472" y="2409717"/>
            <a:ext cx="4136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Per violation | Annual cap: $2,190,294</a:t>
            </a:r>
            <a:endParaRPr b="0" i="0" sz="900" u="none" cap="none" strike="noStrike"/>
          </a:p>
        </p:txBody>
      </p:sp>
      <p:sp>
        <p:nvSpPr>
          <p:cNvPr id="191" name="Google Shape;191;p20"/>
          <p:cNvSpPr/>
          <p:nvPr/>
        </p:nvSpPr>
        <p:spPr>
          <a:xfrm>
            <a:off x="299757" y="2657377"/>
            <a:ext cx="28015" cy="400050"/>
          </a:xfrm>
          <a:custGeom>
            <a:rect b="b" l="l" r="r" t="t"/>
            <a:pathLst>
              <a:path extrusionOk="0" h="711200" w="49804">
                <a:moveTo>
                  <a:pt x="0" y="0"/>
                </a:moveTo>
                <a:lnTo>
                  <a:pt x="49804" y="0"/>
                </a:lnTo>
                <a:lnTo>
                  <a:pt x="49804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92" name="Google Shape;192;p20"/>
          <p:cNvSpPr/>
          <p:nvPr/>
        </p:nvSpPr>
        <p:spPr>
          <a:xfrm>
            <a:off x="399472" y="2685917"/>
            <a:ext cx="1421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Tier 4: Uncorrected Neglect</a:t>
            </a:r>
            <a:endParaRPr b="0" i="0" sz="900" u="none" cap="none" strike="noStrike"/>
          </a:p>
        </p:txBody>
      </p:sp>
      <p:sp>
        <p:nvSpPr>
          <p:cNvPr id="193" name="Google Shape;193;p20"/>
          <p:cNvSpPr/>
          <p:nvPr/>
        </p:nvSpPr>
        <p:spPr>
          <a:xfrm>
            <a:off x="3672772" y="2700187"/>
            <a:ext cx="864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$73,011 – $2,190,294</a:t>
            </a:r>
            <a:endParaRPr b="0" i="0" sz="900" u="none" cap="none" strike="noStrike"/>
          </a:p>
        </p:txBody>
      </p:sp>
      <p:sp>
        <p:nvSpPr>
          <p:cNvPr id="194" name="Google Shape;194;p20"/>
          <p:cNvSpPr/>
          <p:nvPr/>
        </p:nvSpPr>
        <p:spPr>
          <a:xfrm>
            <a:off x="399472" y="2885872"/>
            <a:ext cx="4136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Per violation | Annual cap: $2,190,294</a:t>
            </a:r>
            <a:endParaRPr b="0" i="0" sz="900" u="none" cap="none" strike="noStrike"/>
          </a:p>
        </p:txBody>
      </p:sp>
      <p:sp>
        <p:nvSpPr>
          <p:cNvPr id="195" name="Google Shape;195;p20"/>
          <p:cNvSpPr/>
          <p:nvPr/>
        </p:nvSpPr>
        <p:spPr>
          <a:xfrm>
            <a:off x="299757" y="3162114"/>
            <a:ext cx="4185957" cy="400050"/>
          </a:xfrm>
          <a:custGeom>
            <a:rect b="b" l="l" r="r" t="t"/>
            <a:pathLst>
              <a:path extrusionOk="0" h="711200" w="7441702">
                <a:moveTo>
                  <a:pt x="0" y="0"/>
                </a:moveTo>
                <a:lnTo>
                  <a:pt x="7441702" y="0"/>
                </a:lnTo>
                <a:lnTo>
                  <a:pt x="7441702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196" name="Google Shape;196;p20"/>
          <p:cNvSpPr/>
          <p:nvPr/>
        </p:nvSpPr>
        <p:spPr>
          <a:xfrm>
            <a:off x="299757" y="3162114"/>
            <a:ext cx="28015" cy="400050"/>
          </a:xfrm>
          <a:custGeom>
            <a:rect b="b" l="l" r="r" t="t"/>
            <a:pathLst>
              <a:path extrusionOk="0" h="711200" w="49804">
                <a:moveTo>
                  <a:pt x="0" y="0"/>
                </a:moveTo>
                <a:lnTo>
                  <a:pt x="49804" y="0"/>
                </a:lnTo>
                <a:lnTo>
                  <a:pt x="49804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428056" y="3219237"/>
            <a:ext cx="4107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Criminal Penalties:</a:t>
            </a:r>
            <a:r>
              <a:rPr b="0" i="0" lang="en" sz="8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Knowing violations: </a:t>
            </a:r>
            <a:r>
              <a:rPr b="0" i="0" lang="en" sz="8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$50,000 + 1 year prison</a:t>
            </a:r>
            <a:r>
              <a:rPr b="0" i="0" lang="en" sz="8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| Malicious intent: </a:t>
            </a:r>
            <a:r>
              <a:rPr b="0" i="0" lang="en" sz="8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$250,000 + 10 years prison</a:t>
            </a:r>
            <a:endParaRPr b="0" i="0" sz="900" u="none" cap="none" strike="noStrike"/>
          </a:p>
        </p:txBody>
      </p:sp>
      <p:sp>
        <p:nvSpPr>
          <p:cNvPr id="198" name="Google Shape;198;p20"/>
          <p:cNvSpPr/>
          <p:nvPr/>
        </p:nvSpPr>
        <p:spPr>
          <a:xfrm>
            <a:off x="4675567" y="933505"/>
            <a:ext cx="142875" cy="142875"/>
          </a:xfrm>
          <a:custGeom>
            <a:rect b="b" l="l" r="r" t="t"/>
            <a:pathLst>
              <a:path extrusionOk="0" h="254000" w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4855422" y="904965"/>
            <a:ext cx="409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Major 2024-2025 Enforcement Cases</a:t>
            </a:r>
            <a:endParaRPr b="0" i="0" sz="1000" u="none" cap="none" strike="noStrike"/>
          </a:p>
        </p:txBody>
      </p:sp>
      <p:sp>
        <p:nvSpPr>
          <p:cNvPr id="200" name="Google Shape;200;p20"/>
          <p:cNvSpPr/>
          <p:nvPr/>
        </p:nvSpPr>
        <p:spPr>
          <a:xfrm>
            <a:off x="4657708" y="1660339"/>
            <a:ext cx="4200525" cy="5603"/>
          </a:xfrm>
          <a:custGeom>
            <a:rect b="b" l="l" r="r" t="t"/>
            <a:pathLst>
              <a:path extrusionOk="0" h="9961" w="7467600">
                <a:moveTo>
                  <a:pt x="0" y="0"/>
                </a:moveTo>
                <a:lnTo>
                  <a:pt x="7467600" y="0"/>
                </a:lnTo>
                <a:lnTo>
                  <a:pt x="74676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201" name="Google Shape;201;p20"/>
          <p:cNvSpPr/>
          <p:nvPr/>
        </p:nvSpPr>
        <p:spPr>
          <a:xfrm>
            <a:off x="4657708" y="1286037"/>
            <a:ext cx="129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Blackbaud, Inc.</a:t>
            </a:r>
            <a:endParaRPr b="0" i="0" sz="900" u="none" cap="none" strike="noStrike"/>
          </a:p>
        </p:txBody>
      </p:sp>
      <p:sp>
        <p:nvSpPr>
          <p:cNvPr id="202" name="Google Shape;202;p20"/>
          <p:cNvSpPr/>
          <p:nvPr/>
        </p:nvSpPr>
        <p:spPr>
          <a:xfrm>
            <a:off x="4657708" y="1457452"/>
            <a:ext cx="128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Breach affecting 5.5M records</a:t>
            </a:r>
            <a:endParaRPr b="0" i="0" sz="900" u="none" cap="none" strike="noStrike"/>
          </a:p>
        </p:txBody>
      </p:sp>
      <p:sp>
        <p:nvSpPr>
          <p:cNvPr id="203" name="Google Shape;203;p20"/>
          <p:cNvSpPr/>
          <p:nvPr/>
        </p:nvSpPr>
        <p:spPr>
          <a:xfrm>
            <a:off x="8336433" y="1328890"/>
            <a:ext cx="60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$6.75M</a:t>
            </a:r>
            <a:endParaRPr b="0" i="0" sz="900" u="none" cap="none" strike="noStrike"/>
          </a:p>
        </p:txBody>
      </p:sp>
      <p:sp>
        <p:nvSpPr>
          <p:cNvPr id="204" name="Google Shape;204;p20"/>
          <p:cNvSpPr/>
          <p:nvPr/>
        </p:nvSpPr>
        <p:spPr>
          <a:xfrm>
            <a:off x="4657708" y="2170724"/>
            <a:ext cx="4200525" cy="5603"/>
          </a:xfrm>
          <a:custGeom>
            <a:rect b="b" l="l" r="r" t="t"/>
            <a:pathLst>
              <a:path extrusionOk="0" h="9961" w="7467600">
                <a:moveTo>
                  <a:pt x="0" y="0"/>
                </a:moveTo>
                <a:lnTo>
                  <a:pt x="7467600" y="0"/>
                </a:lnTo>
                <a:lnTo>
                  <a:pt x="74676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205" name="Google Shape;205;p20"/>
          <p:cNvSpPr/>
          <p:nvPr/>
        </p:nvSpPr>
        <p:spPr>
          <a:xfrm>
            <a:off x="4657708" y="1796421"/>
            <a:ext cx="14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Montefiore Medical Center</a:t>
            </a:r>
            <a:endParaRPr b="0" i="0" sz="900" u="none" cap="none" strike="noStrike"/>
          </a:p>
        </p:txBody>
      </p:sp>
      <p:sp>
        <p:nvSpPr>
          <p:cNvPr id="206" name="Google Shape;206;p20"/>
          <p:cNvSpPr/>
          <p:nvPr/>
        </p:nvSpPr>
        <p:spPr>
          <a:xfrm>
            <a:off x="4657708" y="1967836"/>
            <a:ext cx="14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Insider threat, 10,840 individuals</a:t>
            </a:r>
            <a:endParaRPr b="0" i="0" sz="900" u="none" cap="none" strike="noStrike"/>
          </a:p>
        </p:txBody>
      </p:sp>
      <p:sp>
        <p:nvSpPr>
          <p:cNvPr id="207" name="Google Shape;207;p20"/>
          <p:cNvSpPr/>
          <p:nvPr/>
        </p:nvSpPr>
        <p:spPr>
          <a:xfrm>
            <a:off x="8335250" y="1839275"/>
            <a:ext cx="60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$4.75M</a:t>
            </a:r>
            <a:endParaRPr b="0" i="0" sz="900" u="none" cap="none" strike="noStrike"/>
          </a:p>
        </p:txBody>
      </p:sp>
      <p:sp>
        <p:nvSpPr>
          <p:cNvPr id="208" name="Google Shape;208;p20"/>
          <p:cNvSpPr/>
          <p:nvPr/>
        </p:nvSpPr>
        <p:spPr>
          <a:xfrm>
            <a:off x="4657708" y="2681108"/>
            <a:ext cx="4200525" cy="5603"/>
          </a:xfrm>
          <a:custGeom>
            <a:rect b="b" l="l" r="r" t="t"/>
            <a:pathLst>
              <a:path extrusionOk="0" h="9961" w="7467600">
                <a:moveTo>
                  <a:pt x="0" y="0"/>
                </a:moveTo>
                <a:lnTo>
                  <a:pt x="7467600" y="0"/>
                </a:lnTo>
                <a:lnTo>
                  <a:pt x="74676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209" name="Google Shape;209;p20"/>
          <p:cNvSpPr/>
          <p:nvPr/>
        </p:nvSpPr>
        <p:spPr>
          <a:xfrm>
            <a:off x="4657708" y="2306806"/>
            <a:ext cx="154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Enzo Biochem</a:t>
            </a:r>
            <a:endParaRPr b="0" i="0" sz="900" u="none" cap="none" strike="noStrike"/>
          </a:p>
        </p:txBody>
      </p:sp>
      <p:sp>
        <p:nvSpPr>
          <p:cNvPr id="210" name="Google Shape;210;p20"/>
          <p:cNvSpPr/>
          <p:nvPr/>
        </p:nvSpPr>
        <p:spPr>
          <a:xfrm>
            <a:off x="4657708" y="2478221"/>
            <a:ext cx="1536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12 HIPAA Security Rule violations</a:t>
            </a:r>
            <a:endParaRPr b="0" i="0" sz="90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8421133" y="2349660"/>
            <a:ext cx="52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$4.5M</a:t>
            </a:r>
            <a:endParaRPr b="0" i="0" sz="900" u="none" cap="none" strike="noStrike"/>
          </a:p>
        </p:txBody>
      </p:sp>
      <p:sp>
        <p:nvSpPr>
          <p:cNvPr id="212" name="Google Shape;212;p20"/>
          <p:cNvSpPr/>
          <p:nvPr/>
        </p:nvSpPr>
        <p:spPr>
          <a:xfrm>
            <a:off x="4657708" y="3191495"/>
            <a:ext cx="4200525" cy="5603"/>
          </a:xfrm>
          <a:custGeom>
            <a:rect b="b" l="l" r="r" t="t"/>
            <a:pathLst>
              <a:path extrusionOk="0" h="9961" w="7467600">
                <a:moveTo>
                  <a:pt x="0" y="0"/>
                </a:moveTo>
                <a:lnTo>
                  <a:pt x="7467600" y="0"/>
                </a:lnTo>
                <a:lnTo>
                  <a:pt x="74676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213" name="Google Shape;213;p20"/>
          <p:cNvSpPr/>
          <p:nvPr/>
        </p:nvSpPr>
        <p:spPr>
          <a:xfrm>
            <a:off x="4657708" y="2817192"/>
            <a:ext cx="137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Solara Medical Supplies</a:t>
            </a:r>
            <a:endParaRPr b="0" i="0" sz="900" u="none" cap="none" strike="noStrike"/>
          </a:p>
        </p:txBody>
      </p:sp>
      <p:sp>
        <p:nvSpPr>
          <p:cNvPr id="214" name="Google Shape;214;p20"/>
          <p:cNvSpPr/>
          <p:nvPr/>
        </p:nvSpPr>
        <p:spPr>
          <a:xfrm>
            <a:off x="4657708" y="2988607"/>
            <a:ext cx="1364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Phishing attack, 114K+ patients</a:t>
            </a:r>
            <a:endParaRPr b="0" i="0" sz="900" u="none" cap="none" strike="noStrike"/>
          </a:p>
        </p:txBody>
      </p:sp>
      <p:sp>
        <p:nvSpPr>
          <p:cNvPr id="215" name="Google Shape;215;p20"/>
          <p:cNvSpPr/>
          <p:nvPr/>
        </p:nvSpPr>
        <p:spPr>
          <a:xfrm>
            <a:off x="8406206" y="2860045"/>
            <a:ext cx="53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$3.0M</a:t>
            </a:r>
            <a:endParaRPr b="0" i="0" sz="900" u="none" cap="none" strike="noStrike"/>
          </a:p>
        </p:txBody>
      </p:sp>
      <p:sp>
        <p:nvSpPr>
          <p:cNvPr id="216" name="Google Shape;216;p20"/>
          <p:cNvSpPr/>
          <p:nvPr/>
        </p:nvSpPr>
        <p:spPr>
          <a:xfrm>
            <a:off x="4657708" y="3327576"/>
            <a:ext cx="1086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Warby Parker, Inc.</a:t>
            </a:r>
            <a:endParaRPr b="0" i="0" sz="900" u="none" cap="none" strike="noStrike"/>
          </a:p>
        </p:txBody>
      </p:sp>
      <p:sp>
        <p:nvSpPr>
          <p:cNvPr id="217" name="Google Shape;217;p20"/>
          <p:cNvSpPr/>
          <p:nvPr/>
        </p:nvSpPr>
        <p:spPr>
          <a:xfrm>
            <a:off x="4657708" y="3498991"/>
            <a:ext cx="1078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Security Rule violations</a:t>
            </a:r>
            <a:endParaRPr b="0" i="0" sz="900" u="none" cap="none" strike="noStrike"/>
          </a:p>
        </p:txBody>
      </p:sp>
      <p:sp>
        <p:nvSpPr>
          <p:cNvPr id="218" name="Google Shape;218;p20"/>
          <p:cNvSpPr/>
          <p:nvPr/>
        </p:nvSpPr>
        <p:spPr>
          <a:xfrm>
            <a:off x="8449235" y="3370430"/>
            <a:ext cx="49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$1.5M</a:t>
            </a:r>
            <a:endParaRPr b="0" i="0" sz="900" u="none" cap="none" strike="noStrike"/>
          </a:p>
        </p:txBody>
      </p:sp>
      <p:sp>
        <p:nvSpPr>
          <p:cNvPr id="219" name="Google Shape;219;p20"/>
          <p:cNvSpPr/>
          <p:nvPr/>
        </p:nvSpPr>
        <p:spPr>
          <a:xfrm>
            <a:off x="299757" y="3803819"/>
            <a:ext cx="8557932" cy="285750"/>
          </a:xfrm>
          <a:custGeom>
            <a:rect b="b" l="l" r="r" t="t"/>
            <a:pathLst>
              <a:path extrusionOk="0" h="508000" w="15214102">
                <a:moveTo>
                  <a:pt x="0" y="0"/>
                </a:moveTo>
                <a:lnTo>
                  <a:pt x="15214102" y="0"/>
                </a:lnTo>
                <a:lnTo>
                  <a:pt x="15214102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220" name="Google Shape;220;p20"/>
          <p:cNvSpPr/>
          <p:nvPr/>
        </p:nvSpPr>
        <p:spPr>
          <a:xfrm>
            <a:off x="299757" y="3803819"/>
            <a:ext cx="28015" cy="285750"/>
          </a:xfrm>
          <a:custGeom>
            <a:rect b="b" l="l" r="r" t="t"/>
            <a:pathLst>
              <a:path extrusionOk="0" h="508000" w="49804">
                <a:moveTo>
                  <a:pt x="0" y="0"/>
                </a:moveTo>
                <a:lnTo>
                  <a:pt x="49804" y="0"/>
                </a:lnTo>
                <a:lnTo>
                  <a:pt x="49804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21" name="Google Shape;221;p20"/>
          <p:cNvSpPr/>
          <p:nvPr/>
        </p:nvSpPr>
        <p:spPr>
          <a:xfrm>
            <a:off x="428056" y="3860942"/>
            <a:ext cx="8486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 Violation Patterns (2024-2025):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Risk analysis failures (65%), Right of Access violations (20%), Insufficient safeguards (10%), Breach notification failures (5%)</a:t>
            </a:r>
            <a:endParaRPr b="0" i="0" sz="900" u="none" cap="none" strike="noStrike"/>
          </a:p>
        </p:txBody>
      </p:sp>
      <p:sp>
        <p:nvSpPr>
          <p:cNvPr id="222" name="Google Shape;222;p20"/>
          <p:cNvSpPr/>
          <p:nvPr/>
        </p:nvSpPr>
        <p:spPr>
          <a:xfrm>
            <a:off x="285750" y="4146605"/>
            <a:ext cx="8622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Source: HHS Office for Civil Rights, HIPAA Journal, 2024-2025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29" name="Google Shape;229;p21"/>
          <p:cNvSpPr/>
          <p:nvPr/>
        </p:nvSpPr>
        <p:spPr>
          <a:xfrm>
            <a:off x="457165" y="285750"/>
            <a:ext cx="59150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3.1</a:t>
            </a:r>
            <a:endParaRPr b="0" i="0" sz="900" u="none" cap="none" strike="noStrike"/>
          </a:p>
        </p:txBody>
      </p:sp>
      <p:sp>
        <p:nvSpPr>
          <p:cNvPr id="230" name="Google Shape;230;p21"/>
          <p:cNvSpPr/>
          <p:nvPr/>
        </p:nvSpPr>
        <p:spPr>
          <a:xfrm>
            <a:off x="457165" y="457165"/>
            <a:ext cx="59936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PCI-DSS Overview: Payment Card Industry Security</a:t>
            </a:r>
            <a:endParaRPr b="0" i="0" sz="900" u="none" cap="none" strike="noStrike"/>
          </a:p>
        </p:txBody>
      </p:sp>
      <p:sp>
        <p:nvSpPr>
          <p:cNvPr id="231" name="Google Shape;231;p21"/>
          <p:cNvSpPr/>
          <p:nvPr/>
        </p:nvSpPr>
        <p:spPr>
          <a:xfrm>
            <a:off x="299757" y="943207"/>
            <a:ext cx="28015" cy="842963"/>
          </a:xfrm>
          <a:custGeom>
            <a:rect b="b" l="l" r="r" t="t"/>
            <a:pathLst>
              <a:path extrusionOk="0" h="1498600" w="49804">
                <a:moveTo>
                  <a:pt x="0" y="0"/>
                </a:moveTo>
                <a:lnTo>
                  <a:pt x="49804" y="0"/>
                </a:lnTo>
                <a:lnTo>
                  <a:pt x="49804" y="1498600"/>
                </a:lnTo>
                <a:lnTo>
                  <a:pt x="0" y="1498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32" name="Google Shape;232;p21"/>
          <p:cNvSpPr/>
          <p:nvPr/>
        </p:nvSpPr>
        <p:spPr>
          <a:xfrm>
            <a:off x="478071" y="971747"/>
            <a:ext cx="171450" cy="171450"/>
          </a:xfrm>
          <a:custGeom>
            <a:rect b="b" l="l" r="r" t="t"/>
            <a:pathLst>
              <a:path extrusionOk="0" h="304800" w="304800">
                <a:moveTo>
                  <a:pt x="0" y="76200"/>
                </a:moveTo>
                <a:lnTo>
                  <a:pt x="0" y="95250"/>
                </a:lnTo>
                <a:lnTo>
                  <a:pt x="304800" y="95250"/>
                </a:ln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ubicBezTo>
                  <a:pt x="17085" y="38100"/>
                  <a:pt x="0" y="55185"/>
                  <a:pt x="0" y="76200"/>
                </a:cubicBezTo>
                <a:close/>
                <a:moveTo>
                  <a:pt x="0" y="123825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23825"/>
                </a:lnTo>
                <a:lnTo>
                  <a:pt x="0" y="123825"/>
                </a:lnTo>
                <a:close/>
                <a:moveTo>
                  <a:pt x="38100" y="214313"/>
                </a:moveTo>
                <a:cubicBezTo>
                  <a:pt x="38100" y="206395"/>
                  <a:pt x="44470" y="200025"/>
                  <a:pt x="52388" y="200025"/>
                </a:cubicBezTo>
                <a:lnTo>
                  <a:pt x="80962" y="200025"/>
                </a:lnTo>
                <a:cubicBezTo>
                  <a:pt x="88880" y="200025"/>
                  <a:pt x="95250" y="206395"/>
                  <a:pt x="95250" y="214313"/>
                </a:cubicBezTo>
                <a:cubicBezTo>
                  <a:pt x="95250" y="222230"/>
                  <a:pt x="88880" y="228600"/>
                  <a:pt x="80962" y="228600"/>
                </a:cubicBezTo>
                <a:lnTo>
                  <a:pt x="52388" y="228600"/>
                </a:lnTo>
                <a:cubicBezTo>
                  <a:pt x="44470" y="228600"/>
                  <a:pt x="38100" y="222230"/>
                  <a:pt x="38100" y="214313"/>
                </a:cubicBezTo>
                <a:close/>
                <a:moveTo>
                  <a:pt x="123825" y="214313"/>
                </a:moveTo>
                <a:cubicBezTo>
                  <a:pt x="123825" y="206395"/>
                  <a:pt x="130195" y="200025"/>
                  <a:pt x="138113" y="200025"/>
                </a:cubicBez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38113" y="228600"/>
                </a:lnTo>
                <a:cubicBezTo>
                  <a:pt x="130195" y="228600"/>
                  <a:pt x="123825" y="222230"/>
                  <a:pt x="123825" y="214313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690073" y="943207"/>
            <a:ext cx="46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What It Is</a:t>
            </a:r>
            <a:endParaRPr b="0" i="0" sz="900" u="none" cap="none" strike="noStrike"/>
          </a:p>
        </p:txBody>
      </p:sp>
      <p:sp>
        <p:nvSpPr>
          <p:cNvPr id="234" name="Google Shape;234;p21"/>
          <p:cNvSpPr/>
          <p:nvPr/>
        </p:nvSpPr>
        <p:spPr>
          <a:xfrm>
            <a:off x="456640" y="1228913"/>
            <a:ext cx="4857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Payment Card Industry Data Security Standard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is a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private-sector initiative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created by major credit card vendors (Visa, MasterCard, Discover, Amex) to self-regulate and reduce payment card fraud globally.</a:t>
            </a:r>
            <a:endParaRPr b="0" i="0" sz="900" u="none" cap="none" strike="noStrike"/>
          </a:p>
        </p:txBody>
      </p:sp>
      <p:sp>
        <p:nvSpPr>
          <p:cNvPr id="235" name="Google Shape;235;p21"/>
          <p:cNvSpPr/>
          <p:nvPr/>
        </p:nvSpPr>
        <p:spPr>
          <a:xfrm>
            <a:off x="299757" y="1919381"/>
            <a:ext cx="28015" cy="900113"/>
          </a:xfrm>
          <a:custGeom>
            <a:rect b="b" l="l" r="r" t="t"/>
            <a:pathLst>
              <a:path extrusionOk="0" h="1600200" w="49804">
                <a:moveTo>
                  <a:pt x="0" y="0"/>
                </a:moveTo>
                <a:lnTo>
                  <a:pt x="49804" y="0"/>
                </a:lnTo>
                <a:lnTo>
                  <a:pt x="49804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36" name="Google Shape;236;p21"/>
          <p:cNvSpPr/>
          <p:nvPr/>
        </p:nvSpPr>
        <p:spPr>
          <a:xfrm>
            <a:off x="467355" y="1947919"/>
            <a:ext cx="192881" cy="171450"/>
          </a:xfrm>
          <a:custGeom>
            <a:rect b="b" l="l" r="r" t="t"/>
            <a:pathLst>
              <a:path extrusionOk="0" h="304800" w="3429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690073" y="1919381"/>
            <a:ext cx="46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Scope</a:t>
            </a:r>
            <a:endParaRPr b="0" i="0" sz="900" u="none" cap="none" strike="noStrike"/>
          </a:p>
        </p:txBody>
      </p:sp>
      <p:sp>
        <p:nvSpPr>
          <p:cNvPr id="238" name="Google Shape;238;p21"/>
          <p:cNvSpPr/>
          <p:nvPr/>
        </p:nvSpPr>
        <p:spPr>
          <a:xfrm>
            <a:off x="456640" y="2205085"/>
            <a:ext cx="4857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Applies to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any entity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that processes, transmits, stores, or accepts credit card data, including:</a:t>
            </a:r>
            <a:endParaRPr b="0" i="0" sz="900" u="none" cap="none" strike="noStrike"/>
          </a:p>
        </p:txBody>
      </p:sp>
      <p:sp>
        <p:nvSpPr>
          <p:cNvPr id="239" name="Google Shape;239;p21"/>
          <p:cNvSpPr/>
          <p:nvPr/>
        </p:nvSpPr>
        <p:spPr>
          <a:xfrm>
            <a:off x="470927" y="2483569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638779" y="2447896"/>
            <a:ext cx="1043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Merchants (all sizes)</a:t>
            </a:r>
            <a:endParaRPr b="0" i="0" sz="900" u="none" cap="none" strike="noStrike"/>
          </a:p>
        </p:txBody>
      </p:sp>
      <p:sp>
        <p:nvSpPr>
          <p:cNvPr id="241" name="Google Shape;241;p21"/>
          <p:cNvSpPr/>
          <p:nvPr/>
        </p:nvSpPr>
        <p:spPr>
          <a:xfrm>
            <a:off x="2928648" y="2483569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3096501" y="2447896"/>
            <a:ext cx="102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Payment processors</a:t>
            </a:r>
            <a:endParaRPr b="0" i="0" sz="900" u="none" cap="none" strike="noStrike"/>
          </a:p>
        </p:txBody>
      </p:sp>
      <p:sp>
        <p:nvSpPr>
          <p:cNvPr id="243" name="Google Shape;243;p21"/>
          <p:cNvSpPr/>
          <p:nvPr/>
        </p:nvSpPr>
        <p:spPr>
          <a:xfrm>
            <a:off x="470927" y="2683524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638779" y="2647851"/>
            <a:ext cx="907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Service providers</a:t>
            </a:r>
            <a:endParaRPr b="0" i="0" sz="900" u="none" cap="none" strike="noStrike"/>
          </a:p>
        </p:txBody>
      </p:sp>
      <p:sp>
        <p:nvSpPr>
          <p:cNvPr id="245" name="Google Shape;245;p21"/>
          <p:cNvSpPr/>
          <p:nvPr/>
        </p:nvSpPr>
        <p:spPr>
          <a:xfrm>
            <a:off x="2928648" y="2683524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3096501" y="2647851"/>
            <a:ext cx="1100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Financial institutions</a:t>
            </a:r>
            <a:endParaRPr b="0" i="0" sz="900" u="none" cap="none" strike="noStrike"/>
          </a:p>
        </p:txBody>
      </p:sp>
      <p:sp>
        <p:nvSpPr>
          <p:cNvPr id="247" name="Google Shape;247;p21"/>
          <p:cNvSpPr/>
          <p:nvPr/>
        </p:nvSpPr>
        <p:spPr>
          <a:xfrm>
            <a:off x="299757" y="2933556"/>
            <a:ext cx="28015" cy="842963"/>
          </a:xfrm>
          <a:custGeom>
            <a:rect b="b" l="l" r="r" t="t"/>
            <a:pathLst>
              <a:path extrusionOk="0" h="1498600" w="49804">
                <a:moveTo>
                  <a:pt x="0" y="0"/>
                </a:moveTo>
                <a:lnTo>
                  <a:pt x="49804" y="0"/>
                </a:lnTo>
                <a:lnTo>
                  <a:pt x="49804" y="1498600"/>
                </a:lnTo>
                <a:lnTo>
                  <a:pt x="0" y="1498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48" name="Google Shape;248;p21"/>
          <p:cNvSpPr/>
          <p:nvPr/>
        </p:nvSpPr>
        <p:spPr>
          <a:xfrm>
            <a:off x="456640" y="2962096"/>
            <a:ext cx="214313" cy="171450"/>
          </a:xfrm>
          <a:custGeom>
            <a:rect b="b" l="l" r="r" t="t"/>
            <a:pathLst>
              <a:path extrusionOk="0" h="304800" w="3810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690073" y="2933556"/>
            <a:ext cx="46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Legal Status</a:t>
            </a:r>
            <a:endParaRPr b="0" i="0" sz="900" u="none" cap="none" strike="noStrike"/>
          </a:p>
        </p:txBody>
      </p:sp>
      <p:sp>
        <p:nvSpPr>
          <p:cNvPr id="250" name="Google Shape;250;p21"/>
          <p:cNvSpPr/>
          <p:nvPr/>
        </p:nvSpPr>
        <p:spPr>
          <a:xfrm>
            <a:off x="456640" y="3219261"/>
            <a:ext cx="4857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It is an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industry standard, not a federal law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—though some states (e.g.,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Minnesota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) have mandated it into law. Noncompliance can lead to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financial penalties, increased transaction fees, or revocation of merchant status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.</a:t>
            </a:r>
            <a:endParaRPr b="0" i="0" sz="900" u="none" cap="none" strike="noStrike"/>
          </a:p>
        </p:txBody>
      </p:sp>
      <p:sp>
        <p:nvSpPr>
          <p:cNvPr id="251" name="Google Shape;251;p21"/>
          <p:cNvSpPr/>
          <p:nvPr/>
        </p:nvSpPr>
        <p:spPr>
          <a:xfrm>
            <a:off x="5436254" y="950210"/>
            <a:ext cx="3414432" cy="2542895"/>
          </a:xfrm>
          <a:custGeom>
            <a:rect b="b" l="l" r="r" t="t"/>
            <a:pathLst>
              <a:path extrusionOk="0" h="4520702" w="6070102">
                <a:moveTo>
                  <a:pt x="0" y="0"/>
                </a:moveTo>
                <a:lnTo>
                  <a:pt x="6070102" y="0"/>
                </a:lnTo>
                <a:lnTo>
                  <a:pt x="6070102" y="4520702"/>
                </a:lnTo>
                <a:lnTo>
                  <a:pt x="0" y="452070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cap="flat" cmpd="sng" w="249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1"/>
          <p:cNvSpPr/>
          <p:nvPr/>
        </p:nvSpPr>
        <p:spPr>
          <a:xfrm>
            <a:off x="5521830" y="1071504"/>
            <a:ext cx="32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PCI-DSS Compliance Levels</a:t>
            </a:r>
            <a:endParaRPr b="0" i="0" sz="900" u="none" cap="none" strike="noStrike"/>
          </a:p>
        </p:txBody>
      </p:sp>
      <p:sp>
        <p:nvSpPr>
          <p:cNvPr id="253" name="Google Shape;253;p21"/>
          <p:cNvSpPr/>
          <p:nvPr/>
        </p:nvSpPr>
        <p:spPr>
          <a:xfrm>
            <a:off x="5557549" y="1817212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254" name="Google Shape;254;p21"/>
          <p:cNvSpPr/>
          <p:nvPr/>
        </p:nvSpPr>
        <p:spPr>
          <a:xfrm>
            <a:off x="5557549" y="1414335"/>
            <a:ext cx="3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Level 1</a:t>
            </a:r>
            <a:endParaRPr b="0" i="0" sz="1000" u="none" cap="none" strike="noStrike"/>
          </a:p>
        </p:txBody>
      </p:sp>
      <p:sp>
        <p:nvSpPr>
          <p:cNvPr id="255" name="Google Shape;255;p21"/>
          <p:cNvSpPr/>
          <p:nvPr/>
        </p:nvSpPr>
        <p:spPr>
          <a:xfrm>
            <a:off x="7769747" y="1428605"/>
            <a:ext cx="1007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&gt;6M transactions/year</a:t>
            </a:r>
            <a:endParaRPr b="0" i="0" sz="900" u="none" cap="none" strike="noStrike"/>
          </a:p>
        </p:txBody>
      </p:sp>
      <p:sp>
        <p:nvSpPr>
          <p:cNvPr id="256" name="Google Shape;256;p21"/>
          <p:cNvSpPr/>
          <p:nvPr/>
        </p:nvSpPr>
        <p:spPr>
          <a:xfrm>
            <a:off x="5557549" y="1614290"/>
            <a:ext cx="322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Annual on-site audit by QSA</a:t>
            </a:r>
            <a:endParaRPr b="0" i="0" sz="900" u="none" cap="none" strike="noStrike"/>
          </a:p>
        </p:txBody>
      </p:sp>
      <p:sp>
        <p:nvSpPr>
          <p:cNvPr id="257" name="Google Shape;257;p21"/>
          <p:cNvSpPr/>
          <p:nvPr/>
        </p:nvSpPr>
        <p:spPr>
          <a:xfrm>
            <a:off x="5557549" y="2337018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258" name="Google Shape;258;p21"/>
          <p:cNvSpPr/>
          <p:nvPr/>
        </p:nvSpPr>
        <p:spPr>
          <a:xfrm>
            <a:off x="5557549" y="1934139"/>
            <a:ext cx="40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Level 2</a:t>
            </a:r>
            <a:endParaRPr b="0" i="0" sz="1000" u="none" cap="none" strike="noStrike"/>
          </a:p>
        </p:txBody>
      </p:sp>
      <p:sp>
        <p:nvSpPr>
          <p:cNvPr id="259" name="Google Shape;259;p21"/>
          <p:cNvSpPr/>
          <p:nvPr/>
        </p:nvSpPr>
        <p:spPr>
          <a:xfrm>
            <a:off x="7646570" y="1948409"/>
            <a:ext cx="113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1M–6M transactions/year</a:t>
            </a:r>
            <a:endParaRPr b="0" i="0" sz="900" u="none" cap="none" strike="noStrike"/>
          </a:p>
        </p:txBody>
      </p:sp>
      <p:sp>
        <p:nvSpPr>
          <p:cNvPr id="260" name="Google Shape;260;p21"/>
          <p:cNvSpPr/>
          <p:nvPr/>
        </p:nvSpPr>
        <p:spPr>
          <a:xfrm>
            <a:off x="5557549" y="2134096"/>
            <a:ext cx="322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Annual self-assessment + scan</a:t>
            </a:r>
            <a:endParaRPr b="0" i="0" sz="900" u="none" cap="none" strike="noStrike"/>
          </a:p>
        </p:txBody>
      </p:sp>
      <p:sp>
        <p:nvSpPr>
          <p:cNvPr id="261" name="Google Shape;261;p21"/>
          <p:cNvSpPr/>
          <p:nvPr/>
        </p:nvSpPr>
        <p:spPr>
          <a:xfrm>
            <a:off x="5557549" y="2856821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262" name="Google Shape;262;p21"/>
          <p:cNvSpPr/>
          <p:nvPr/>
        </p:nvSpPr>
        <p:spPr>
          <a:xfrm>
            <a:off x="5557549" y="2453942"/>
            <a:ext cx="39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Level 3</a:t>
            </a:r>
            <a:endParaRPr b="0" i="0" sz="1000" u="none" cap="none" strike="noStrike"/>
          </a:p>
        </p:txBody>
      </p:sp>
      <p:sp>
        <p:nvSpPr>
          <p:cNvPr id="263" name="Google Shape;263;p21"/>
          <p:cNvSpPr/>
          <p:nvPr/>
        </p:nvSpPr>
        <p:spPr>
          <a:xfrm>
            <a:off x="7617461" y="2468212"/>
            <a:ext cx="1164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20K–1M e-commerce/year</a:t>
            </a:r>
            <a:endParaRPr b="0" i="0" sz="900" u="none" cap="none" strike="noStrike"/>
          </a:p>
        </p:txBody>
      </p:sp>
      <p:sp>
        <p:nvSpPr>
          <p:cNvPr id="264" name="Google Shape;264;p21"/>
          <p:cNvSpPr/>
          <p:nvPr/>
        </p:nvSpPr>
        <p:spPr>
          <a:xfrm>
            <a:off x="5557549" y="2653897"/>
            <a:ext cx="322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Annual self-assessment + scan</a:t>
            </a:r>
            <a:endParaRPr b="0" i="0" sz="900" u="none" cap="none" strike="noStrike"/>
          </a:p>
        </p:txBody>
      </p:sp>
      <p:sp>
        <p:nvSpPr>
          <p:cNvPr id="265" name="Google Shape;265;p21"/>
          <p:cNvSpPr/>
          <p:nvPr/>
        </p:nvSpPr>
        <p:spPr>
          <a:xfrm>
            <a:off x="5557549" y="2973748"/>
            <a:ext cx="407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Level 4</a:t>
            </a:r>
            <a:endParaRPr b="0" i="0" sz="1000" u="none" cap="none" strike="noStrike"/>
          </a:p>
        </p:txBody>
      </p:sp>
      <p:sp>
        <p:nvSpPr>
          <p:cNvPr id="266" name="Google Shape;266;p21"/>
          <p:cNvSpPr/>
          <p:nvPr/>
        </p:nvSpPr>
        <p:spPr>
          <a:xfrm>
            <a:off x="7740638" y="2988018"/>
            <a:ext cx="103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&lt;20K e-commerce/year</a:t>
            </a:r>
            <a:endParaRPr b="0" i="0" sz="900" u="none" cap="none" strike="noStrike"/>
          </a:p>
        </p:txBody>
      </p:sp>
      <p:sp>
        <p:nvSpPr>
          <p:cNvPr id="267" name="Google Shape;267;p21"/>
          <p:cNvSpPr/>
          <p:nvPr/>
        </p:nvSpPr>
        <p:spPr>
          <a:xfrm>
            <a:off x="5557549" y="3173703"/>
            <a:ext cx="322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Annual self-assessment questionnaire</a:t>
            </a:r>
            <a:endParaRPr b="0" i="0" sz="900" u="none" cap="none" strike="noStrike"/>
          </a:p>
        </p:txBody>
      </p:sp>
      <p:sp>
        <p:nvSpPr>
          <p:cNvPr id="268" name="Google Shape;268;p21"/>
          <p:cNvSpPr/>
          <p:nvPr/>
        </p:nvSpPr>
        <p:spPr>
          <a:xfrm>
            <a:off x="293032" y="3909705"/>
            <a:ext cx="8557932" cy="457200"/>
          </a:xfrm>
          <a:custGeom>
            <a:rect b="b" l="l" r="r" t="t"/>
            <a:pathLst>
              <a:path extrusionOk="0" h="812800" w="15214102">
                <a:moveTo>
                  <a:pt x="0" y="0"/>
                </a:moveTo>
                <a:lnTo>
                  <a:pt x="15214102" y="0"/>
                </a:lnTo>
                <a:lnTo>
                  <a:pt x="15214102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269" name="Google Shape;269;p21"/>
          <p:cNvSpPr/>
          <p:nvPr/>
        </p:nvSpPr>
        <p:spPr>
          <a:xfrm>
            <a:off x="309462" y="3890443"/>
            <a:ext cx="28015" cy="457200"/>
          </a:xfrm>
          <a:custGeom>
            <a:rect b="b" l="l" r="r" t="t"/>
            <a:pathLst>
              <a:path extrusionOk="0" h="812800" w="49804">
                <a:moveTo>
                  <a:pt x="0" y="0"/>
                </a:moveTo>
                <a:lnTo>
                  <a:pt x="49804" y="0"/>
                </a:lnTo>
                <a:lnTo>
                  <a:pt x="49804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70" name="Google Shape;270;p21"/>
          <p:cNvSpPr/>
          <p:nvPr/>
        </p:nvSpPr>
        <p:spPr>
          <a:xfrm>
            <a:off x="437760" y="3947565"/>
            <a:ext cx="84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Non-Compliance Consequences: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Monthly fines: $5,000–$100,000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| Increased transaction fees |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Forensic investigation costs: $50,000–$500,000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| Brand damage &amp; customer loss | Potential termination of card processing privileges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77" name="Google Shape;277;p22"/>
          <p:cNvSpPr/>
          <p:nvPr/>
        </p:nvSpPr>
        <p:spPr>
          <a:xfrm>
            <a:off x="457165" y="285750"/>
            <a:ext cx="64079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3.2</a:t>
            </a:r>
            <a:endParaRPr b="0" i="0" sz="900" u="none" cap="none" strike="noStrike"/>
          </a:p>
        </p:txBody>
      </p:sp>
      <p:sp>
        <p:nvSpPr>
          <p:cNvPr id="278" name="Google Shape;278;p22"/>
          <p:cNvSpPr/>
          <p:nvPr/>
        </p:nvSpPr>
        <p:spPr>
          <a:xfrm>
            <a:off x="457165" y="457165"/>
            <a:ext cx="6486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PCI-DSS Core Categories: 12 Requirements in 6 Domains</a:t>
            </a:r>
            <a:endParaRPr b="0" i="0" sz="900" u="none" cap="none" strike="noStrike"/>
          </a:p>
        </p:txBody>
      </p:sp>
      <p:sp>
        <p:nvSpPr>
          <p:cNvPr id="279" name="Google Shape;279;p22"/>
          <p:cNvSpPr/>
          <p:nvPr/>
        </p:nvSpPr>
        <p:spPr>
          <a:xfrm>
            <a:off x="285750" y="918972"/>
            <a:ext cx="2778919" cy="28015"/>
          </a:xfrm>
          <a:custGeom>
            <a:rect b="b" l="l" r="r" t="t"/>
            <a:pathLst>
              <a:path extrusionOk="0" h="49804" w="4940300">
                <a:moveTo>
                  <a:pt x="0" y="0"/>
                </a:moveTo>
                <a:lnTo>
                  <a:pt x="4940300" y="0"/>
                </a:lnTo>
                <a:lnTo>
                  <a:pt x="49403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80" name="Google Shape;280;p22"/>
          <p:cNvSpPr/>
          <p:nvPr/>
        </p:nvSpPr>
        <p:spPr>
          <a:xfrm>
            <a:off x="285750" y="1018686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81" name="Google Shape;281;p22"/>
          <p:cNvSpPr/>
          <p:nvPr/>
        </p:nvSpPr>
        <p:spPr>
          <a:xfrm>
            <a:off x="253603" y="1018686"/>
            <a:ext cx="35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b="0" i="0" sz="900" u="none" cap="none" strike="noStrike"/>
          </a:p>
        </p:txBody>
      </p:sp>
      <p:sp>
        <p:nvSpPr>
          <p:cNvPr id="282" name="Google Shape;282;p22"/>
          <p:cNvSpPr/>
          <p:nvPr/>
        </p:nvSpPr>
        <p:spPr>
          <a:xfrm>
            <a:off x="657208" y="1061541"/>
            <a:ext cx="1285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Build Secure Network</a:t>
            </a:r>
            <a:endParaRPr b="0" i="0" sz="900" u="none" cap="none" strike="noStrike"/>
          </a:p>
        </p:txBody>
      </p:sp>
      <p:sp>
        <p:nvSpPr>
          <p:cNvPr id="283" name="Google Shape;283;p22"/>
          <p:cNvSpPr/>
          <p:nvPr/>
        </p:nvSpPr>
        <p:spPr>
          <a:xfrm>
            <a:off x="285750" y="1361561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1: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Install firewalls</a:t>
            </a:r>
            <a:endParaRPr b="0" i="0" sz="900" u="none" cap="none" strike="noStrike"/>
          </a:p>
        </p:txBody>
      </p:sp>
      <p:sp>
        <p:nvSpPr>
          <p:cNvPr id="284" name="Google Shape;284;p22"/>
          <p:cNvSpPr/>
          <p:nvPr/>
        </p:nvSpPr>
        <p:spPr>
          <a:xfrm>
            <a:off x="285750" y="1561517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2: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No vendor defaults</a:t>
            </a:r>
            <a:endParaRPr b="0" i="0" sz="900" u="none" cap="none" strike="noStrike"/>
          </a:p>
        </p:txBody>
      </p:sp>
      <p:sp>
        <p:nvSpPr>
          <p:cNvPr id="285" name="Google Shape;285;p22"/>
          <p:cNvSpPr/>
          <p:nvPr/>
        </p:nvSpPr>
        <p:spPr>
          <a:xfrm>
            <a:off x="3181332" y="918972"/>
            <a:ext cx="2778919" cy="28015"/>
          </a:xfrm>
          <a:custGeom>
            <a:rect b="b" l="l" r="r" t="t"/>
            <a:pathLst>
              <a:path extrusionOk="0" h="49804" w="4940300">
                <a:moveTo>
                  <a:pt x="0" y="0"/>
                </a:moveTo>
                <a:lnTo>
                  <a:pt x="4940300" y="0"/>
                </a:lnTo>
                <a:lnTo>
                  <a:pt x="49403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86" name="Google Shape;286;p22"/>
          <p:cNvSpPr/>
          <p:nvPr/>
        </p:nvSpPr>
        <p:spPr>
          <a:xfrm>
            <a:off x="3181332" y="1018686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87" name="Google Shape;287;p22"/>
          <p:cNvSpPr/>
          <p:nvPr/>
        </p:nvSpPr>
        <p:spPr>
          <a:xfrm>
            <a:off x="3149185" y="1018686"/>
            <a:ext cx="35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b="0" i="0" sz="900" u="none" cap="none" strike="noStrike"/>
          </a:p>
        </p:txBody>
      </p:sp>
      <p:sp>
        <p:nvSpPr>
          <p:cNvPr id="288" name="Google Shape;288;p22"/>
          <p:cNvSpPr/>
          <p:nvPr/>
        </p:nvSpPr>
        <p:spPr>
          <a:xfrm>
            <a:off x="3552790" y="1061541"/>
            <a:ext cx="14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Protect Cardholder Data</a:t>
            </a:r>
            <a:endParaRPr b="0" i="0" sz="900" u="none" cap="none" strike="noStrike"/>
          </a:p>
        </p:txBody>
      </p:sp>
      <p:sp>
        <p:nvSpPr>
          <p:cNvPr id="289" name="Google Shape;289;p22"/>
          <p:cNvSpPr/>
          <p:nvPr/>
        </p:nvSpPr>
        <p:spPr>
          <a:xfrm>
            <a:off x="3181332" y="1361561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3: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Protect stored data</a:t>
            </a:r>
            <a:endParaRPr b="0" i="0" sz="900" u="none" cap="none" strike="noStrike"/>
          </a:p>
        </p:txBody>
      </p:sp>
      <p:sp>
        <p:nvSpPr>
          <p:cNvPr id="290" name="Google Shape;290;p22"/>
          <p:cNvSpPr/>
          <p:nvPr/>
        </p:nvSpPr>
        <p:spPr>
          <a:xfrm>
            <a:off x="3181332" y="1561517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4: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Encrypt transmission</a:t>
            </a:r>
            <a:endParaRPr b="0" i="0" sz="900" u="none" cap="none" strike="noStrike"/>
          </a:p>
        </p:txBody>
      </p:sp>
      <p:sp>
        <p:nvSpPr>
          <p:cNvPr id="291" name="Google Shape;291;p22"/>
          <p:cNvSpPr/>
          <p:nvPr/>
        </p:nvSpPr>
        <p:spPr>
          <a:xfrm>
            <a:off x="6076915" y="918972"/>
            <a:ext cx="2778919" cy="28015"/>
          </a:xfrm>
          <a:custGeom>
            <a:rect b="b" l="l" r="r" t="t"/>
            <a:pathLst>
              <a:path extrusionOk="0" h="49804" w="4940300">
                <a:moveTo>
                  <a:pt x="0" y="0"/>
                </a:moveTo>
                <a:lnTo>
                  <a:pt x="4940300" y="0"/>
                </a:lnTo>
                <a:lnTo>
                  <a:pt x="49403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92" name="Google Shape;292;p22"/>
          <p:cNvSpPr/>
          <p:nvPr/>
        </p:nvSpPr>
        <p:spPr>
          <a:xfrm>
            <a:off x="6076915" y="1018686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93" name="Google Shape;293;p22"/>
          <p:cNvSpPr/>
          <p:nvPr/>
        </p:nvSpPr>
        <p:spPr>
          <a:xfrm>
            <a:off x="6044768" y="1018686"/>
            <a:ext cx="35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b="0" i="0" sz="900" u="none" cap="none" strike="noStrike"/>
          </a:p>
        </p:txBody>
      </p:sp>
      <p:sp>
        <p:nvSpPr>
          <p:cNvPr id="294" name="Google Shape;294;p22"/>
          <p:cNvSpPr/>
          <p:nvPr/>
        </p:nvSpPr>
        <p:spPr>
          <a:xfrm>
            <a:off x="6448372" y="1061541"/>
            <a:ext cx="1557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Vulnerability Management</a:t>
            </a:r>
            <a:endParaRPr b="0" i="0" sz="900" u="none" cap="none" strike="noStrike"/>
          </a:p>
        </p:txBody>
      </p:sp>
      <p:sp>
        <p:nvSpPr>
          <p:cNvPr id="295" name="Google Shape;295;p22"/>
          <p:cNvSpPr/>
          <p:nvPr/>
        </p:nvSpPr>
        <p:spPr>
          <a:xfrm>
            <a:off x="6076915" y="1361561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5: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Anti-virus software</a:t>
            </a:r>
            <a:endParaRPr b="0" i="0" sz="900" u="none" cap="none" strike="noStrike"/>
          </a:p>
        </p:txBody>
      </p:sp>
      <p:sp>
        <p:nvSpPr>
          <p:cNvPr id="296" name="Google Shape;296;p22"/>
          <p:cNvSpPr/>
          <p:nvPr/>
        </p:nvSpPr>
        <p:spPr>
          <a:xfrm>
            <a:off x="6076915" y="1561517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6: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Secure systems</a:t>
            </a:r>
            <a:endParaRPr b="0" i="0" sz="900" u="none" cap="none" strike="noStrike"/>
          </a:p>
        </p:txBody>
      </p:sp>
      <p:sp>
        <p:nvSpPr>
          <p:cNvPr id="297" name="Google Shape;297;p22"/>
          <p:cNvSpPr/>
          <p:nvPr/>
        </p:nvSpPr>
        <p:spPr>
          <a:xfrm>
            <a:off x="285750" y="1861228"/>
            <a:ext cx="2778919" cy="28015"/>
          </a:xfrm>
          <a:custGeom>
            <a:rect b="b" l="l" r="r" t="t"/>
            <a:pathLst>
              <a:path extrusionOk="0" h="49804" w="4940300">
                <a:moveTo>
                  <a:pt x="0" y="0"/>
                </a:moveTo>
                <a:lnTo>
                  <a:pt x="4940300" y="0"/>
                </a:lnTo>
                <a:lnTo>
                  <a:pt x="49403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98" name="Google Shape;298;p22"/>
          <p:cNvSpPr/>
          <p:nvPr/>
        </p:nvSpPr>
        <p:spPr>
          <a:xfrm>
            <a:off x="285750" y="1960946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299" name="Google Shape;299;p22"/>
          <p:cNvSpPr/>
          <p:nvPr/>
        </p:nvSpPr>
        <p:spPr>
          <a:xfrm>
            <a:off x="253603" y="1960946"/>
            <a:ext cx="35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</a:t>
            </a:r>
            <a:endParaRPr b="0" i="0" sz="900" u="none" cap="none" strike="noStrike"/>
          </a:p>
        </p:txBody>
      </p:sp>
      <p:sp>
        <p:nvSpPr>
          <p:cNvPr id="300" name="Google Shape;300;p22"/>
          <p:cNvSpPr/>
          <p:nvPr/>
        </p:nvSpPr>
        <p:spPr>
          <a:xfrm>
            <a:off x="657208" y="2003798"/>
            <a:ext cx="132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Strong Access Control</a:t>
            </a:r>
            <a:endParaRPr b="0" i="0" sz="900" u="none" cap="none" strike="noStrike"/>
          </a:p>
        </p:txBody>
      </p:sp>
      <p:sp>
        <p:nvSpPr>
          <p:cNvPr id="301" name="Google Shape;301;p22"/>
          <p:cNvSpPr/>
          <p:nvPr/>
        </p:nvSpPr>
        <p:spPr>
          <a:xfrm>
            <a:off x="285750" y="2303818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7: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Restrict access</a:t>
            </a:r>
            <a:endParaRPr b="0" i="0" sz="900" u="none" cap="none" strike="noStrike"/>
          </a:p>
        </p:txBody>
      </p:sp>
      <p:sp>
        <p:nvSpPr>
          <p:cNvPr id="302" name="Google Shape;302;p22"/>
          <p:cNvSpPr/>
          <p:nvPr/>
        </p:nvSpPr>
        <p:spPr>
          <a:xfrm>
            <a:off x="285750" y="2503773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8: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Unique user IDs</a:t>
            </a:r>
            <a:endParaRPr b="0" i="0" sz="900" u="none" cap="none" strike="noStrike"/>
          </a:p>
        </p:txBody>
      </p:sp>
      <p:sp>
        <p:nvSpPr>
          <p:cNvPr id="303" name="Google Shape;303;p22"/>
          <p:cNvSpPr/>
          <p:nvPr/>
        </p:nvSpPr>
        <p:spPr>
          <a:xfrm>
            <a:off x="285750" y="2703728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9: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Physical restrictions</a:t>
            </a:r>
            <a:endParaRPr b="0" i="0" sz="900" u="none" cap="none" strike="noStrike"/>
          </a:p>
        </p:txBody>
      </p:sp>
      <p:sp>
        <p:nvSpPr>
          <p:cNvPr id="304" name="Google Shape;304;p22"/>
          <p:cNvSpPr/>
          <p:nvPr/>
        </p:nvSpPr>
        <p:spPr>
          <a:xfrm>
            <a:off x="3181332" y="1861228"/>
            <a:ext cx="2778919" cy="28015"/>
          </a:xfrm>
          <a:custGeom>
            <a:rect b="b" l="l" r="r" t="t"/>
            <a:pathLst>
              <a:path extrusionOk="0" h="49804" w="4940300">
                <a:moveTo>
                  <a:pt x="0" y="0"/>
                </a:moveTo>
                <a:lnTo>
                  <a:pt x="4940300" y="0"/>
                </a:lnTo>
                <a:lnTo>
                  <a:pt x="49403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05" name="Google Shape;305;p22"/>
          <p:cNvSpPr/>
          <p:nvPr/>
        </p:nvSpPr>
        <p:spPr>
          <a:xfrm>
            <a:off x="3181332" y="1960946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06" name="Google Shape;306;p22"/>
          <p:cNvSpPr/>
          <p:nvPr/>
        </p:nvSpPr>
        <p:spPr>
          <a:xfrm>
            <a:off x="3149185" y="1960946"/>
            <a:ext cx="35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5</a:t>
            </a:r>
            <a:endParaRPr b="0" i="0" sz="900" u="none" cap="none" strike="noStrike"/>
          </a:p>
        </p:txBody>
      </p:sp>
      <p:sp>
        <p:nvSpPr>
          <p:cNvPr id="307" name="Google Shape;307;p22"/>
          <p:cNvSpPr/>
          <p:nvPr/>
        </p:nvSpPr>
        <p:spPr>
          <a:xfrm>
            <a:off x="3552790" y="2003798"/>
            <a:ext cx="152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Monitor &amp; Test Networks</a:t>
            </a:r>
            <a:endParaRPr b="0" i="0" sz="900" u="none" cap="none" strike="noStrike"/>
          </a:p>
        </p:txBody>
      </p:sp>
      <p:sp>
        <p:nvSpPr>
          <p:cNvPr id="308" name="Google Shape;308;p22"/>
          <p:cNvSpPr/>
          <p:nvPr/>
        </p:nvSpPr>
        <p:spPr>
          <a:xfrm>
            <a:off x="3181332" y="2303818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10: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Track access</a:t>
            </a:r>
            <a:endParaRPr b="0" i="0" sz="900" u="none" cap="none" strike="noStrike"/>
          </a:p>
        </p:txBody>
      </p:sp>
      <p:sp>
        <p:nvSpPr>
          <p:cNvPr id="309" name="Google Shape;309;p22"/>
          <p:cNvSpPr/>
          <p:nvPr/>
        </p:nvSpPr>
        <p:spPr>
          <a:xfrm>
            <a:off x="3181332" y="2503773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11: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Regular testing</a:t>
            </a:r>
            <a:endParaRPr b="0" i="0" sz="900" u="none" cap="none" strike="noStrike"/>
          </a:p>
        </p:txBody>
      </p:sp>
      <p:sp>
        <p:nvSpPr>
          <p:cNvPr id="310" name="Google Shape;310;p22"/>
          <p:cNvSpPr/>
          <p:nvPr/>
        </p:nvSpPr>
        <p:spPr>
          <a:xfrm>
            <a:off x="6076915" y="1861228"/>
            <a:ext cx="2778919" cy="28015"/>
          </a:xfrm>
          <a:custGeom>
            <a:rect b="b" l="l" r="r" t="t"/>
            <a:pathLst>
              <a:path extrusionOk="0" h="49804" w="4940300">
                <a:moveTo>
                  <a:pt x="0" y="0"/>
                </a:moveTo>
                <a:lnTo>
                  <a:pt x="4940300" y="0"/>
                </a:lnTo>
                <a:lnTo>
                  <a:pt x="49403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11" name="Google Shape;311;p22"/>
          <p:cNvSpPr/>
          <p:nvPr/>
        </p:nvSpPr>
        <p:spPr>
          <a:xfrm>
            <a:off x="6076915" y="1960946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12" name="Google Shape;312;p22"/>
          <p:cNvSpPr/>
          <p:nvPr/>
        </p:nvSpPr>
        <p:spPr>
          <a:xfrm>
            <a:off x="6044768" y="1960946"/>
            <a:ext cx="35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6</a:t>
            </a:r>
            <a:endParaRPr b="0" i="0" sz="900" u="none" cap="none" strike="noStrike"/>
          </a:p>
        </p:txBody>
      </p:sp>
      <p:sp>
        <p:nvSpPr>
          <p:cNvPr id="313" name="Google Shape;313;p22"/>
          <p:cNvSpPr/>
          <p:nvPr/>
        </p:nvSpPr>
        <p:spPr>
          <a:xfrm>
            <a:off x="6448372" y="2003798"/>
            <a:ext cx="159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Information Security Policy</a:t>
            </a:r>
            <a:endParaRPr b="0" i="0" sz="900" u="none" cap="none" strike="noStrike"/>
          </a:p>
        </p:txBody>
      </p:sp>
      <p:sp>
        <p:nvSpPr>
          <p:cNvPr id="314" name="Google Shape;314;p22"/>
          <p:cNvSpPr/>
          <p:nvPr/>
        </p:nvSpPr>
        <p:spPr>
          <a:xfrm>
            <a:off x="6076915" y="2303818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Req 12: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Security policy</a:t>
            </a:r>
            <a:endParaRPr b="0" i="0" sz="900" u="none" cap="none" strike="noStrike"/>
          </a:p>
        </p:txBody>
      </p:sp>
      <p:sp>
        <p:nvSpPr>
          <p:cNvPr id="315" name="Google Shape;315;p22"/>
          <p:cNvSpPr/>
          <p:nvPr/>
        </p:nvSpPr>
        <p:spPr>
          <a:xfrm>
            <a:off x="6076915" y="2503773"/>
            <a:ext cx="283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For all personnel</a:t>
            </a:r>
            <a:endParaRPr b="0" i="0" sz="900" u="none" cap="none" strike="noStrike"/>
          </a:p>
        </p:txBody>
      </p:sp>
      <p:sp>
        <p:nvSpPr>
          <p:cNvPr id="316" name="Google Shape;316;p22"/>
          <p:cNvSpPr/>
          <p:nvPr/>
        </p:nvSpPr>
        <p:spPr>
          <a:xfrm>
            <a:off x="292754" y="2996437"/>
            <a:ext cx="8557932" cy="1299882"/>
          </a:xfrm>
          <a:custGeom>
            <a:rect b="b" l="l" r="r" t="t"/>
            <a:pathLst>
              <a:path extrusionOk="0" h="2310902" w="15214102">
                <a:moveTo>
                  <a:pt x="0" y="0"/>
                </a:moveTo>
                <a:lnTo>
                  <a:pt x="15214102" y="0"/>
                </a:lnTo>
                <a:lnTo>
                  <a:pt x="15214102" y="2310902"/>
                </a:lnTo>
                <a:lnTo>
                  <a:pt x="0" y="23109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249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2"/>
          <p:cNvSpPr/>
          <p:nvPr/>
        </p:nvSpPr>
        <p:spPr>
          <a:xfrm>
            <a:off x="378330" y="3117735"/>
            <a:ext cx="8386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PCI-DSS Compliance Process Flow</a:t>
            </a:r>
            <a:endParaRPr b="0" i="0" sz="900" u="none" cap="none" strike="noStrike"/>
          </a:p>
        </p:txBody>
      </p:sp>
      <p:sp>
        <p:nvSpPr>
          <p:cNvPr id="318" name="Google Shape;318;p22"/>
          <p:cNvSpPr/>
          <p:nvPr/>
        </p:nvSpPr>
        <p:spPr>
          <a:xfrm>
            <a:off x="1173116" y="3403439"/>
            <a:ext cx="400050" cy="400050"/>
          </a:xfrm>
          <a:custGeom>
            <a:rect b="b" l="l" r="r" t="t"/>
            <a:pathLst>
              <a:path extrusionOk="0" h="711200" w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19" name="Google Shape;319;p22"/>
          <p:cNvSpPr/>
          <p:nvPr/>
        </p:nvSpPr>
        <p:spPr>
          <a:xfrm>
            <a:off x="1137397" y="3403439"/>
            <a:ext cx="4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b="0" i="0" sz="900" u="none" cap="none" strike="noStrike"/>
          </a:p>
        </p:txBody>
      </p:sp>
      <p:sp>
        <p:nvSpPr>
          <p:cNvPr id="320" name="Google Shape;320;p22"/>
          <p:cNvSpPr/>
          <p:nvPr/>
        </p:nvSpPr>
        <p:spPr>
          <a:xfrm>
            <a:off x="385473" y="3860604"/>
            <a:ext cx="1978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Assess</a:t>
            </a:r>
            <a:endParaRPr b="0" i="0" sz="900" u="none" cap="none" strike="noStrike"/>
          </a:p>
        </p:txBody>
      </p:sp>
      <p:sp>
        <p:nvSpPr>
          <p:cNvPr id="321" name="Google Shape;321;p22"/>
          <p:cNvSpPr/>
          <p:nvPr/>
        </p:nvSpPr>
        <p:spPr>
          <a:xfrm>
            <a:off x="389045" y="4032019"/>
            <a:ext cx="197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Identify vulnerabilities</a:t>
            </a:r>
            <a:endParaRPr b="0" i="0" sz="900" u="none" cap="none" strike="noStrike"/>
          </a:p>
        </p:txBody>
      </p:sp>
      <p:sp>
        <p:nvSpPr>
          <p:cNvPr id="322" name="Google Shape;322;p22"/>
          <p:cNvSpPr/>
          <p:nvPr/>
        </p:nvSpPr>
        <p:spPr>
          <a:xfrm>
            <a:off x="2353699" y="3703414"/>
            <a:ext cx="171450" cy="171450"/>
          </a:xfrm>
          <a:custGeom>
            <a:rect b="b" l="l" r="r" t="t"/>
            <a:pathLst>
              <a:path extrusionOk="0" h="304800" w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"/>
          <p:cNvSpPr/>
          <p:nvPr/>
        </p:nvSpPr>
        <p:spPr>
          <a:xfrm>
            <a:off x="3305692" y="3403439"/>
            <a:ext cx="400050" cy="400050"/>
          </a:xfrm>
          <a:custGeom>
            <a:rect b="b" l="l" r="r" t="t"/>
            <a:pathLst>
              <a:path extrusionOk="0" h="711200" w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24" name="Google Shape;324;p22"/>
          <p:cNvSpPr/>
          <p:nvPr/>
        </p:nvSpPr>
        <p:spPr>
          <a:xfrm>
            <a:off x="3269973" y="3403439"/>
            <a:ext cx="4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b="0" i="0" sz="900" u="none" cap="none" strike="noStrike"/>
          </a:p>
        </p:txBody>
      </p:sp>
      <p:sp>
        <p:nvSpPr>
          <p:cNvPr id="325" name="Google Shape;325;p22"/>
          <p:cNvSpPr/>
          <p:nvPr/>
        </p:nvSpPr>
        <p:spPr>
          <a:xfrm>
            <a:off x="2518005" y="3860604"/>
            <a:ext cx="1978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Remediate</a:t>
            </a:r>
            <a:endParaRPr b="0" i="0" sz="900" u="none" cap="none" strike="noStrike"/>
          </a:p>
        </p:txBody>
      </p:sp>
      <p:sp>
        <p:nvSpPr>
          <p:cNvPr id="326" name="Google Shape;326;p22"/>
          <p:cNvSpPr/>
          <p:nvPr/>
        </p:nvSpPr>
        <p:spPr>
          <a:xfrm>
            <a:off x="2521577" y="4032019"/>
            <a:ext cx="197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Fix vulnerabilities</a:t>
            </a:r>
            <a:endParaRPr b="0" i="0" sz="900" u="none" cap="none" strike="noStrike"/>
          </a:p>
        </p:txBody>
      </p:sp>
      <p:sp>
        <p:nvSpPr>
          <p:cNvPr id="327" name="Google Shape;327;p22"/>
          <p:cNvSpPr/>
          <p:nvPr/>
        </p:nvSpPr>
        <p:spPr>
          <a:xfrm>
            <a:off x="4486275" y="3703414"/>
            <a:ext cx="171450" cy="171450"/>
          </a:xfrm>
          <a:custGeom>
            <a:rect b="b" l="l" r="r" t="t"/>
            <a:pathLst>
              <a:path extrusionOk="0" h="304800" w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5438224" y="3403439"/>
            <a:ext cx="400050" cy="400050"/>
          </a:xfrm>
          <a:custGeom>
            <a:rect b="b" l="l" r="r" t="t"/>
            <a:pathLst>
              <a:path extrusionOk="0" h="711200" w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29" name="Google Shape;329;p22"/>
          <p:cNvSpPr/>
          <p:nvPr/>
        </p:nvSpPr>
        <p:spPr>
          <a:xfrm>
            <a:off x="5402505" y="3403439"/>
            <a:ext cx="4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b="0" i="0" sz="900" u="none" cap="none" strike="noStrike"/>
          </a:p>
        </p:txBody>
      </p:sp>
      <p:sp>
        <p:nvSpPr>
          <p:cNvPr id="330" name="Google Shape;330;p22"/>
          <p:cNvSpPr/>
          <p:nvPr/>
        </p:nvSpPr>
        <p:spPr>
          <a:xfrm>
            <a:off x="4650581" y="3860604"/>
            <a:ext cx="1978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Report</a:t>
            </a:r>
            <a:endParaRPr b="0" i="0" sz="900" u="none" cap="none" strike="noStrike"/>
          </a:p>
        </p:txBody>
      </p:sp>
      <p:sp>
        <p:nvSpPr>
          <p:cNvPr id="331" name="Google Shape;331;p22"/>
          <p:cNvSpPr/>
          <p:nvPr/>
        </p:nvSpPr>
        <p:spPr>
          <a:xfrm>
            <a:off x="4654153" y="4032019"/>
            <a:ext cx="197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Submit compliance docs</a:t>
            </a:r>
            <a:endParaRPr b="0" i="0" sz="900" u="none" cap="none" strike="noStrike"/>
          </a:p>
        </p:txBody>
      </p:sp>
      <p:sp>
        <p:nvSpPr>
          <p:cNvPr id="332" name="Google Shape;332;p22"/>
          <p:cNvSpPr/>
          <p:nvPr/>
        </p:nvSpPr>
        <p:spPr>
          <a:xfrm>
            <a:off x="6618807" y="3703414"/>
            <a:ext cx="171450" cy="171450"/>
          </a:xfrm>
          <a:custGeom>
            <a:rect b="b" l="l" r="r" t="t"/>
            <a:pathLst>
              <a:path extrusionOk="0" h="304800" w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7570799" y="3403439"/>
            <a:ext cx="400050" cy="400050"/>
          </a:xfrm>
          <a:custGeom>
            <a:rect b="b" l="l" r="r" t="t"/>
            <a:pathLst>
              <a:path extrusionOk="0" h="711200" w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34" name="Google Shape;334;p22"/>
          <p:cNvSpPr/>
          <p:nvPr/>
        </p:nvSpPr>
        <p:spPr>
          <a:xfrm>
            <a:off x="7535081" y="3403439"/>
            <a:ext cx="4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</a:t>
            </a:r>
            <a:endParaRPr b="0" i="0" sz="900" u="none" cap="none" strike="noStrike"/>
          </a:p>
        </p:txBody>
      </p:sp>
      <p:sp>
        <p:nvSpPr>
          <p:cNvPr id="335" name="Google Shape;335;p22"/>
          <p:cNvSpPr/>
          <p:nvPr/>
        </p:nvSpPr>
        <p:spPr>
          <a:xfrm>
            <a:off x="6783113" y="3860604"/>
            <a:ext cx="1978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Monitor</a:t>
            </a:r>
            <a:endParaRPr b="0" i="0" sz="900" u="none" cap="none" strike="noStrike"/>
          </a:p>
        </p:txBody>
      </p:sp>
      <p:sp>
        <p:nvSpPr>
          <p:cNvPr id="336" name="Google Shape;336;p22"/>
          <p:cNvSpPr/>
          <p:nvPr/>
        </p:nvSpPr>
        <p:spPr>
          <a:xfrm>
            <a:off x="6786685" y="4032019"/>
            <a:ext cx="197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Continuous compliance</a:t>
            </a:r>
            <a:endParaRPr b="0" i="0" sz="900" u="none" cap="none" strike="noStrike"/>
          </a:p>
        </p:txBody>
      </p:sp>
      <p:sp>
        <p:nvSpPr>
          <p:cNvPr id="337" name="Google Shape;337;p22"/>
          <p:cNvSpPr/>
          <p:nvPr/>
        </p:nvSpPr>
        <p:spPr>
          <a:xfrm>
            <a:off x="299757" y="4417485"/>
            <a:ext cx="2764351" cy="285750"/>
          </a:xfrm>
          <a:custGeom>
            <a:rect b="b" l="l" r="r" t="t"/>
            <a:pathLst>
              <a:path extrusionOk="0" h="508000" w="4914402">
                <a:moveTo>
                  <a:pt x="0" y="0"/>
                </a:moveTo>
                <a:lnTo>
                  <a:pt x="4914402" y="0"/>
                </a:lnTo>
                <a:lnTo>
                  <a:pt x="4914402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338" name="Google Shape;338;p22"/>
          <p:cNvSpPr/>
          <p:nvPr/>
        </p:nvSpPr>
        <p:spPr>
          <a:xfrm>
            <a:off x="299757" y="4417485"/>
            <a:ext cx="28015" cy="285750"/>
          </a:xfrm>
          <a:custGeom>
            <a:rect b="b" l="l" r="r" t="t"/>
            <a:pathLst>
              <a:path extrusionOk="0" h="508000" w="49804">
                <a:moveTo>
                  <a:pt x="0" y="0"/>
                </a:moveTo>
                <a:lnTo>
                  <a:pt x="49804" y="0"/>
                </a:lnTo>
                <a:lnTo>
                  <a:pt x="49804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39" name="Google Shape;339;p22"/>
          <p:cNvSpPr/>
          <p:nvPr/>
        </p:nvSpPr>
        <p:spPr>
          <a:xfrm>
            <a:off x="399472" y="4474607"/>
            <a:ext cx="272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Average breach cost: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$4.45M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(2023)</a:t>
            </a:r>
            <a:endParaRPr b="0" i="0" sz="900" u="none" cap="none" strike="noStrike"/>
          </a:p>
        </p:txBody>
      </p:sp>
      <p:sp>
        <p:nvSpPr>
          <p:cNvPr id="340" name="Google Shape;340;p22"/>
          <p:cNvSpPr/>
          <p:nvPr/>
        </p:nvSpPr>
        <p:spPr>
          <a:xfrm>
            <a:off x="3195340" y="4417485"/>
            <a:ext cx="2764351" cy="285750"/>
          </a:xfrm>
          <a:custGeom>
            <a:rect b="b" l="l" r="r" t="t"/>
            <a:pathLst>
              <a:path extrusionOk="0" h="508000" w="4914402">
                <a:moveTo>
                  <a:pt x="0" y="0"/>
                </a:moveTo>
                <a:lnTo>
                  <a:pt x="4914402" y="0"/>
                </a:lnTo>
                <a:lnTo>
                  <a:pt x="4914402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341" name="Google Shape;341;p22"/>
          <p:cNvSpPr/>
          <p:nvPr/>
        </p:nvSpPr>
        <p:spPr>
          <a:xfrm>
            <a:off x="3195340" y="4417485"/>
            <a:ext cx="28015" cy="285750"/>
          </a:xfrm>
          <a:custGeom>
            <a:rect b="b" l="l" r="r" t="t"/>
            <a:pathLst>
              <a:path extrusionOk="0" h="508000" w="49804">
                <a:moveTo>
                  <a:pt x="0" y="0"/>
                </a:moveTo>
                <a:lnTo>
                  <a:pt x="49804" y="0"/>
                </a:lnTo>
                <a:lnTo>
                  <a:pt x="49804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42" name="Google Shape;342;p22"/>
          <p:cNvSpPr/>
          <p:nvPr/>
        </p:nvSpPr>
        <p:spPr>
          <a:xfrm>
            <a:off x="3295055" y="4474607"/>
            <a:ext cx="272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Compliance rate: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Only 43%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fully compliant</a:t>
            </a:r>
            <a:endParaRPr b="0" i="0" sz="900" u="none" cap="none" strike="noStrike"/>
          </a:p>
        </p:txBody>
      </p:sp>
      <p:sp>
        <p:nvSpPr>
          <p:cNvPr id="343" name="Google Shape;343;p22"/>
          <p:cNvSpPr/>
          <p:nvPr/>
        </p:nvSpPr>
        <p:spPr>
          <a:xfrm>
            <a:off x="6090923" y="4417485"/>
            <a:ext cx="2764351" cy="285750"/>
          </a:xfrm>
          <a:custGeom>
            <a:rect b="b" l="l" r="r" t="t"/>
            <a:pathLst>
              <a:path extrusionOk="0" h="508000" w="4914402">
                <a:moveTo>
                  <a:pt x="0" y="0"/>
                </a:moveTo>
                <a:lnTo>
                  <a:pt x="4914402" y="0"/>
                </a:lnTo>
                <a:lnTo>
                  <a:pt x="4914402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344" name="Google Shape;344;p22"/>
          <p:cNvSpPr/>
          <p:nvPr/>
        </p:nvSpPr>
        <p:spPr>
          <a:xfrm>
            <a:off x="6090923" y="4417485"/>
            <a:ext cx="28015" cy="285750"/>
          </a:xfrm>
          <a:custGeom>
            <a:rect b="b" l="l" r="r" t="t"/>
            <a:pathLst>
              <a:path extrusionOk="0" h="508000" w="49804">
                <a:moveTo>
                  <a:pt x="0" y="0"/>
                </a:moveTo>
                <a:lnTo>
                  <a:pt x="49804" y="0"/>
                </a:lnTo>
                <a:lnTo>
                  <a:pt x="49804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45" name="Google Shape;345;p22"/>
          <p:cNvSpPr/>
          <p:nvPr/>
        </p:nvSpPr>
        <p:spPr>
          <a:xfrm>
            <a:off x="6190637" y="4474607"/>
            <a:ext cx="272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Card fraud losses: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$32.96B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globally (2023)</a:t>
            </a:r>
            <a:endParaRPr b="0" i="0" sz="900" u="none" cap="none" strike="noStrike"/>
          </a:p>
        </p:txBody>
      </p:sp>
      <p:sp>
        <p:nvSpPr>
          <p:cNvPr id="346" name="Google Shape;346;p22"/>
          <p:cNvSpPr/>
          <p:nvPr/>
        </p:nvSpPr>
        <p:spPr>
          <a:xfrm>
            <a:off x="285750" y="4760270"/>
            <a:ext cx="8622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Source: PCI Security Standards Council, IBM Cost of Data Breach Report, 2023-2024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53" name="Google Shape;353;p23"/>
          <p:cNvSpPr/>
          <p:nvPr/>
        </p:nvSpPr>
        <p:spPr>
          <a:xfrm>
            <a:off x="457165" y="285750"/>
            <a:ext cx="48506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4.1</a:t>
            </a:r>
            <a:endParaRPr b="0" i="0" sz="900" u="none" cap="none" strike="noStrike"/>
          </a:p>
        </p:txBody>
      </p:sp>
      <p:sp>
        <p:nvSpPr>
          <p:cNvPr id="354" name="Google Shape;354;p23"/>
          <p:cNvSpPr/>
          <p:nvPr/>
        </p:nvSpPr>
        <p:spPr>
          <a:xfrm>
            <a:off x="457165" y="457165"/>
            <a:ext cx="4929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GDPR Overview: Global Privacy Standards</a:t>
            </a:r>
            <a:endParaRPr b="0" i="0" sz="900" u="none" cap="none" strike="noStrike"/>
          </a:p>
        </p:txBody>
      </p:sp>
      <p:sp>
        <p:nvSpPr>
          <p:cNvPr id="355" name="Google Shape;355;p23"/>
          <p:cNvSpPr/>
          <p:nvPr/>
        </p:nvSpPr>
        <p:spPr>
          <a:xfrm>
            <a:off x="299757" y="933646"/>
            <a:ext cx="28015" cy="842963"/>
          </a:xfrm>
          <a:custGeom>
            <a:rect b="b" l="l" r="r" t="t"/>
            <a:pathLst>
              <a:path extrusionOk="0" h="1498600" w="49804">
                <a:moveTo>
                  <a:pt x="0" y="0"/>
                </a:moveTo>
                <a:lnTo>
                  <a:pt x="49804" y="0"/>
                </a:lnTo>
                <a:lnTo>
                  <a:pt x="49804" y="1498600"/>
                </a:lnTo>
                <a:lnTo>
                  <a:pt x="0" y="1498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56" name="Google Shape;356;p23"/>
          <p:cNvSpPr/>
          <p:nvPr/>
        </p:nvSpPr>
        <p:spPr>
          <a:xfrm>
            <a:off x="478071" y="962186"/>
            <a:ext cx="171450" cy="171450"/>
          </a:xfrm>
          <a:custGeom>
            <a:rect b="b" l="l" r="r" t="t"/>
            <a:pathLst>
              <a:path extrusionOk="0" h="304800" w="304800">
                <a:moveTo>
                  <a:pt x="152519" y="28575"/>
                </a:moveTo>
                <a:cubicBezTo>
                  <a:pt x="220861" y="28635"/>
                  <a:pt x="276225" y="84058"/>
                  <a:pt x="276225" y="152400"/>
                </a:cubicBezTo>
                <a:cubicBezTo>
                  <a:pt x="276225" y="165556"/>
                  <a:pt x="274201" y="178237"/>
                  <a:pt x="270391" y="190143"/>
                </a:cubicBezTo>
                <a:cubicBezTo>
                  <a:pt x="269200" y="190381"/>
                  <a:pt x="267950" y="190500"/>
                  <a:pt x="266700" y="190500"/>
                </a:cubicBezTo>
                <a:lnTo>
                  <a:pt x="265093" y="190500"/>
                </a:lnTo>
                <a:cubicBezTo>
                  <a:pt x="260033" y="190500"/>
                  <a:pt x="255210" y="188476"/>
                  <a:pt x="251639" y="184904"/>
                </a:cubicBezTo>
                <a:lnTo>
                  <a:pt x="234196" y="167461"/>
                </a:lnTo>
                <a:cubicBezTo>
                  <a:pt x="230624" y="163890"/>
                  <a:pt x="228600" y="159068"/>
                  <a:pt x="228600" y="154007"/>
                </a:cubicBezTo>
                <a:lnTo>
                  <a:pt x="228600" y="123825"/>
                </a:lnTo>
                <a:cubicBezTo>
                  <a:pt x="228600" y="118586"/>
                  <a:pt x="232886" y="114300"/>
                  <a:pt x="238125" y="114300"/>
                </a:cubicBezTo>
                <a:cubicBezTo>
                  <a:pt x="243364" y="114300"/>
                  <a:pt x="247650" y="110014"/>
                  <a:pt x="247650" y="104775"/>
                </a:cubicBezTo>
                <a:cubicBezTo>
                  <a:pt x="247650" y="99536"/>
                  <a:pt x="243364" y="95250"/>
                  <a:pt x="238125" y="95250"/>
                </a:cubicBezTo>
                <a:lnTo>
                  <a:pt x="223838" y="95250"/>
                </a:lnTo>
                <a:cubicBezTo>
                  <a:pt x="215920" y="95250"/>
                  <a:pt x="209550" y="101620"/>
                  <a:pt x="209550" y="109537"/>
                </a:cubicBezTo>
                <a:cubicBezTo>
                  <a:pt x="209550" y="117455"/>
                  <a:pt x="203180" y="123825"/>
                  <a:pt x="195263" y="123825"/>
                </a:cubicBezTo>
                <a:lnTo>
                  <a:pt x="161925" y="123825"/>
                </a:lnTo>
                <a:cubicBezTo>
                  <a:pt x="156686" y="123825"/>
                  <a:pt x="152400" y="128111"/>
                  <a:pt x="152400" y="133350"/>
                </a:cubicBezTo>
                <a:cubicBezTo>
                  <a:pt x="152400" y="138589"/>
                  <a:pt x="148114" y="142875"/>
                  <a:pt x="142875" y="142875"/>
                </a:cubicBezTo>
                <a:lnTo>
                  <a:pt x="127754" y="142875"/>
                </a:lnTo>
                <a:cubicBezTo>
                  <a:pt x="120313" y="142875"/>
                  <a:pt x="114300" y="136862"/>
                  <a:pt x="114300" y="129421"/>
                </a:cubicBezTo>
                <a:cubicBezTo>
                  <a:pt x="114300" y="125849"/>
                  <a:pt x="115729" y="122396"/>
                  <a:pt x="118229" y="119896"/>
                </a:cubicBezTo>
                <a:lnTo>
                  <a:pt x="159960" y="78165"/>
                </a:lnTo>
                <a:cubicBezTo>
                  <a:pt x="161211" y="76914"/>
                  <a:pt x="161925" y="75188"/>
                  <a:pt x="161925" y="73402"/>
                </a:cubicBezTo>
                <a:cubicBezTo>
                  <a:pt x="161925" y="69711"/>
                  <a:pt x="158889" y="66675"/>
                  <a:pt x="155198" y="66675"/>
                </a:cubicBezTo>
                <a:lnTo>
                  <a:pt x="146804" y="66675"/>
                </a:lnTo>
                <a:cubicBezTo>
                  <a:pt x="139363" y="66675"/>
                  <a:pt x="133350" y="60662"/>
                  <a:pt x="133350" y="53221"/>
                </a:cubicBezTo>
                <a:cubicBezTo>
                  <a:pt x="133350" y="49649"/>
                  <a:pt x="134779" y="46196"/>
                  <a:pt x="137279" y="43696"/>
                </a:cubicBezTo>
                <a:lnTo>
                  <a:pt x="151031" y="29944"/>
                </a:lnTo>
                <a:cubicBezTo>
                  <a:pt x="151507" y="29468"/>
                  <a:pt x="151983" y="29051"/>
                  <a:pt x="152519" y="28635"/>
                </a:cubicBezTo>
                <a:close/>
                <a:moveTo>
                  <a:pt x="260985" y="211991"/>
                </a:moveTo>
                <a:cubicBezTo>
                  <a:pt x="241459" y="247471"/>
                  <a:pt x="205085" y="272355"/>
                  <a:pt x="162639" y="275808"/>
                </a:cubicBezTo>
                <a:cubicBezTo>
                  <a:pt x="162223" y="274439"/>
                  <a:pt x="161985" y="272951"/>
                  <a:pt x="161985" y="271463"/>
                </a:cubicBezTo>
                <a:cubicBezTo>
                  <a:pt x="161985" y="263545"/>
                  <a:pt x="155615" y="257175"/>
                  <a:pt x="147697" y="257175"/>
                </a:cubicBezTo>
                <a:lnTo>
                  <a:pt x="131802" y="257175"/>
                </a:lnTo>
                <a:cubicBezTo>
                  <a:pt x="126742" y="257175"/>
                  <a:pt x="121920" y="255151"/>
                  <a:pt x="118348" y="251579"/>
                </a:cubicBezTo>
                <a:lnTo>
                  <a:pt x="100905" y="234136"/>
                </a:lnTo>
                <a:cubicBezTo>
                  <a:pt x="97334" y="230565"/>
                  <a:pt x="95310" y="225743"/>
                  <a:pt x="95310" y="220682"/>
                </a:cubicBezTo>
                <a:lnTo>
                  <a:pt x="95310" y="180975"/>
                </a:lnTo>
                <a:cubicBezTo>
                  <a:pt x="95310" y="170438"/>
                  <a:pt x="103822" y="161925"/>
                  <a:pt x="114360" y="161925"/>
                </a:cubicBezTo>
                <a:lnTo>
                  <a:pt x="173117" y="161925"/>
                </a:lnTo>
                <a:cubicBezTo>
                  <a:pt x="178177" y="161925"/>
                  <a:pt x="182999" y="163949"/>
                  <a:pt x="186571" y="167521"/>
                </a:cubicBezTo>
                <a:lnTo>
                  <a:pt x="204014" y="184964"/>
                </a:lnTo>
                <a:cubicBezTo>
                  <a:pt x="207585" y="188535"/>
                  <a:pt x="212408" y="190560"/>
                  <a:pt x="217468" y="190560"/>
                </a:cubicBezTo>
                <a:lnTo>
                  <a:pt x="220742" y="190560"/>
                </a:lnTo>
                <a:cubicBezTo>
                  <a:pt x="225802" y="190560"/>
                  <a:pt x="230624" y="192584"/>
                  <a:pt x="234196" y="196155"/>
                </a:cubicBezTo>
                <a:lnTo>
                  <a:pt x="243721" y="205680"/>
                </a:lnTo>
                <a:cubicBezTo>
                  <a:pt x="246221" y="208181"/>
                  <a:pt x="249674" y="209610"/>
                  <a:pt x="253246" y="209610"/>
                </a:cubicBezTo>
                <a:cubicBezTo>
                  <a:pt x="256103" y="209610"/>
                  <a:pt x="258782" y="210502"/>
                  <a:pt x="260985" y="212050"/>
                </a:cubicBezTo>
                <a:close/>
                <a:moveTo>
                  <a:pt x="152400" y="304800"/>
                </a:moveTo>
                <a:lnTo>
                  <a:pt x="167997" y="304026"/>
                </a:lnTo>
                <a:cubicBezTo>
                  <a:pt x="162877" y="304562"/>
                  <a:pt x="157698" y="304800"/>
                  <a:pt x="152400" y="304800"/>
                </a:cubicBezTo>
                <a:close/>
                <a:moveTo>
                  <a:pt x="167997" y="304026"/>
                </a:moveTo>
                <a:cubicBezTo>
                  <a:pt x="244852" y="296228"/>
                  <a:pt x="304800" y="231338"/>
                  <a:pt x="304800" y="152400"/>
                </a:cubicBezTo>
                <a:cubicBezTo>
                  <a:pt x="304800" y="68223"/>
                  <a:pt x="236577" y="0"/>
                  <a:pt x="152400" y="0"/>
                </a:cubicBezTo>
                <a:lnTo>
                  <a:pt x="152400" y="0"/>
                </a:lnTo>
                <a:cubicBezTo>
                  <a:pt x="68223" y="0"/>
                  <a:pt x="0" y="68223"/>
                  <a:pt x="0" y="152400"/>
                </a:cubicBezTo>
                <a:cubicBezTo>
                  <a:pt x="0" y="228302"/>
                  <a:pt x="55483" y="291286"/>
                  <a:pt x="128171" y="302895"/>
                </a:cubicBezTo>
                <a:cubicBezTo>
                  <a:pt x="136029" y="304145"/>
                  <a:pt x="144125" y="304800"/>
                  <a:pt x="152400" y="304800"/>
                </a:cubicBezTo>
                <a:close/>
                <a:moveTo>
                  <a:pt x="111502" y="73402"/>
                </a:moveTo>
                <a:lnTo>
                  <a:pt x="92452" y="92452"/>
                </a:lnTo>
                <a:cubicBezTo>
                  <a:pt x="88761" y="96143"/>
                  <a:pt x="82689" y="96143"/>
                  <a:pt x="78998" y="92452"/>
                </a:cubicBezTo>
                <a:cubicBezTo>
                  <a:pt x="75307" y="88761"/>
                  <a:pt x="75307" y="82689"/>
                  <a:pt x="78998" y="78998"/>
                </a:cubicBezTo>
                <a:lnTo>
                  <a:pt x="98048" y="59948"/>
                </a:lnTo>
                <a:cubicBezTo>
                  <a:pt x="101739" y="56257"/>
                  <a:pt x="107811" y="56257"/>
                  <a:pt x="111502" y="59948"/>
                </a:cubicBezTo>
                <a:cubicBezTo>
                  <a:pt x="115193" y="63639"/>
                  <a:pt x="115193" y="69711"/>
                  <a:pt x="111502" y="73402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690073" y="933646"/>
            <a:ext cx="46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What It Is</a:t>
            </a:r>
            <a:endParaRPr b="0" i="0" sz="900" u="none" cap="none" strike="noStrike"/>
          </a:p>
        </p:txBody>
      </p:sp>
      <p:sp>
        <p:nvSpPr>
          <p:cNvPr id="358" name="Google Shape;358;p23"/>
          <p:cNvSpPr/>
          <p:nvPr/>
        </p:nvSpPr>
        <p:spPr>
          <a:xfrm>
            <a:off x="456640" y="1219354"/>
            <a:ext cx="4857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General Data Protection Regulation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is a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comprehensive privacy law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drafted and passed by the European Union (EU), effective May 25, 2018. It represents the most significant change to EU data privacy regulation in 20 years.</a:t>
            </a:r>
            <a:endParaRPr b="0" i="0" sz="900" u="none" cap="none" strike="noStrike"/>
          </a:p>
        </p:txBody>
      </p:sp>
      <p:sp>
        <p:nvSpPr>
          <p:cNvPr id="359" name="Google Shape;359;p23"/>
          <p:cNvSpPr/>
          <p:nvPr/>
        </p:nvSpPr>
        <p:spPr>
          <a:xfrm>
            <a:off x="299757" y="1909820"/>
            <a:ext cx="28015" cy="1143000"/>
          </a:xfrm>
          <a:custGeom>
            <a:rect b="b" l="l" r="r" t="t"/>
            <a:pathLst>
              <a:path extrusionOk="0" h="2032000" w="49804">
                <a:moveTo>
                  <a:pt x="0" y="0"/>
                </a:moveTo>
                <a:lnTo>
                  <a:pt x="49804" y="0"/>
                </a:lnTo>
                <a:lnTo>
                  <a:pt x="49804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60" name="Google Shape;360;p23"/>
          <p:cNvSpPr/>
          <p:nvPr/>
        </p:nvSpPr>
        <p:spPr>
          <a:xfrm>
            <a:off x="467355" y="1919239"/>
            <a:ext cx="192881" cy="171450"/>
          </a:xfrm>
          <a:custGeom>
            <a:rect b="b" l="l" r="r" t="t"/>
            <a:pathLst>
              <a:path extrusionOk="0" h="304800" w="3429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3"/>
          <p:cNvSpPr/>
          <p:nvPr/>
        </p:nvSpPr>
        <p:spPr>
          <a:xfrm>
            <a:off x="690073" y="1909820"/>
            <a:ext cx="46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Scope</a:t>
            </a:r>
            <a:endParaRPr b="0" i="0" sz="900" u="none" cap="none" strike="noStrike"/>
          </a:p>
        </p:txBody>
      </p:sp>
      <p:sp>
        <p:nvSpPr>
          <p:cNvPr id="362" name="Google Shape;362;p23"/>
          <p:cNvSpPr/>
          <p:nvPr/>
        </p:nvSpPr>
        <p:spPr>
          <a:xfrm>
            <a:off x="456640" y="2195525"/>
            <a:ext cx="4857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Extraterritorial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—it applies to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any organization globally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that processes the personal data of EU citizens or residents, regardless of the organization's location or the data processing location.</a:t>
            </a:r>
            <a:endParaRPr b="0" i="0" sz="900" u="none" cap="none" strike="noStrike"/>
          </a:p>
        </p:txBody>
      </p:sp>
      <p:sp>
        <p:nvSpPr>
          <p:cNvPr id="363" name="Google Shape;363;p23"/>
          <p:cNvSpPr/>
          <p:nvPr/>
        </p:nvSpPr>
        <p:spPr>
          <a:xfrm>
            <a:off x="470927" y="2688280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638779" y="2652603"/>
            <a:ext cx="1214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EU-based organizations</a:t>
            </a:r>
            <a:endParaRPr b="0" i="0" sz="900" u="none" cap="none" strike="noStrike"/>
          </a:p>
        </p:txBody>
      </p:sp>
      <p:sp>
        <p:nvSpPr>
          <p:cNvPr id="365" name="Google Shape;365;p23"/>
          <p:cNvSpPr/>
          <p:nvPr/>
        </p:nvSpPr>
        <p:spPr>
          <a:xfrm>
            <a:off x="2900065" y="2688280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3067917" y="2652603"/>
            <a:ext cx="219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Non-EU organizations serving EU residents</a:t>
            </a:r>
            <a:endParaRPr b="0" i="0" sz="900" u="none" cap="none" strike="noStrike"/>
          </a:p>
        </p:txBody>
      </p:sp>
      <p:sp>
        <p:nvSpPr>
          <p:cNvPr id="367" name="Google Shape;367;p23"/>
          <p:cNvSpPr/>
          <p:nvPr/>
        </p:nvSpPr>
        <p:spPr>
          <a:xfrm>
            <a:off x="470927" y="2916817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638779" y="2881143"/>
            <a:ext cx="152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Data processors &amp; controllers</a:t>
            </a:r>
            <a:endParaRPr b="0" i="0" sz="900" u="none" cap="none" strike="noStrike"/>
          </a:p>
        </p:txBody>
      </p:sp>
      <p:sp>
        <p:nvSpPr>
          <p:cNvPr id="369" name="Google Shape;369;p23"/>
          <p:cNvSpPr/>
          <p:nvPr/>
        </p:nvSpPr>
        <p:spPr>
          <a:xfrm>
            <a:off x="2900065" y="2916817"/>
            <a:ext cx="100013" cy="100013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3"/>
          <p:cNvSpPr/>
          <p:nvPr/>
        </p:nvSpPr>
        <p:spPr>
          <a:xfrm>
            <a:off x="3067917" y="2881143"/>
            <a:ext cx="122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industries &amp; sectors</a:t>
            </a:r>
            <a:endParaRPr b="0" i="0" sz="900" u="none" cap="none" strike="noStrike"/>
          </a:p>
        </p:txBody>
      </p:sp>
      <p:sp>
        <p:nvSpPr>
          <p:cNvPr id="371" name="Google Shape;371;p23"/>
          <p:cNvSpPr/>
          <p:nvPr/>
        </p:nvSpPr>
        <p:spPr>
          <a:xfrm>
            <a:off x="299757" y="3166848"/>
            <a:ext cx="28015" cy="842962"/>
          </a:xfrm>
          <a:custGeom>
            <a:rect b="b" l="l" r="r" t="t"/>
            <a:pathLst>
              <a:path extrusionOk="0" h="1498600" w="49804">
                <a:moveTo>
                  <a:pt x="0" y="0"/>
                </a:moveTo>
                <a:lnTo>
                  <a:pt x="49804" y="0"/>
                </a:lnTo>
                <a:lnTo>
                  <a:pt x="49804" y="1498600"/>
                </a:lnTo>
                <a:lnTo>
                  <a:pt x="0" y="1498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72" name="Google Shape;372;p23"/>
          <p:cNvSpPr/>
          <p:nvPr/>
        </p:nvSpPr>
        <p:spPr>
          <a:xfrm>
            <a:off x="478071" y="3195388"/>
            <a:ext cx="171450" cy="171450"/>
          </a:xfrm>
          <a:custGeom>
            <a:rect b="b" l="l" r="r" t="t"/>
            <a:pathLst>
              <a:path extrusionOk="0" h="304800" w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690073" y="3166848"/>
            <a:ext cx="467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Objective</a:t>
            </a:r>
            <a:endParaRPr b="0" i="0" sz="900" u="none" cap="none" strike="noStrike"/>
          </a:p>
        </p:txBody>
      </p:sp>
      <p:sp>
        <p:nvSpPr>
          <p:cNvPr id="374" name="Google Shape;374;p23"/>
          <p:cNvSpPr/>
          <p:nvPr/>
        </p:nvSpPr>
        <p:spPr>
          <a:xfrm>
            <a:off x="456640" y="3452553"/>
            <a:ext cx="4857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Standardize data privacy laws across Europe,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mandate user consent and transparency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, and grant consumers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greater control over their data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, including the "Right to be Forgotten" and data portability.</a:t>
            </a:r>
            <a:endParaRPr b="0" i="0" sz="900" u="none" cap="none" strike="noStrike"/>
          </a:p>
        </p:txBody>
      </p:sp>
      <p:sp>
        <p:nvSpPr>
          <p:cNvPr id="375" name="Google Shape;375;p23"/>
          <p:cNvSpPr/>
          <p:nvPr/>
        </p:nvSpPr>
        <p:spPr>
          <a:xfrm>
            <a:off x="5436254" y="940650"/>
            <a:ext cx="3414432" cy="2414307"/>
          </a:xfrm>
          <a:custGeom>
            <a:rect b="b" l="l" r="r" t="t"/>
            <a:pathLst>
              <a:path extrusionOk="0" h="4292102" w="6070102">
                <a:moveTo>
                  <a:pt x="0" y="0"/>
                </a:moveTo>
                <a:lnTo>
                  <a:pt x="6070102" y="0"/>
                </a:lnTo>
                <a:lnTo>
                  <a:pt x="6070102" y="4292102"/>
                </a:lnTo>
                <a:lnTo>
                  <a:pt x="0" y="429210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cap="flat" cmpd="sng" w="249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3"/>
          <p:cNvSpPr/>
          <p:nvPr/>
        </p:nvSpPr>
        <p:spPr>
          <a:xfrm>
            <a:off x="5521830" y="1061944"/>
            <a:ext cx="32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GDPR Key Principles (Article 5)</a:t>
            </a:r>
            <a:endParaRPr b="0" i="0" sz="900" u="none" cap="none" strike="noStrike"/>
          </a:p>
        </p:txBody>
      </p:sp>
      <p:sp>
        <p:nvSpPr>
          <p:cNvPr id="377" name="Google Shape;377;p23"/>
          <p:cNvSpPr/>
          <p:nvPr/>
        </p:nvSpPr>
        <p:spPr>
          <a:xfrm>
            <a:off x="5557549" y="1636204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378" name="Google Shape;378;p23"/>
          <p:cNvSpPr/>
          <p:nvPr/>
        </p:nvSpPr>
        <p:spPr>
          <a:xfrm>
            <a:off x="5557549" y="1376192"/>
            <a:ext cx="228600" cy="228600"/>
          </a:xfrm>
          <a:custGeom>
            <a:rect b="b" l="l" r="r" t="t"/>
            <a:pathLst>
              <a:path extrusionOk="0" h="406400" w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79" name="Google Shape;379;p23"/>
          <p:cNvSpPr/>
          <p:nvPr/>
        </p:nvSpPr>
        <p:spPr>
          <a:xfrm>
            <a:off x="5532546" y="1376192"/>
            <a:ext cx="27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b="0" i="0" sz="900" u="none" cap="none" strike="noStrike"/>
          </a:p>
        </p:txBody>
      </p:sp>
      <p:sp>
        <p:nvSpPr>
          <p:cNvPr id="380" name="Google Shape;380;p23"/>
          <p:cNvSpPr/>
          <p:nvPr/>
        </p:nvSpPr>
        <p:spPr>
          <a:xfrm>
            <a:off x="5871839" y="1404774"/>
            <a:ext cx="190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Lawfulness, Fairness &amp; Transparency</a:t>
            </a:r>
            <a:endParaRPr b="0" i="0" sz="900" u="none" cap="none" strike="noStrike"/>
          </a:p>
        </p:txBody>
      </p:sp>
      <p:sp>
        <p:nvSpPr>
          <p:cNvPr id="381" name="Google Shape;381;p23"/>
          <p:cNvSpPr/>
          <p:nvPr/>
        </p:nvSpPr>
        <p:spPr>
          <a:xfrm>
            <a:off x="5557549" y="1956008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382" name="Google Shape;382;p23"/>
          <p:cNvSpPr/>
          <p:nvPr/>
        </p:nvSpPr>
        <p:spPr>
          <a:xfrm>
            <a:off x="5557549" y="1695997"/>
            <a:ext cx="228600" cy="228600"/>
          </a:xfrm>
          <a:custGeom>
            <a:rect b="b" l="l" r="r" t="t"/>
            <a:pathLst>
              <a:path extrusionOk="0" h="406400" w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83" name="Google Shape;383;p23"/>
          <p:cNvSpPr/>
          <p:nvPr/>
        </p:nvSpPr>
        <p:spPr>
          <a:xfrm>
            <a:off x="5532546" y="1695997"/>
            <a:ext cx="27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b="0" i="0" sz="900" u="none" cap="none" strike="noStrike"/>
          </a:p>
        </p:txBody>
      </p:sp>
      <p:sp>
        <p:nvSpPr>
          <p:cNvPr id="384" name="Google Shape;384;p23"/>
          <p:cNvSpPr/>
          <p:nvPr/>
        </p:nvSpPr>
        <p:spPr>
          <a:xfrm>
            <a:off x="5871838" y="1724579"/>
            <a:ext cx="100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Purpose Limitation</a:t>
            </a:r>
            <a:endParaRPr b="0" i="0" sz="900" u="none" cap="none" strike="noStrike"/>
          </a:p>
        </p:txBody>
      </p:sp>
      <p:sp>
        <p:nvSpPr>
          <p:cNvPr id="385" name="Google Shape;385;p23"/>
          <p:cNvSpPr/>
          <p:nvPr/>
        </p:nvSpPr>
        <p:spPr>
          <a:xfrm>
            <a:off x="5557549" y="2275813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386" name="Google Shape;386;p23"/>
          <p:cNvSpPr/>
          <p:nvPr/>
        </p:nvSpPr>
        <p:spPr>
          <a:xfrm>
            <a:off x="5557549" y="2015802"/>
            <a:ext cx="228600" cy="228600"/>
          </a:xfrm>
          <a:custGeom>
            <a:rect b="b" l="l" r="r" t="t"/>
            <a:pathLst>
              <a:path extrusionOk="0" h="406400" w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87" name="Google Shape;387;p23"/>
          <p:cNvSpPr/>
          <p:nvPr/>
        </p:nvSpPr>
        <p:spPr>
          <a:xfrm>
            <a:off x="5532546" y="2015802"/>
            <a:ext cx="27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b="0" i="0" sz="900" u="none" cap="none" strike="noStrike"/>
          </a:p>
        </p:txBody>
      </p:sp>
      <p:sp>
        <p:nvSpPr>
          <p:cNvPr id="388" name="Google Shape;388;p23"/>
          <p:cNvSpPr/>
          <p:nvPr/>
        </p:nvSpPr>
        <p:spPr>
          <a:xfrm>
            <a:off x="5871838" y="2044384"/>
            <a:ext cx="978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Data Minimization</a:t>
            </a:r>
            <a:endParaRPr b="0" i="0" sz="900" u="none" cap="none" strike="noStrike"/>
          </a:p>
        </p:txBody>
      </p:sp>
      <p:sp>
        <p:nvSpPr>
          <p:cNvPr id="389" name="Google Shape;389;p23"/>
          <p:cNvSpPr/>
          <p:nvPr/>
        </p:nvSpPr>
        <p:spPr>
          <a:xfrm>
            <a:off x="5557549" y="2595618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390" name="Google Shape;390;p23"/>
          <p:cNvSpPr/>
          <p:nvPr/>
        </p:nvSpPr>
        <p:spPr>
          <a:xfrm>
            <a:off x="5557549" y="2335607"/>
            <a:ext cx="228600" cy="228600"/>
          </a:xfrm>
          <a:custGeom>
            <a:rect b="b" l="l" r="r" t="t"/>
            <a:pathLst>
              <a:path extrusionOk="0" h="406400" w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91" name="Google Shape;391;p23"/>
          <p:cNvSpPr/>
          <p:nvPr/>
        </p:nvSpPr>
        <p:spPr>
          <a:xfrm>
            <a:off x="5532546" y="2335607"/>
            <a:ext cx="27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</a:t>
            </a:r>
            <a:endParaRPr b="0" i="0" sz="900" u="none" cap="none" strike="noStrike"/>
          </a:p>
        </p:txBody>
      </p:sp>
      <p:sp>
        <p:nvSpPr>
          <p:cNvPr id="392" name="Google Shape;392;p23"/>
          <p:cNvSpPr/>
          <p:nvPr/>
        </p:nvSpPr>
        <p:spPr>
          <a:xfrm>
            <a:off x="5871839" y="2364193"/>
            <a:ext cx="521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Accuracy</a:t>
            </a:r>
            <a:endParaRPr b="0" i="0" sz="900" u="none" cap="none" strike="noStrike"/>
          </a:p>
        </p:txBody>
      </p:sp>
      <p:sp>
        <p:nvSpPr>
          <p:cNvPr id="393" name="Google Shape;393;p23"/>
          <p:cNvSpPr/>
          <p:nvPr/>
        </p:nvSpPr>
        <p:spPr>
          <a:xfrm>
            <a:off x="5557549" y="2915423"/>
            <a:ext cx="3171825" cy="5603"/>
          </a:xfrm>
          <a:custGeom>
            <a:rect b="b" l="l" r="r" t="t"/>
            <a:pathLst>
              <a:path extrusionOk="0" h="9961" w="5638800">
                <a:moveTo>
                  <a:pt x="0" y="0"/>
                </a:moveTo>
                <a:lnTo>
                  <a:pt x="5638800" y="0"/>
                </a:lnTo>
                <a:lnTo>
                  <a:pt x="56388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>
            <a:noFill/>
          </a:ln>
        </p:spPr>
      </p:sp>
      <p:sp>
        <p:nvSpPr>
          <p:cNvPr id="394" name="Google Shape;394;p23"/>
          <p:cNvSpPr/>
          <p:nvPr/>
        </p:nvSpPr>
        <p:spPr>
          <a:xfrm>
            <a:off x="5557549" y="2655412"/>
            <a:ext cx="228600" cy="228600"/>
          </a:xfrm>
          <a:custGeom>
            <a:rect b="b" l="l" r="r" t="t"/>
            <a:pathLst>
              <a:path extrusionOk="0" h="406400" w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95" name="Google Shape;395;p23"/>
          <p:cNvSpPr/>
          <p:nvPr/>
        </p:nvSpPr>
        <p:spPr>
          <a:xfrm>
            <a:off x="5532546" y="2655412"/>
            <a:ext cx="27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5</a:t>
            </a:r>
            <a:endParaRPr b="0" i="0" sz="900" u="none" cap="none" strike="noStrike"/>
          </a:p>
        </p:txBody>
      </p:sp>
      <p:sp>
        <p:nvSpPr>
          <p:cNvPr id="396" name="Google Shape;396;p23"/>
          <p:cNvSpPr/>
          <p:nvPr/>
        </p:nvSpPr>
        <p:spPr>
          <a:xfrm>
            <a:off x="5871838" y="2683998"/>
            <a:ext cx="978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Storage Limitation</a:t>
            </a:r>
            <a:endParaRPr b="0" i="0" sz="900" u="none" cap="none" strike="noStrike"/>
          </a:p>
        </p:txBody>
      </p:sp>
      <p:sp>
        <p:nvSpPr>
          <p:cNvPr id="397" name="Google Shape;397;p23"/>
          <p:cNvSpPr/>
          <p:nvPr/>
        </p:nvSpPr>
        <p:spPr>
          <a:xfrm>
            <a:off x="5557549" y="2975217"/>
            <a:ext cx="228600" cy="228600"/>
          </a:xfrm>
          <a:custGeom>
            <a:rect b="b" l="l" r="r" t="t"/>
            <a:pathLst>
              <a:path extrusionOk="0" h="406400" w="406400">
                <a:moveTo>
                  <a:pt x="0" y="0"/>
                </a:moveTo>
                <a:lnTo>
                  <a:pt x="406400" y="0"/>
                </a:lnTo>
                <a:lnTo>
                  <a:pt x="406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398" name="Google Shape;398;p23"/>
          <p:cNvSpPr/>
          <p:nvPr/>
        </p:nvSpPr>
        <p:spPr>
          <a:xfrm>
            <a:off x="5532546" y="2975217"/>
            <a:ext cx="27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6</a:t>
            </a:r>
            <a:endParaRPr b="0" i="0" sz="900" u="none" cap="none" strike="noStrike"/>
          </a:p>
        </p:txBody>
      </p:sp>
      <p:sp>
        <p:nvSpPr>
          <p:cNvPr id="399" name="Google Shape;399;p23"/>
          <p:cNvSpPr/>
          <p:nvPr/>
        </p:nvSpPr>
        <p:spPr>
          <a:xfrm>
            <a:off x="5871839" y="3003802"/>
            <a:ext cx="139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Integrity &amp; Confidentiality</a:t>
            </a:r>
            <a:endParaRPr b="0" i="0" sz="900" u="none" cap="none" strike="noStrike"/>
          </a:p>
        </p:txBody>
      </p:sp>
      <p:sp>
        <p:nvSpPr>
          <p:cNvPr id="400" name="Google Shape;400;p23"/>
          <p:cNvSpPr/>
          <p:nvPr/>
        </p:nvSpPr>
        <p:spPr>
          <a:xfrm>
            <a:off x="299757" y="4152713"/>
            <a:ext cx="8557932" cy="457200"/>
          </a:xfrm>
          <a:custGeom>
            <a:rect b="b" l="l" r="r" t="t"/>
            <a:pathLst>
              <a:path extrusionOk="0" h="812800" w="15214102">
                <a:moveTo>
                  <a:pt x="0" y="0"/>
                </a:moveTo>
                <a:lnTo>
                  <a:pt x="15214102" y="0"/>
                </a:lnTo>
                <a:lnTo>
                  <a:pt x="15214102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401" name="Google Shape;401;p23"/>
          <p:cNvSpPr/>
          <p:nvPr/>
        </p:nvSpPr>
        <p:spPr>
          <a:xfrm>
            <a:off x="299757" y="4152713"/>
            <a:ext cx="28015" cy="457200"/>
          </a:xfrm>
          <a:custGeom>
            <a:rect b="b" l="l" r="r" t="t"/>
            <a:pathLst>
              <a:path extrusionOk="0" h="812800" w="49804">
                <a:moveTo>
                  <a:pt x="0" y="0"/>
                </a:moveTo>
                <a:lnTo>
                  <a:pt x="49804" y="0"/>
                </a:lnTo>
                <a:lnTo>
                  <a:pt x="49804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02" name="Google Shape;402;p23"/>
          <p:cNvSpPr/>
          <p:nvPr/>
        </p:nvSpPr>
        <p:spPr>
          <a:xfrm>
            <a:off x="428056" y="4209839"/>
            <a:ext cx="84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Individual Rights Under GDPR: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Right to access | Right to rectification |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Right to erasure ("Right to be Forgotten")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| Right to restrict processing | Right to data portability | Right to object | Rights related to automated decision-making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09" name="Google Shape;409;p24"/>
          <p:cNvSpPr/>
          <p:nvPr/>
        </p:nvSpPr>
        <p:spPr>
          <a:xfrm>
            <a:off x="457165" y="285750"/>
            <a:ext cx="5257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4.2</a:t>
            </a:r>
            <a:endParaRPr b="0" i="0" sz="900" u="none" cap="none" strike="noStrike"/>
          </a:p>
        </p:txBody>
      </p:sp>
      <p:sp>
        <p:nvSpPr>
          <p:cNvPr id="410" name="Google Shape;410;p24"/>
          <p:cNvSpPr/>
          <p:nvPr/>
        </p:nvSpPr>
        <p:spPr>
          <a:xfrm>
            <a:off x="457165" y="457165"/>
            <a:ext cx="53363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GDPR Penalties &amp; Global Enforcement Impact</a:t>
            </a:r>
            <a:endParaRPr b="0" i="0" sz="900" u="none" cap="none" strike="noStrike"/>
          </a:p>
        </p:txBody>
      </p:sp>
      <p:sp>
        <p:nvSpPr>
          <p:cNvPr id="411" name="Google Shape;411;p24"/>
          <p:cNvSpPr/>
          <p:nvPr/>
        </p:nvSpPr>
        <p:spPr>
          <a:xfrm>
            <a:off x="294680" y="885703"/>
            <a:ext cx="160734" cy="142875"/>
          </a:xfrm>
          <a:custGeom>
            <a:rect b="b" l="l" r="r" t="t"/>
            <a:pathLst>
              <a:path extrusionOk="0" h="254000" w="285750">
                <a:moveTo>
                  <a:pt x="84138" y="76101"/>
                </a:moveTo>
                <a:lnTo>
                  <a:pt x="74861" y="66824"/>
                </a:lnTo>
                <a:cubicBezTo>
                  <a:pt x="68659" y="60623"/>
                  <a:pt x="68659" y="50552"/>
                  <a:pt x="74861" y="44351"/>
                </a:cubicBezTo>
                <a:lnTo>
                  <a:pt x="131763" y="-12601"/>
                </a:lnTo>
                <a:cubicBezTo>
                  <a:pt x="137964" y="-18802"/>
                  <a:pt x="148034" y="-18802"/>
                  <a:pt x="154236" y="-12601"/>
                </a:cubicBezTo>
                <a:lnTo>
                  <a:pt x="163513" y="-3274"/>
                </a:lnTo>
                <a:cubicBezTo>
                  <a:pt x="169714" y="2927"/>
                  <a:pt x="169714" y="12998"/>
                  <a:pt x="163513" y="19199"/>
                </a:cubicBezTo>
                <a:lnTo>
                  <a:pt x="106611" y="76101"/>
                </a:lnTo>
                <a:cubicBezTo>
                  <a:pt x="100409" y="82302"/>
                  <a:pt x="90339" y="82302"/>
                  <a:pt x="84138" y="76101"/>
                </a:cubicBezTo>
                <a:close/>
                <a:moveTo>
                  <a:pt x="136922" y="105023"/>
                </a:moveTo>
                <a:lnTo>
                  <a:pt x="121345" y="89446"/>
                </a:lnTo>
                <a:lnTo>
                  <a:pt x="176907" y="33883"/>
                </a:lnTo>
                <a:lnTo>
                  <a:pt x="236141" y="93117"/>
                </a:lnTo>
                <a:lnTo>
                  <a:pt x="180578" y="148679"/>
                </a:lnTo>
                <a:lnTo>
                  <a:pt x="165001" y="133102"/>
                </a:lnTo>
                <a:lnTo>
                  <a:pt x="49907" y="248196"/>
                </a:lnTo>
                <a:cubicBezTo>
                  <a:pt x="42168" y="255935"/>
                  <a:pt x="29617" y="255935"/>
                  <a:pt x="21828" y="248196"/>
                </a:cubicBezTo>
                <a:cubicBezTo>
                  <a:pt x="14039" y="240457"/>
                  <a:pt x="14089" y="227905"/>
                  <a:pt x="21828" y="220117"/>
                </a:cubicBezTo>
                <a:lnTo>
                  <a:pt x="136922" y="105023"/>
                </a:lnTo>
                <a:close/>
                <a:moveTo>
                  <a:pt x="193923" y="185837"/>
                </a:moveTo>
                <a:cubicBezTo>
                  <a:pt x="187722" y="179636"/>
                  <a:pt x="187722" y="169565"/>
                  <a:pt x="193923" y="163364"/>
                </a:cubicBezTo>
                <a:lnTo>
                  <a:pt x="250825" y="106462"/>
                </a:lnTo>
                <a:cubicBezTo>
                  <a:pt x="257026" y="100261"/>
                  <a:pt x="267097" y="100261"/>
                  <a:pt x="273298" y="106462"/>
                </a:cubicBezTo>
                <a:lnTo>
                  <a:pt x="282575" y="115739"/>
                </a:lnTo>
                <a:cubicBezTo>
                  <a:pt x="288776" y="121940"/>
                  <a:pt x="288776" y="132011"/>
                  <a:pt x="282575" y="138212"/>
                </a:cubicBezTo>
                <a:lnTo>
                  <a:pt x="225673" y="195163"/>
                </a:lnTo>
                <a:cubicBezTo>
                  <a:pt x="219472" y="201364"/>
                  <a:pt x="209401" y="201364"/>
                  <a:pt x="203200" y="195163"/>
                </a:cubicBezTo>
                <a:lnTo>
                  <a:pt x="193923" y="185886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483465" y="857163"/>
            <a:ext cx="409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Two-Tier Penalty Structure</a:t>
            </a:r>
            <a:endParaRPr b="0" i="0" sz="900" u="none" cap="none" strike="noStrike"/>
          </a:p>
        </p:txBody>
      </p:sp>
      <p:sp>
        <p:nvSpPr>
          <p:cNvPr id="413" name="Google Shape;413;p24"/>
          <p:cNvSpPr/>
          <p:nvPr/>
        </p:nvSpPr>
        <p:spPr>
          <a:xfrm>
            <a:off x="299757" y="1142871"/>
            <a:ext cx="28015" cy="685800"/>
          </a:xfrm>
          <a:custGeom>
            <a:rect b="b" l="l" r="r" t="t"/>
            <a:pathLst>
              <a:path extrusionOk="0" h="1219200" w="49804">
                <a:moveTo>
                  <a:pt x="0" y="0"/>
                </a:moveTo>
                <a:lnTo>
                  <a:pt x="49804" y="0"/>
                </a:lnTo>
                <a:lnTo>
                  <a:pt x="49804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>
            <a:noFill/>
          </a:ln>
        </p:spPr>
      </p:sp>
      <p:sp>
        <p:nvSpPr>
          <p:cNvPr id="414" name="Google Shape;414;p24"/>
          <p:cNvSpPr/>
          <p:nvPr/>
        </p:nvSpPr>
        <p:spPr>
          <a:xfrm>
            <a:off x="428056" y="1199993"/>
            <a:ext cx="6786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Lower Tier</a:t>
            </a:r>
            <a:endParaRPr b="0" i="0" sz="900" u="none" cap="none" strike="noStrike"/>
          </a:p>
        </p:txBody>
      </p:sp>
      <p:sp>
        <p:nvSpPr>
          <p:cNvPr id="415" name="Google Shape;415;p24"/>
          <p:cNvSpPr/>
          <p:nvPr/>
        </p:nvSpPr>
        <p:spPr>
          <a:xfrm>
            <a:off x="3463143" y="1214309"/>
            <a:ext cx="10787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Lesser infringements</a:t>
            </a:r>
            <a:endParaRPr b="0" i="0" sz="900" u="none" cap="none" strike="noStrike"/>
          </a:p>
        </p:txBody>
      </p:sp>
      <p:sp>
        <p:nvSpPr>
          <p:cNvPr id="416" name="Google Shape;416;p24"/>
          <p:cNvSpPr/>
          <p:nvPr/>
        </p:nvSpPr>
        <p:spPr>
          <a:xfrm>
            <a:off x="428056" y="1428576"/>
            <a:ext cx="411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Up to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€10 million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or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2% of global turnover</a:t>
            </a:r>
            <a:endParaRPr b="0" i="0" sz="900" u="none" cap="none" strike="noStrike"/>
          </a:p>
        </p:txBody>
      </p:sp>
      <p:sp>
        <p:nvSpPr>
          <p:cNvPr id="417" name="Google Shape;417;p24"/>
          <p:cNvSpPr/>
          <p:nvPr/>
        </p:nvSpPr>
        <p:spPr>
          <a:xfrm>
            <a:off x="428056" y="1628531"/>
            <a:ext cx="41076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Applies to: Controllers/processors obligations, certification body violations</a:t>
            </a:r>
            <a:endParaRPr b="0" i="0" sz="900" u="none" cap="none" strike="noStrike"/>
          </a:p>
        </p:txBody>
      </p:sp>
      <p:sp>
        <p:nvSpPr>
          <p:cNvPr id="418" name="Google Shape;418;p24"/>
          <p:cNvSpPr/>
          <p:nvPr/>
        </p:nvSpPr>
        <p:spPr>
          <a:xfrm>
            <a:off x="299757" y="1914235"/>
            <a:ext cx="28015" cy="685800"/>
          </a:xfrm>
          <a:custGeom>
            <a:rect b="b" l="l" r="r" t="t"/>
            <a:pathLst>
              <a:path extrusionOk="0" h="1219200" w="49804">
                <a:moveTo>
                  <a:pt x="0" y="0"/>
                </a:moveTo>
                <a:lnTo>
                  <a:pt x="49804" y="0"/>
                </a:lnTo>
                <a:lnTo>
                  <a:pt x="49804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19" name="Google Shape;419;p24"/>
          <p:cNvSpPr/>
          <p:nvPr/>
        </p:nvSpPr>
        <p:spPr>
          <a:xfrm>
            <a:off x="428056" y="1971361"/>
            <a:ext cx="685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Upper Tier</a:t>
            </a:r>
            <a:endParaRPr b="0" i="0" sz="900" u="none" cap="none" strike="noStrike"/>
          </a:p>
        </p:txBody>
      </p:sp>
      <p:sp>
        <p:nvSpPr>
          <p:cNvPr id="420" name="Google Shape;420;p24"/>
          <p:cNvSpPr/>
          <p:nvPr/>
        </p:nvSpPr>
        <p:spPr>
          <a:xfrm>
            <a:off x="3645545" y="1985673"/>
            <a:ext cx="9001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Severe violations</a:t>
            </a:r>
            <a:endParaRPr b="0" i="0" sz="900" u="none" cap="none" strike="noStrike"/>
          </a:p>
        </p:txBody>
      </p:sp>
      <p:sp>
        <p:nvSpPr>
          <p:cNvPr id="421" name="Google Shape;421;p24"/>
          <p:cNvSpPr/>
          <p:nvPr/>
        </p:nvSpPr>
        <p:spPr>
          <a:xfrm>
            <a:off x="428056" y="2199944"/>
            <a:ext cx="411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Up to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€20 million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or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4% of global turnover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(whichever is higher)</a:t>
            </a:r>
            <a:endParaRPr b="0" i="0" sz="900" u="none" cap="none" strike="noStrike"/>
          </a:p>
        </p:txBody>
      </p:sp>
      <p:sp>
        <p:nvSpPr>
          <p:cNvPr id="422" name="Google Shape;422;p24"/>
          <p:cNvSpPr/>
          <p:nvPr/>
        </p:nvSpPr>
        <p:spPr>
          <a:xfrm>
            <a:off x="428056" y="2399899"/>
            <a:ext cx="41076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Applies to: Core principles, data subject rights, cross-border transfers</a:t>
            </a:r>
            <a:endParaRPr b="0" i="0" sz="900" u="none" cap="none" strike="noStrike"/>
          </a:p>
        </p:txBody>
      </p:sp>
      <p:sp>
        <p:nvSpPr>
          <p:cNvPr id="423" name="Google Shape;423;p24"/>
          <p:cNvSpPr/>
          <p:nvPr/>
        </p:nvSpPr>
        <p:spPr>
          <a:xfrm>
            <a:off x="299757" y="2685603"/>
            <a:ext cx="4185957" cy="628650"/>
          </a:xfrm>
          <a:custGeom>
            <a:rect b="b" l="l" r="r" t="t"/>
            <a:pathLst>
              <a:path extrusionOk="0" h="1117600" w="7441702">
                <a:moveTo>
                  <a:pt x="0" y="0"/>
                </a:moveTo>
                <a:lnTo>
                  <a:pt x="7441702" y="0"/>
                </a:lnTo>
                <a:lnTo>
                  <a:pt x="7441702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424" name="Google Shape;424;p24"/>
          <p:cNvSpPr/>
          <p:nvPr/>
        </p:nvSpPr>
        <p:spPr>
          <a:xfrm>
            <a:off x="299757" y="2685603"/>
            <a:ext cx="28015" cy="628650"/>
          </a:xfrm>
          <a:custGeom>
            <a:rect b="b" l="l" r="r" t="t"/>
            <a:pathLst>
              <a:path extrusionOk="0" h="1117600" w="49804">
                <a:moveTo>
                  <a:pt x="0" y="0"/>
                </a:moveTo>
                <a:lnTo>
                  <a:pt x="49804" y="0"/>
                </a:lnTo>
                <a:lnTo>
                  <a:pt x="49804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25" name="Google Shape;425;p24"/>
          <p:cNvSpPr/>
          <p:nvPr/>
        </p:nvSpPr>
        <p:spPr>
          <a:xfrm>
            <a:off x="428056" y="2742729"/>
            <a:ext cx="4114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Strict Requirements: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Breach notification within 72 hours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| Privacy by Design &amp; Default | Data Protection Impact Assessments (DPIA) | Data Protection Officers (DPO) for certain organizations</a:t>
            </a:r>
            <a:endParaRPr b="0" i="0" sz="900" u="none" cap="none" strike="noStrike"/>
          </a:p>
        </p:txBody>
      </p:sp>
      <p:sp>
        <p:nvSpPr>
          <p:cNvPr id="426" name="Google Shape;426;p24"/>
          <p:cNvSpPr/>
          <p:nvPr/>
        </p:nvSpPr>
        <p:spPr>
          <a:xfrm>
            <a:off x="4675567" y="885703"/>
            <a:ext cx="142875" cy="142875"/>
          </a:xfrm>
          <a:custGeom>
            <a:rect b="b" l="l" r="r" t="t"/>
            <a:pathLst>
              <a:path extrusionOk="0" h="254000" w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4855422" y="857163"/>
            <a:ext cx="409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Major GDPR Enforcement Cases</a:t>
            </a:r>
            <a:endParaRPr b="0" i="0" sz="900" u="none" cap="none" strike="noStrike"/>
          </a:p>
        </p:txBody>
      </p:sp>
      <p:sp>
        <p:nvSpPr>
          <p:cNvPr id="428" name="Google Shape;428;p24"/>
          <p:cNvSpPr/>
          <p:nvPr/>
        </p:nvSpPr>
        <p:spPr>
          <a:xfrm>
            <a:off x="4657708" y="1574297"/>
            <a:ext cx="4200525" cy="5603"/>
          </a:xfrm>
          <a:custGeom>
            <a:rect b="b" l="l" r="r" t="t"/>
            <a:pathLst>
              <a:path extrusionOk="0" h="9961" w="7467600">
                <a:moveTo>
                  <a:pt x="0" y="0"/>
                </a:moveTo>
                <a:lnTo>
                  <a:pt x="7467600" y="0"/>
                </a:lnTo>
                <a:lnTo>
                  <a:pt x="74676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429" name="Google Shape;429;p24"/>
          <p:cNvSpPr/>
          <p:nvPr/>
        </p:nvSpPr>
        <p:spPr>
          <a:xfrm>
            <a:off x="4657708" y="1199993"/>
            <a:ext cx="38647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Meta Platforms Ireland</a:t>
            </a:r>
            <a:endParaRPr b="0" i="0" sz="900" u="none" cap="none" strike="noStrike"/>
          </a:p>
        </p:txBody>
      </p:sp>
      <p:sp>
        <p:nvSpPr>
          <p:cNvPr id="430" name="Google Shape;430;p24"/>
          <p:cNvSpPr/>
          <p:nvPr/>
        </p:nvSpPr>
        <p:spPr>
          <a:xfrm>
            <a:off x="4657708" y="1371408"/>
            <a:ext cx="3857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Cross-border data transfers (2023)</a:t>
            </a:r>
            <a:endParaRPr b="0" i="0" sz="900" u="none" cap="none" strike="noStrike"/>
          </a:p>
        </p:txBody>
      </p:sp>
      <p:sp>
        <p:nvSpPr>
          <p:cNvPr id="431" name="Google Shape;431;p24"/>
          <p:cNvSpPr/>
          <p:nvPr/>
        </p:nvSpPr>
        <p:spPr>
          <a:xfrm>
            <a:off x="8463287" y="1199993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€1.2B</a:t>
            </a:r>
            <a:endParaRPr b="0" i="0" sz="900" u="none" cap="none" strike="noStrike"/>
          </a:p>
        </p:txBody>
      </p:sp>
      <p:sp>
        <p:nvSpPr>
          <p:cNvPr id="432" name="Google Shape;432;p24"/>
          <p:cNvSpPr/>
          <p:nvPr/>
        </p:nvSpPr>
        <p:spPr>
          <a:xfrm>
            <a:off x="4657708" y="2065559"/>
            <a:ext cx="4200525" cy="5603"/>
          </a:xfrm>
          <a:custGeom>
            <a:rect b="b" l="l" r="r" t="t"/>
            <a:pathLst>
              <a:path extrusionOk="0" h="9961" w="7467600">
                <a:moveTo>
                  <a:pt x="0" y="0"/>
                </a:moveTo>
                <a:lnTo>
                  <a:pt x="7467600" y="0"/>
                </a:lnTo>
                <a:lnTo>
                  <a:pt x="74676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433" name="Google Shape;433;p24"/>
          <p:cNvSpPr/>
          <p:nvPr/>
        </p:nvSpPr>
        <p:spPr>
          <a:xfrm>
            <a:off x="4657708" y="1691259"/>
            <a:ext cx="37361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Amazon Europe</a:t>
            </a:r>
            <a:endParaRPr b="0" i="0" sz="900" u="none" cap="none" strike="noStrike"/>
          </a:p>
        </p:txBody>
      </p:sp>
      <p:sp>
        <p:nvSpPr>
          <p:cNvPr id="434" name="Google Shape;434;p24"/>
          <p:cNvSpPr/>
          <p:nvPr/>
        </p:nvSpPr>
        <p:spPr>
          <a:xfrm>
            <a:off x="4657708" y="1862674"/>
            <a:ext cx="37290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Advertising targeting violations (2021)</a:t>
            </a:r>
            <a:endParaRPr b="0" i="0" sz="900" u="none" cap="none" strike="noStrike"/>
          </a:p>
        </p:txBody>
      </p:sp>
      <p:sp>
        <p:nvSpPr>
          <p:cNvPr id="435" name="Google Shape;435;p24"/>
          <p:cNvSpPr/>
          <p:nvPr/>
        </p:nvSpPr>
        <p:spPr>
          <a:xfrm>
            <a:off x="8337965" y="1691259"/>
            <a:ext cx="6072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€746M</a:t>
            </a:r>
            <a:endParaRPr b="0" i="0" sz="900" u="none" cap="none" strike="noStrike"/>
          </a:p>
        </p:txBody>
      </p:sp>
      <p:sp>
        <p:nvSpPr>
          <p:cNvPr id="436" name="Google Shape;436;p24"/>
          <p:cNvSpPr/>
          <p:nvPr/>
        </p:nvSpPr>
        <p:spPr>
          <a:xfrm>
            <a:off x="4657708" y="2556825"/>
            <a:ext cx="4200525" cy="5603"/>
          </a:xfrm>
          <a:custGeom>
            <a:rect b="b" l="l" r="r" t="t"/>
            <a:pathLst>
              <a:path extrusionOk="0" h="9961" w="7467600">
                <a:moveTo>
                  <a:pt x="0" y="0"/>
                </a:moveTo>
                <a:lnTo>
                  <a:pt x="7467600" y="0"/>
                </a:lnTo>
                <a:lnTo>
                  <a:pt x="74676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437" name="Google Shape;437;p24"/>
          <p:cNvSpPr/>
          <p:nvPr/>
        </p:nvSpPr>
        <p:spPr>
          <a:xfrm>
            <a:off x="4657708" y="2182520"/>
            <a:ext cx="37790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TikTok (ByteDance)</a:t>
            </a:r>
            <a:endParaRPr b="0" i="0" sz="900" u="none" cap="none" strike="noStrike"/>
          </a:p>
        </p:txBody>
      </p:sp>
      <p:sp>
        <p:nvSpPr>
          <p:cNvPr id="438" name="Google Shape;438;p24"/>
          <p:cNvSpPr/>
          <p:nvPr/>
        </p:nvSpPr>
        <p:spPr>
          <a:xfrm>
            <a:off x="4657708" y="2353935"/>
            <a:ext cx="3771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Children's data protection (2025)</a:t>
            </a:r>
            <a:endParaRPr b="0" i="0" sz="900" u="none" cap="none" strike="noStrike"/>
          </a:p>
        </p:txBody>
      </p:sp>
      <p:sp>
        <p:nvSpPr>
          <p:cNvPr id="439" name="Google Shape;439;p24"/>
          <p:cNvSpPr/>
          <p:nvPr/>
        </p:nvSpPr>
        <p:spPr>
          <a:xfrm>
            <a:off x="8376879" y="2182520"/>
            <a:ext cx="5643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€530M</a:t>
            </a:r>
            <a:endParaRPr b="0" i="0" sz="900" u="none" cap="none" strike="noStrike"/>
          </a:p>
        </p:txBody>
      </p:sp>
      <p:sp>
        <p:nvSpPr>
          <p:cNvPr id="440" name="Google Shape;440;p24"/>
          <p:cNvSpPr/>
          <p:nvPr/>
        </p:nvSpPr>
        <p:spPr>
          <a:xfrm>
            <a:off x="4657708" y="3048086"/>
            <a:ext cx="4200525" cy="5603"/>
          </a:xfrm>
          <a:custGeom>
            <a:rect b="b" l="l" r="r" t="t"/>
            <a:pathLst>
              <a:path extrusionOk="0" h="9961" w="7467600">
                <a:moveTo>
                  <a:pt x="0" y="0"/>
                </a:moveTo>
                <a:lnTo>
                  <a:pt x="7467600" y="0"/>
                </a:lnTo>
                <a:lnTo>
                  <a:pt x="7467600" y="9961"/>
                </a:lnTo>
                <a:lnTo>
                  <a:pt x="0" y="996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441" name="Google Shape;441;p24"/>
          <p:cNvSpPr/>
          <p:nvPr/>
        </p:nvSpPr>
        <p:spPr>
          <a:xfrm>
            <a:off x="4657708" y="2673786"/>
            <a:ext cx="37504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Meta Platforms</a:t>
            </a:r>
            <a:endParaRPr b="0" i="0" sz="900" u="none" cap="none" strike="noStrike"/>
          </a:p>
        </p:txBody>
      </p:sp>
      <p:sp>
        <p:nvSpPr>
          <p:cNvPr id="442" name="Google Shape;442;p24"/>
          <p:cNvSpPr/>
          <p:nvPr/>
        </p:nvSpPr>
        <p:spPr>
          <a:xfrm>
            <a:off x="4657708" y="2845201"/>
            <a:ext cx="37433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Data processing violations (2023)</a:t>
            </a:r>
            <a:endParaRPr b="0" i="0" sz="900" u="none" cap="none" strike="noStrike"/>
          </a:p>
        </p:txBody>
      </p:sp>
      <p:sp>
        <p:nvSpPr>
          <p:cNvPr id="443" name="Google Shape;443;p24"/>
          <p:cNvSpPr/>
          <p:nvPr/>
        </p:nvSpPr>
        <p:spPr>
          <a:xfrm>
            <a:off x="8352191" y="2673786"/>
            <a:ext cx="5929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€390M</a:t>
            </a:r>
            <a:endParaRPr b="0" i="0" sz="900" u="none" cap="none" strike="noStrike"/>
          </a:p>
        </p:txBody>
      </p:sp>
      <p:sp>
        <p:nvSpPr>
          <p:cNvPr id="444" name="Google Shape;444;p24"/>
          <p:cNvSpPr/>
          <p:nvPr/>
        </p:nvSpPr>
        <p:spPr>
          <a:xfrm>
            <a:off x="4657708" y="3165051"/>
            <a:ext cx="37361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Clearview AI</a:t>
            </a:r>
            <a:endParaRPr b="0" i="0" sz="900" u="none" cap="none" strike="noStrike"/>
          </a:p>
        </p:txBody>
      </p:sp>
      <p:sp>
        <p:nvSpPr>
          <p:cNvPr id="445" name="Google Shape;445;p24"/>
          <p:cNvSpPr/>
          <p:nvPr/>
        </p:nvSpPr>
        <p:spPr>
          <a:xfrm>
            <a:off x="4657708" y="3336466"/>
            <a:ext cx="37290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Facial recognition database (2024)</a:t>
            </a:r>
            <a:endParaRPr b="0" i="0" sz="900" u="none" cap="none" strike="noStrike"/>
          </a:p>
        </p:txBody>
      </p:sp>
      <p:sp>
        <p:nvSpPr>
          <p:cNvPr id="446" name="Google Shape;446;p24"/>
          <p:cNvSpPr/>
          <p:nvPr/>
        </p:nvSpPr>
        <p:spPr>
          <a:xfrm>
            <a:off x="8333719" y="3165051"/>
            <a:ext cx="6072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€30.5M</a:t>
            </a:r>
            <a:endParaRPr b="0" i="0" sz="900" u="none" cap="none" strike="noStrike"/>
          </a:p>
        </p:txBody>
      </p:sp>
      <p:sp>
        <p:nvSpPr>
          <p:cNvPr id="447" name="Google Shape;447;p24"/>
          <p:cNvSpPr/>
          <p:nvPr/>
        </p:nvSpPr>
        <p:spPr>
          <a:xfrm>
            <a:off x="292750" y="3723883"/>
            <a:ext cx="8557932" cy="1054162"/>
          </a:xfrm>
          <a:custGeom>
            <a:rect b="b" l="l" r="r" t="t"/>
            <a:pathLst>
              <a:path extrusionOk="0" h="2056902" w="15214102">
                <a:moveTo>
                  <a:pt x="0" y="0"/>
                </a:moveTo>
                <a:lnTo>
                  <a:pt x="15214102" y="0"/>
                </a:lnTo>
                <a:lnTo>
                  <a:pt x="15214102" y="2056902"/>
                </a:lnTo>
                <a:lnTo>
                  <a:pt x="0" y="20569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249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4"/>
          <p:cNvSpPr/>
          <p:nvPr/>
        </p:nvSpPr>
        <p:spPr>
          <a:xfrm>
            <a:off x="378330" y="3740813"/>
            <a:ext cx="8386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GDPR Enforcement Statistics (2018–2025)</a:t>
            </a:r>
            <a:endParaRPr b="0" i="0" sz="900" u="none" cap="none" strike="noStrike"/>
          </a:p>
        </p:txBody>
      </p:sp>
      <p:sp>
        <p:nvSpPr>
          <p:cNvPr id="449" name="Google Shape;449;p24"/>
          <p:cNvSpPr/>
          <p:nvPr/>
        </p:nvSpPr>
        <p:spPr>
          <a:xfrm>
            <a:off x="349755" y="4026517"/>
            <a:ext cx="212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€7.1B+</a:t>
            </a:r>
            <a:endParaRPr b="0" i="0" sz="900" u="none" cap="none" strike="noStrike"/>
          </a:p>
        </p:txBody>
      </p:sp>
      <p:sp>
        <p:nvSpPr>
          <p:cNvPr id="450" name="Google Shape;450;p24"/>
          <p:cNvSpPr/>
          <p:nvPr/>
        </p:nvSpPr>
        <p:spPr>
          <a:xfrm>
            <a:off x="385473" y="4340766"/>
            <a:ext cx="20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Total Fines</a:t>
            </a:r>
            <a:endParaRPr b="0" i="0" sz="900" u="none" cap="none" strike="noStrike"/>
          </a:p>
        </p:txBody>
      </p:sp>
      <p:sp>
        <p:nvSpPr>
          <p:cNvPr id="451" name="Google Shape;451;p24"/>
          <p:cNvSpPr/>
          <p:nvPr/>
        </p:nvSpPr>
        <p:spPr>
          <a:xfrm>
            <a:off x="389045" y="4512181"/>
            <a:ext cx="20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Since May 2018</a:t>
            </a:r>
            <a:endParaRPr b="0" i="0" sz="900" u="none" cap="none" strike="noStrike"/>
          </a:p>
        </p:txBody>
      </p:sp>
      <p:sp>
        <p:nvSpPr>
          <p:cNvPr id="452" name="Google Shape;452;p24"/>
          <p:cNvSpPr/>
          <p:nvPr/>
        </p:nvSpPr>
        <p:spPr>
          <a:xfrm>
            <a:off x="2457293" y="4026517"/>
            <a:ext cx="212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€1.2B</a:t>
            </a:r>
            <a:endParaRPr b="0" i="0" sz="900" u="none" cap="none" strike="noStrike"/>
          </a:p>
        </p:txBody>
      </p:sp>
      <p:sp>
        <p:nvSpPr>
          <p:cNvPr id="453" name="Google Shape;453;p24"/>
          <p:cNvSpPr/>
          <p:nvPr/>
        </p:nvSpPr>
        <p:spPr>
          <a:xfrm>
            <a:off x="2493011" y="4340766"/>
            <a:ext cx="20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2025 Fines</a:t>
            </a:r>
            <a:endParaRPr b="0" i="0" sz="900" u="none" cap="none" strike="noStrike"/>
          </a:p>
        </p:txBody>
      </p:sp>
      <p:sp>
        <p:nvSpPr>
          <p:cNvPr id="454" name="Google Shape;454;p24"/>
          <p:cNvSpPr/>
          <p:nvPr/>
        </p:nvSpPr>
        <p:spPr>
          <a:xfrm>
            <a:off x="2496583" y="4512181"/>
            <a:ext cx="20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Annual total</a:t>
            </a:r>
            <a:endParaRPr b="0" i="0" sz="900" u="none" cap="none" strike="noStrike"/>
          </a:p>
        </p:txBody>
      </p:sp>
      <p:sp>
        <p:nvSpPr>
          <p:cNvPr id="455" name="Google Shape;455;p24"/>
          <p:cNvSpPr/>
          <p:nvPr/>
        </p:nvSpPr>
        <p:spPr>
          <a:xfrm>
            <a:off x="4564830" y="4026517"/>
            <a:ext cx="212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2,245+</a:t>
            </a:r>
            <a:endParaRPr b="0" i="0" sz="900" u="none" cap="none" strike="noStrike"/>
          </a:p>
        </p:txBody>
      </p:sp>
      <p:sp>
        <p:nvSpPr>
          <p:cNvPr id="456" name="Google Shape;456;p24"/>
          <p:cNvSpPr/>
          <p:nvPr/>
        </p:nvSpPr>
        <p:spPr>
          <a:xfrm>
            <a:off x="4600549" y="4340766"/>
            <a:ext cx="20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Documented Fines</a:t>
            </a:r>
            <a:endParaRPr b="0" i="0" sz="900" u="none" cap="none" strike="noStrike"/>
          </a:p>
        </p:txBody>
      </p:sp>
      <p:sp>
        <p:nvSpPr>
          <p:cNvPr id="457" name="Google Shape;457;p24"/>
          <p:cNvSpPr/>
          <p:nvPr/>
        </p:nvSpPr>
        <p:spPr>
          <a:xfrm>
            <a:off x="4604120" y="4512181"/>
            <a:ext cx="20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Through early 2026</a:t>
            </a:r>
            <a:endParaRPr b="0" i="0" sz="900" u="none" cap="none" strike="noStrike"/>
          </a:p>
        </p:txBody>
      </p:sp>
      <p:sp>
        <p:nvSpPr>
          <p:cNvPr id="458" name="Google Shape;458;p24"/>
          <p:cNvSpPr/>
          <p:nvPr/>
        </p:nvSpPr>
        <p:spPr>
          <a:xfrm>
            <a:off x="6672368" y="4026517"/>
            <a:ext cx="212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443/day</a:t>
            </a:r>
            <a:endParaRPr b="0" i="0" sz="900" u="none" cap="none" strike="noStrike"/>
          </a:p>
        </p:txBody>
      </p:sp>
      <p:sp>
        <p:nvSpPr>
          <p:cNvPr id="459" name="Google Shape;459;p24"/>
          <p:cNvSpPr/>
          <p:nvPr/>
        </p:nvSpPr>
        <p:spPr>
          <a:xfrm>
            <a:off x="6708086" y="4340766"/>
            <a:ext cx="20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Breach Notifications</a:t>
            </a:r>
            <a:endParaRPr b="0" i="0" sz="900" u="none" cap="none" strike="noStrike"/>
          </a:p>
        </p:txBody>
      </p:sp>
      <p:sp>
        <p:nvSpPr>
          <p:cNvPr id="460" name="Google Shape;460;p24"/>
          <p:cNvSpPr/>
          <p:nvPr/>
        </p:nvSpPr>
        <p:spPr>
          <a:xfrm>
            <a:off x="6711658" y="4512181"/>
            <a:ext cx="20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22% YoY increase</a:t>
            </a:r>
            <a:endParaRPr b="0" i="0" sz="900" u="none" cap="none" strike="noStrike"/>
          </a:p>
        </p:txBody>
      </p:sp>
      <p:sp>
        <p:nvSpPr>
          <p:cNvPr id="461" name="Google Shape;461;p24"/>
          <p:cNvSpPr/>
          <p:nvPr/>
        </p:nvSpPr>
        <p:spPr>
          <a:xfrm>
            <a:off x="285750" y="4840476"/>
            <a:ext cx="8622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Source: DLA Piper GDPR Fines Survey, CMS GDPR Enforcement Tracker, 2024-2025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5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68" name="Google Shape;468;p25"/>
          <p:cNvSpPr/>
          <p:nvPr/>
        </p:nvSpPr>
        <p:spPr>
          <a:xfrm>
            <a:off x="457165" y="285750"/>
            <a:ext cx="595074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5.1</a:t>
            </a:r>
            <a:endParaRPr b="0" i="0" sz="900" u="none" cap="none" strike="noStrike"/>
          </a:p>
        </p:txBody>
      </p:sp>
      <p:sp>
        <p:nvSpPr>
          <p:cNvPr id="469" name="Google Shape;469;p25"/>
          <p:cNvSpPr/>
          <p:nvPr/>
        </p:nvSpPr>
        <p:spPr>
          <a:xfrm>
            <a:off x="457165" y="457165"/>
            <a:ext cx="6029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Comparative Analysis: HIPAA vs PCI-DSS vs GDPR</a:t>
            </a:r>
            <a:endParaRPr b="0" i="0" sz="900" u="none" cap="none" strike="noStrike"/>
          </a:p>
        </p:txBody>
      </p:sp>
      <p:graphicFrame>
        <p:nvGraphicFramePr>
          <p:cNvPr id="470" name="Google Shape;470;p25"/>
          <p:cNvGraphicFramePr/>
          <p:nvPr/>
        </p:nvGraphicFramePr>
        <p:xfrm>
          <a:off x="285750" y="981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{D7FBCAEA-1432-42C1-8BF8-FA0AA1E8F944}</a:tableStyleId>
              </a:tblPr>
              <a:tblGrid>
                <a:gridCol w="1460975"/>
                <a:gridCol w="2492250"/>
                <a:gridCol w="2212925"/>
                <a:gridCol w="2406300"/>
              </a:tblGrid>
              <a:tr h="30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Dimension</a:t>
                      </a:r>
                      <a:endParaRPr sz="9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HIPAA</a:t>
                      </a:r>
                      <a:endParaRPr sz="9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PCI-DSS</a:t>
                      </a:r>
                      <a:endParaRPr sz="9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GDPR</a:t>
                      </a:r>
                      <a:endParaRPr sz="9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0000"/>
                    </a:solidFill>
                  </a:tcPr>
                </a:tc>
              </a:tr>
              <a:tr h="30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Jurisdiction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United States (Federal)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Global (Industry Standard)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European Union (Extraterritorial)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Scope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Healthcare data (PHI/ePHI)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Payment card data (CHD)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All personal data of EU residents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Legal Basis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Federal law (HHS enforced)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Contractual/Industry standard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EU Regulation (DPA enforced)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Max Penalty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$2.19M/year + criminal charges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$5K–$100K/month + fees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€20M or 4% global turnover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Enforcement Body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HHS Office for Civil Rights (OCR)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Card brands + acquiring banks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EU Data Protection Authorities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Breach Notification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60 days to HHS &amp; individuals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Immediate to card brands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72 hours to DPA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Key Requirements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Risk analysis, safeguards, BAAs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 requirements, 6 domains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 principles, individual rights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2024-2025 Impact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$9.9M+ in fines (22 actions)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$32.96B global card fraud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€1.2B in 2025 fines</a:t>
                      </a:r>
                      <a:endParaRPr sz="9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57150" marB="57150" marR="57150" marL="57150" anchor="ctr">
                    <a:lnL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900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71" name="Google Shape;471;p25"/>
          <p:cNvSpPr/>
          <p:nvPr/>
        </p:nvSpPr>
        <p:spPr>
          <a:xfrm>
            <a:off x="299757" y="3835458"/>
            <a:ext cx="2764351" cy="600075"/>
          </a:xfrm>
          <a:custGeom>
            <a:rect b="b" l="l" r="r" t="t"/>
            <a:pathLst>
              <a:path extrusionOk="0" h="1066800" w="4914402">
                <a:moveTo>
                  <a:pt x="0" y="0"/>
                </a:moveTo>
                <a:lnTo>
                  <a:pt x="4914402" y="0"/>
                </a:lnTo>
                <a:lnTo>
                  <a:pt x="4914402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472" name="Google Shape;472;p25"/>
          <p:cNvSpPr/>
          <p:nvPr/>
        </p:nvSpPr>
        <p:spPr>
          <a:xfrm>
            <a:off x="299757" y="3835458"/>
            <a:ext cx="28015" cy="600075"/>
          </a:xfrm>
          <a:custGeom>
            <a:rect b="b" l="l" r="r" t="t"/>
            <a:pathLst>
              <a:path extrusionOk="0" h="1066800" w="49804">
                <a:moveTo>
                  <a:pt x="0" y="0"/>
                </a:moveTo>
                <a:lnTo>
                  <a:pt x="49804" y="0"/>
                </a:lnTo>
                <a:lnTo>
                  <a:pt x="49804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73" name="Google Shape;473;p25"/>
          <p:cNvSpPr/>
          <p:nvPr/>
        </p:nvSpPr>
        <p:spPr>
          <a:xfrm>
            <a:off x="428056" y="3892580"/>
            <a:ext cx="2693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Common Compliance Challenges</a:t>
            </a:r>
            <a:endParaRPr b="0" i="0" sz="900" u="none" cap="none" strike="noStrike"/>
          </a:p>
        </p:txBody>
      </p:sp>
      <p:sp>
        <p:nvSpPr>
          <p:cNvPr id="474" name="Google Shape;474;p25"/>
          <p:cNvSpPr/>
          <p:nvPr/>
        </p:nvSpPr>
        <p:spPr>
          <a:xfrm>
            <a:off x="428056" y="4092535"/>
            <a:ext cx="2686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Resource constraints | Legacy systems | Third-party risk | Cross-border complexity</a:t>
            </a:r>
            <a:endParaRPr b="0" i="0" sz="900" u="none" cap="none" strike="noStrike"/>
          </a:p>
        </p:txBody>
      </p:sp>
      <p:sp>
        <p:nvSpPr>
          <p:cNvPr id="475" name="Google Shape;475;p25"/>
          <p:cNvSpPr/>
          <p:nvPr/>
        </p:nvSpPr>
        <p:spPr>
          <a:xfrm>
            <a:off x="3195340" y="3835458"/>
            <a:ext cx="2764351" cy="600075"/>
          </a:xfrm>
          <a:custGeom>
            <a:rect b="b" l="l" r="r" t="t"/>
            <a:pathLst>
              <a:path extrusionOk="0" h="1066800" w="4914402">
                <a:moveTo>
                  <a:pt x="0" y="0"/>
                </a:moveTo>
                <a:lnTo>
                  <a:pt x="4914402" y="0"/>
                </a:lnTo>
                <a:lnTo>
                  <a:pt x="4914402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476" name="Google Shape;476;p25"/>
          <p:cNvSpPr/>
          <p:nvPr/>
        </p:nvSpPr>
        <p:spPr>
          <a:xfrm>
            <a:off x="3195340" y="3835458"/>
            <a:ext cx="28015" cy="600075"/>
          </a:xfrm>
          <a:custGeom>
            <a:rect b="b" l="l" r="r" t="t"/>
            <a:pathLst>
              <a:path extrusionOk="0" h="1066800" w="49804">
                <a:moveTo>
                  <a:pt x="0" y="0"/>
                </a:moveTo>
                <a:lnTo>
                  <a:pt x="49804" y="0"/>
                </a:lnTo>
                <a:lnTo>
                  <a:pt x="49804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77" name="Google Shape;477;p25"/>
          <p:cNvSpPr/>
          <p:nvPr/>
        </p:nvSpPr>
        <p:spPr>
          <a:xfrm>
            <a:off x="3323639" y="3892580"/>
            <a:ext cx="2693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Overlapping Requirements</a:t>
            </a:r>
            <a:endParaRPr b="0" i="0" sz="900" u="none" cap="none" strike="noStrike"/>
          </a:p>
        </p:txBody>
      </p:sp>
      <p:sp>
        <p:nvSpPr>
          <p:cNvPr id="478" name="Google Shape;478;p25"/>
          <p:cNvSpPr/>
          <p:nvPr/>
        </p:nvSpPr>
        <p:spPr>
          <a:xfrm>
            <a:off x="3323639" y="4092535"/>
            <a:ext cx="2686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Data encryption | Access controls | Audit logging | Incident response | Staff training</a:t>
            </a:r>
            <a:endParaRPr b="0" i="0" sz="900" u="none" cap="none" strike="noStrike"/>
          </a:p>
        </p:txBody>
      </p:sp>
      <p:sp>
        <p:nvSpPr>
          <p:cNvPr id="479" name="Google Shape;479;p25"/>
          <p:cNvSpPr/>
          <p:nvPr/>
        </p:nvSpPr>
        <p:spPr>
          <a:xfrm>
            <a:off x="6090923" y="3835458"/>
            <a:ext cx="2764351" cy="600075"/>
          </a:xfrm>
          <a:custGeom>
            <a:rect b="b" l="l" r="r" t="t"/>
            <a:pathLst>
              <a:path extrusionOk="0" h="1066800" w="4914402">
                <a:moveTo>
                  <a:pt x="0" y="0"/>
                </a:moveTo>
                <a:lnTo>
                  <a:pt x="4914402" y="0"/>
                </a:lnTo>
                <a:lnTo>
                  <a:pt x="4914402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480" name="Google Shape;480;p25"/>
          <p:cNvSpPr/>
          <p:nvPr/>
        </p:nvSpPr>
        <p:spPr>
          <a:xfrm>
            <a:off x="6090923" y="3835458"/>
            <a:ext cx="28015" cy="600075"/>
          </a:xfrm>
          <a:custGeom>
            <a:rect b="b" l="l" r="r" t="t"/>
            <a:pathLst>
              <a:path extrusionOk="0" h="1066800" w="49804">
                <a:moveTo>
                  <a:pt x="0" y="0"/>
                </a:moveTo>
                <a:lnTo>
                  <a:pt x="49804" y="0"/>
                </a:lnTo>
                <a:lnTo>
                  <a:pt x="49804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81" name="Google Shape;481;p25"/>
          <p:cNvSpPr/>
          <p:nvPr/>
        </p:nvSpPr>
        <p:spPr>
          <a:xfrm>
            <a:off x="6219221" y="3892580"/>
            <a:ext cx="2693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Strategic Approach</a:t>
            </a:r>
            <a:endParaRPr b="0" i="0" sz="900" u="none" cap="none" strike="noStrike"/>
          </a:p>
        </p:txBody>
      </p:sp>
      <p:sp>
        <p:nvSpPr>
          <p:cNvPr id="482" name="Google Shape;482;p25"/>
          <p:cNvSpPr/>
          <p:nvPr/>
        </p:nvSpPr>
        <p:spPr>
          <a:xfrm>
            <a:off x="6219221" y="4092535"/>
            <a:ext cx="2686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Unified governance | Risk-based prioritization | Automation | Continuous monitoring</a:t>
            </a:r>
            <a:endParaRPr b="0" i="0" sz="900" u="none" cap="none" strike="noStrike"/>
          </a:p>
        </p:txBody>
      </p:sp>
      <p:sp>
        <p:nvSpPr>
          <p:cNvPr id="483" name="Google Shape;483;p25"/>
          <p:cNvSpPr/>
          <p:nvPr/>
        </p:nvSpPr>
        <p:spPr>
          <a:xfrm>
            <a:off x="285750" y="4521214"/>
            <a:ext cx="8622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Table 1: Comparative analysis of major regulatory frameworks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6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90" name="Google Shape;490;p26"/>
          <p:cNvSpPr/>
          <p:nvPr/>
        </p:nvSpPr>
        <p:spPr>
          <a:xfrm>
            <a:off x="457165" y="285750"/>
            <a:ext cx="43791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SECTION 5.2</a:t>
            </a:r>
            <a:endParaRPr b="0" i="0" sz="900" u="none" cap="none" strike="noStrike"/>
          </a:p>
        </p:txBody>
      </p:sp>
      <p:sp>
        <p:nvSpPr>
          <p:cNvPr id="491" name="Google Shape;491;p26"/>
          <p:cNvSpPr/>
          <p:nvPr/>
        </p:nvSpPr>
        <p:spPr>
          <a:xfrm>
            <a:off x="457165" y="457165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Why Understanding Cyberlaw Matters</a:t>
            </a:r>
            <a:endParaRPr b="0" i="0" sz="900" u="none" cap="none" strike="noStrike"/>
          </a:p>
        </p:txBody>
      </p:sp>
      <p:sp>
        <p:nvSpPr>
          <p:cNvPr id="492" name="Google Shape;492;p26"/>
          <p:cNvSpPr/>
          <p:nvPr/>
        </p:nvSpPr>
        <p:spPr>
          <a:xfrm>
            <a:off x="285750" y="871170"/>
            <a:ext cx="2743200" cy="28015"/>
          </a:xfrm>
          <a:custGeom>
            <a:rect b="b" l="l" r="r" t="t"/>
            <a:pathLst>
              <a:path extrusionOk="0" h="49804" w="4876800">
                <a:moveTo>
                  <a:pt x="0" y="0"/>
                </a:moveTo>
                <a:lnTo>
                  <a:pt x="4876800" y="0"/>
                </a:lnTo>
                <a:lnTo>
                  <a:pt x="48768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93" name="Google Shape;493;p26"/>
          <p:cNvSpPr/>
          <p:nvPr/>
        </p:nvSpPr>
        <p:spPr>
          <a:xfrm>
            <a:off x="285750" y="999469"/>
            <a:ext cx="400050" cy="400050"/>
          </a:xfrm>
          <a:custGeom>
            <a:rect b="b" l="l" r="r" t="t"/>
            <a:pathLst>
              <a:path extrusionOk="0" h="711200" w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94" name="Google Shape;494;p26"/>
          <p:cNvSpPr/>
          <p:nvPr/>
        </p:nvSpPr>
        <p:spPr>
          <a:xfrm>
            <a:off x="389308" y="1113759"/>
            <a:ext cx="192881" cy="171450"/>
          </a:xfrm>
          <a:custGeom>
            <a:rect b="b" l="l" r="r" t="t"/>
            <a:pathLst>
              <a:path extrusionOk="0" h="304800" w="342900">
                <a:moveTo>
                  <a:pt x="28575" y="116562"/>
                </a:moveTo>
                <a:lnTo>
                  <a:pt x="153114" y="167819"/>
                </a:lnTo>
                <a:cubicBezTo>
                  <a:pt x="158948" y="170200"/>
                  <a:pt x="165140" y="171450"/>
                  <a:pt x="171450" y="171450"/>
                </a:cubicBezTo>
                <a:cubicBezTo>
                  <a:pt x="177760" y="171450"/>
                  <a:pt x="183952" y="170200"/>
                  <a:pt x="189786" y="167819"/>
                </a:cubicBezTo>
                <a:lnTo>
                  <a:pt x="334089" y="108406"/>
                </a:lnTo>
                <a:cubicBezTo>
                  <a:pt x="339447" y="106204"/>
                  <a:pt x="342900" y="101025"/>
                  <a:pt x="342900" y="95250"/>
                </a:cubicBezTo>
                <a:cubicBezTo>
                  <a:pt x="342900" y="89475"/>
                  <a:pt x="339447" y="84296"/>
                  <a:pt x="334089" y="82094"/>
                </a:cubicBezTo>
                <a:lnTo>
                  <a:pt x="189786" y="22681"/>
                </a:lnTo>
                <a:cubicBezTo>
                  <a:pt x="183952" y="20300"/>
                  <a:pt x="177760" y="19050"/>
                  <a:pt x="171450" y="19050"/>
                </a:cubicBezTo>
                <a:cubicBezTo>
                  <a:pt x="165140" y="19050"/>
                  <a:pt x="158948" y="20300"/>
                  <a:pt x="153114" y="22681"/>
                </a:cubicBezTo>
                <a:lnTo>
                  <a:pt x="8811" y="82094"/>
                </a:lnTo>
                <a:cubicBezTo>
                  <a:pt x="3453" y="84296"/>
                  <a:pt x="0" y="89475"/>
                  <a:pt x="0" y="95250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cubicBezTo>
                  <a:pt x="22205" y="285750"/>
                  <a:pt x="28575" y="279380"/>
                  <a:pt x="28575" y="271463"/>
                </a:cubicBezTo>
                <a:lnTo>
                  <a:pt x="28575" y="116562"/>
                </a:lnTo>
                <a:close/>
                <a:moveTo>
                  <a:pt x="57150" y="159246"/>
                </a:moveTo>
                <a:lnTo>
                  <a:pt x="57150" y="228600"/>
                </a:lnTo>
                <a:cubicBezTo>
                  <a:pt x="57150" y="260152"/>
                  <a:pt x="108347" y="285750"/>
                  <a:pt x="171450" y="285750"/>
                </a:cubicBezTo>
                <a:cubicBezTo>
                  <a:pt x="234553" y="285750"/>
                  <a:pt x="285750" y="260152"/>
                  <a:pt x="285750" y="228600"/>
                </a:cubicBezTo>
                <a:lnTo>
                  <a:pt x="285750" y="159187"/>
                </a:lnTo>
                <a:lnTo>
                  <a:pt x="200680" y="194250"/>
                </a:lnTo>
                <a:cubicBezTo>
                  <a:pt x="191393" y="198060"/>
                  <a:pt x="181511" y="200025"/>
                  <a:pt x="171450" y="200025"/>
                </a:cubicBezTo>
                <a:cubicBezTo>
                  <a:pt x="161389" y="200025"/>
                  <a:pt x="151507" y="198060"/>
                  <a:pt x="142220" y="194250"/>
                </a:cubicBezTo>
                <a:lnTo>
                  <a:pt x="57150" y="159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/>
          <p:nvPr/>
        </p:nvSpPr>
        <p:spPr>
          <a:xfrm>
            <a:off x="771499" y="1099492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Filling the Knowledge Gap</a:t>
            </a:r>
            <a:endParaRPr b="0" i="0" sz="900" u="none" cap="none" strike="noStrike"/>
          </a:p>
        </p:txBody>
      </p:sp>
      <p:sp>
        <p:nvSpPr>
          <p:cNvPr id="496" name="Google Shape;496;p26"/>
          <p:cNvSpPr/>
          <p:nvPr/>
        </p:nvSpPr>
        <p:spPr>
          <a:xfrm>
            <a:off x="285750" y="1465996"/>
            <a:ext cx="2800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Many organizations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lack personnel who understand all the legislation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that directly affects them. This knowledge gap creates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significant compliance vulnerabilities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900" u="none" cap="none" strike="noStrike"/>
          </a:p>
        </p:txBody>
      </p:sp>
      <p:sp>
        <p:nvSpPr>
          <p:cNvPr id="497" name="Google Shape;497;p26"/>
          <p:cNvSpPr/>
          <p:nvPr/>
        </p:nvSpPr>
        <p:spPr>
          <a:xfrm>
            <a:off x="299757" y="2294543"/>
            <a:ext cx="2728632" cy="457200"/>
          </a:xfrm>
          <a:custGeom>
            <a:rect b="b" l="l" r="r" t="t"/>
            <a:pathLst>
              <a:path extrusionOk="0" h="812800" w="4850902">
                <a:moveTo>
                  <a:pt x="0" y="0"/>
                </a:moveTo>
                <a:lnTo>
                  <a:pt x="4850902" y="0"/>
                </a:lnTo>
                <a:lnTo>
                  <a:pt x="4850902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498" name="Google Shape;498;p26"/>
          <p:cNvSpPr/>
          <p:nvPr/>
        </p:nvSpPr>
        <p:spPr>
          <a:xfrm>
            <a:off x="299757" y="2294543"/>
            <a:ext cx="28015" cy="457200"/>
          </a:xfrm>
          <a:custGeom>
            <a:rect b="b" l="l" r="r" t="t"/>
            <a:pathLst>
              <a:path extrusionOk="0" h="812800" w="49804">
                <a:moveTo>
                  <a:pt x="0" y="0"/>
                </a:moveTo>
                <a:lnTo>
                  <a:pt x="49804" y="0"/>
                </a:lnTo>
                <a:lnTo>
                  <a:pt x="49804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499" name="Google Shape;499;p26"/>
          <p:cNvSpPr/>
          <p:nvPr/>
        </p:nvSpPr>
        <p:spPr>
          <a:xfrm>
            <a:off x="399472" y="2380251"/>
            <a:ext cx="259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Critical Finding:</a:t>
            </a: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67% of organizations report insufficient understanding of applicable regulations</a:t>
            </a:r>
            <a:endParaRPr b="0" i="0" sz="900" u="none" cap="none" strike="noStrike"/>
          </a:p>
        </p:txBody>
      </p:sp>
      <p:sp>
        <p:nvSpPr>
          <p:cNvPr id="500" name="Google Shape;500;p26"/>
          <p:cNvSpPr/>
          <p:nvPr/>
        </p:nvSpPr>
        <p:spPr>
          <a:xfrm>
            <a:off x="3200374" y="871170"/>
            <a:ext cx="2743200" cy="28015"/>
          </a:xfrm>
          <a:custGeom>
            <a:rect b="b" l="l" r="r" t="t"/>
            <a:pathLst>
              <a:path extrusionOk="0" h="49804" w="4876800">
                <a:moveTo>
                  <a:pt x="0" y="0"/>
                </a:moveTo>
                <a:lnTo>
                  <a:pt x="4876800" y="0"/>
                </a:lnTo>
                <a:lnTo>
                  <a:pt x="48768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01" name="Google Shape;501;p26"/>
          <p:cNvSpPr/>
          <p:nvPr/>
        </p:nvSpPr>
        <p:spPr>
          <a:xfrm>
            <a:off x="3200374" y="999469"/>
            <a:ext cx="400050" cy="400050"/>
          </a:xfrm>
          <a:custGeom>
            <a:rect b="b" l="l" r="r" t="t"/>
            <a:pathLst>
              <a:path extrusionOk="0" h="711200" w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02" name="Google Shape;502;p26"/>
          <p:cNvSpPr/>
          <p:nvPr/>
        </p:nvSpPr>
        <p:spPr>
          <a:xfrm>
            <a:off x="3314648" y="1113759"/>
            <a:ext cx="171450" cy="171450"/>
          </a:xfrm>
          <a:custGeom>
            <a:rect b="b" l="l" r="r" t="t"/>
            <a:pathLst>
              <a:path extrusionOk="0" h="304800" w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3686123" y="1099492"/>
            <a:ext cx="14716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Security = Compliance</a:t>
            </a:r>
            <a:endParaRPr b="0" i="0" sz="900" u="none" cap="none" strike="noStrike"/>
          </a:p>
        </p:txBody>
      </p:sp>
      <p:sp>
        <p:nvSpPr>
          <p:cNvPr id="504" name="Google Shape;504;p26"/>
          <p:cNvSpPr/>
          <p:nvPr/>
        </p:nvSpPr>
        <p:spPr>
          <a:xfrm>
            <a:off x="3200449" y="1465996"/>
            <a:ext cx="2800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Understanding the laws allows you to know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exactly what controls must be implemented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to ensure compliance. Security and compliance are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two sides of the same coin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900" u="none" cap="none" strike="noStrike"/>
          </a:p>
        </p:txBody>
      </p:sp>
      <p:sp>
        <p:nvSpPr>
          <p:cNvPr id="505" name="Google Shape;505;p26"/>
          <p:cNvSpPr/>
          <p:nvPr/>
        </p:nvSpPr>
        <p:spPr>
          <a:xfrm>
            <a:off x="3214381" y="2294543"/>
            <a:ext cx="2728632" cy="457200"/>
          </a:xfrm>
          <a:custGeom>
            <a:rect b="b" l="l" r="r" t="t"/>
            <a:pathLst>
              <a:path extrusionOk="0" h="812800" w="4850902">
                <a:moveTo>
                  <a:pt x="0" y="0"/>
                </a:moveTo>
                <a:lnTo>
                  <a:pt x="4850902" y="0"/>
                </a:lnTo>
                <a:lnTo>
                  <a:pt x="4850902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506" name="Google Shape;506;p26"/>
          <p:cNvSpPr/>
          <p:nvPr/>
        </p:nvSpPr>
        <p:spPr>
          <a:xfrm>
            <a:off x="3214381" y="2294543"/>
            <a:ext cx="28015" cy="457200"/>
          </a:xfrm>
          <a:custGeom>
            <a:rect b="b" l="l" r="r" t="t"/>
            <a:pathLst>
              <a:path extrusionOk="0" h="812800" w="49804">
                <a:moveTo>
                  <a:pt x="0" y="0"/>
                </a:moveTo>
                <a:lnTo>
                  <a:pt x="49804" y="0"/>
                </a:lnTo>
                <a:lnTo>
                  <a:pt x="49804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07" name="Google Shape;507;p26"/>
          <p:cNvSpPr/>
          <p:nvPr/>
        </p:nvSpPr>
        <p:spPr>
          <a:xfrm>
            <a:off x="3314096" y="2380251"/>
            <a:ext cx="259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 Insight:</a:t>
            </a: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Proactive compliance reduces breach risk by 73% and lowers incident costs by 42%</a:t>
            </a:r>
            <a:endParaRPr b="0" i="0" sz="900" u="none" cap="none" strike="noStrike"/>
          </a:p>
        </p:txBody>
      </p:sp>
      <p:sp>
        <p:nvSpPr>
          <p:cNvPr id="508" name="Google Shape;508;p26"/>
          <p:cNvSpPr/>
          <p:nvPr/>
        </p:nvSpPr>
        <p:spPr>
          <a:xfrm>
            <a:off x="6114998" y="871170"/>
            <a:ext cx="2743200" cy="28015"/>
          </a:xfrm>
          <a:custGeom>
            <a:rect b="b" l="l" r="r" t="t"/>
            <a:pathLst>
              <a:path extrusionOk="0" h="49804" w="4876800">
                <a:moveTo>
                  <a:pt x="0" y="0"/>
                </a:moveTo>
                <a:lnTo>
                  <a:pt x="4876800" y="0"/>
                </a:lnTo>
                <a:lnTo>
                  <a:pt x="4876800" y="49804"/>
                </a:lnTo>
                <a:lnTo>
                  <a:pt x="0" y="4980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09" name="Google Shape;509;p26"/>
          <p:cNvSpPr/>
          <p:nvPr/>
        </p:nvSpPr>
        <p:spPr>
          <a:xfrm>
            <a:off x="6114998" y="999469"/>
            <a:ext cx="400050" cy="400050"/>
          </a:xfrm>
          <a:custGeom>
            <a:rect b="b" l="l" r="r" t="t"/>
            <a:pathLst>
              <a:path extrusionOk="0" h="711200" w="711200">
                <a:moveTo>
                  <a:pt x="0" y="0"/>
                </a:moveTo>
                <a:lnTo>
                  <a:pt x="711200" y="0"/>
                </a:lnTo>
                <a:lnTo>
                  <a:pt x="7112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10" name="Google Shape;510;p26"/>
          <p:cNvSpPr/>
          <p:nvPr/>
        </p:nvSpPr>
        <p:spPr>
          <a:xfrm>
            <a:off x="6229271" y="1113759"/>
            <a:ext cx="171450" cy="171450"/>
          </a:xfrm>
          <a:custGeom>
            <a:rect b="b" l="l" r="r" t="t"/>
            <a:pathLst>
              <a:path extrusionOk="0" h="304800" w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6"/>
          <p:cNvSpPr/>
          <p:nvPr/>
        </p:nvSpPr>
        <p:spPr>
          <a:xfrm>
            <a:off x="6600746" y="1099492"/>
            <a:ext cx="15644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Your Professional Value</a:t>
            </a:r>
            <a:endParaRPr b="0" i="0" sz="900" u="none" cap="none" strike="noStrike"/>
          </a:p>
        </p:txBody>
      </p:sp>
      <p:sp>
        <p:nvSpPr>
          <p:cNvPr id="512" name="Google Shape;512;p26"/>
          <p:cNvSpPr/>
          <p:nvPr/>
        </p:nvSpPr>
        <p:spPr>
          <a:xfrm>
            <a:off x="6114998" y="1466096"/>
            <a:ext cx="28005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Security professionals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well-versed in cyberlaw and regulatory frameworks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stand head and shoulders above the rest. This expertise is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highly sought after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900" u="none" cap="none" strike="noStrike"/>
          </a:p>
        </p:txBody>
      </p:sp>
      <p:sp>
        <p:nvSpPr>
          <p:cNvPr id="513" name="Google Shape;513;p26"/>
          <p:cNvSpPr/>
          <p:nvPr/>
        </p:nvSpPr>
        <p:spPr>
          <a:xfrm>
            <a:off x="6129005" y="2108859"/>
            <a:ext cx="2728632" cy="457200"/>
          </a:xfrm>
          <a:custGeom>
            <a:rect b="b" l="l" r="r" t="t"/>
            <a:pathLst>
              <a:path extrusionOk="0" h="812800" w="4850902">
                <a:moveTo>
                  <a:pt x="0" y="0"/>
                </a:moveTo>
                <a:lnTo>
                  <a:pt x="4850902" y="0"/>
                </a:lnTo>
                <a:lnTo>
                  <a:pt x="4850902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514" name="Google Shape;514;p26"/>
          <p:cNvSpPr/>
          <p:nvPr/>
        </p:nvSpPr>
        <p:spPr>
          <a:xfrm>
            <a:off x="6129005" y="2108859"/>
            <a:ext cx="28015" cy="457200"/>
          </a:xfrm>
          <a:custGeom>
            <a:rect b="b" l="l" r="r" t="t"/>
            <a:pathLst>
              <a:path extrusionOk="0" h="812800" w="49804">
                <a:moveTo>
                  <a:pt x="0" y="0"/>
                </a:moveTo>
                <a:lnTo>
                  <a:pt x="49804" y="0"/>
                </a:lnTo>
                <a:lnTo>
                  <a:pt x="49804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15" name="Google Shape;515;p26"/>
          <p:cNvSpPr/>
          <p:nvPr/>
        </p:nvSpPr>
        <p:spPr>
          <a:xfrm>
            <a:off x="6228720" y="2194566"/>
            <a:ext cx="259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Market Data:</a:t>
            </a: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Compliance professionals earn 23% premium; 89% of CISOs prioritize regulatory expertise</a:t>
            </a:r>
            <a:endParaRPr b="0" i="0" sz="900" u="none" cap="none" strike="noStrike"/>
          </a:p>
        </p:txBody>
      </p:sp>
      <p:sp>
        <p:nvSpPr>
          <p:cNvPr id="516" name="Google Shape;516;p26"/>
          <p:cNvSpPr/>
          <p:nvPr/>
        </p:nvSpPr>
        <p:spPr>
          <a:xfrm>
            <a:off x="293013" y="2887779"/>
            <a:ext cx="8557932" cy="1455938"/>
          </a:xfrm>
          <a:custGeom>
            <a:rect b="b" l="l" r="r" t="t"/>
            <a:pathLst>
              <a:path extrusionOk="0" h="2971302" w="15214102">
                <a:moveTo>
                  <a:pt x="0" y="0"/>
                </a:moveTo>
                <a:lnTo>
                  <a:pt x="15214102" y="0"/>
                </a:lnTo>
                <a:lnTo>
                  <a:pt x="15214102" y="2971302"/>
                </a:lnTo>
                <a:lnTo>
                  <a:pt x="0" y="29713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249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6"/>
          <p:cNvSpPr/>
          <p:nvPr/>
        </p:nvSpPr>
        <p:spPr>
          <a:xfrm>
            <a:off x="378592" y="2887775"/>
            <a:ext cx="8386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Business Case for Regulatory Expertise</a:t>
            </a:r>
            <a:endParaRPr b="0" i="0" sz="900" u="none" cap="none" strike="noStrike"/>
          </a:p>
        </p:txBody>
      </p:sp>
      <p:sp>
        <p:nvSpPr>
          <p:cNvPr id="518" name="Google Shape;518;p26"/>
          <p:cNvSpPr/>
          <p:nvPr/>
        </p:nvSpPr>
        <p:spPr>
          <a:xfrm>
            <a:off x="1182352" y="3202065"/>
            <a:ext cx="457200" cy="457200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19" name="Google Shape;519;p26"/>
          <p:cNvSpPr/>
          <p:nvPr/>
        </p:nvSpPr>
        <p:spPr>
          <a:xfrm>
            <a:off x="1345747" y="3323491"/>
            <a:ext cx="133945" cy="214313"/>
          </a:xfrm>
          <a:custGeom>
            <a:rect b="b" l="l" r="r" t="t"/>
            <a:pathLst>
              <a:path extrusionOk="0" h="381000" w="238125">
                <a:moveTo>
                  <a:pt x="101203" y="17859"/>
                </a:moveTo>
                <a:cubicBezTo>
                  <a:pt x="101203" y="7962"/>
                  <a:pt x="109165" y="0"/>
                  <a:pt x="119063" y="0"/>
                </a:cubicBezTo>
                <a:cubicBezTo>
                  <a:pt x="128960" y="0"/>
                  <a:pt x="136922" y="7962"/>
                  <a:pt x="136922" y="17859"/>
                </a:cubicBezTo>
                <a:lnTo>
                  <a:pt x="136922" y="47625"/>
                </a:lnTo>
                <a:lnTo>
                  <a:pt x="178594" y="47625"/>
                </a:lnTo>
                <a:cubicBezTo>
                  <a:pt x="191765" y="47625"/>
                  <a:pt x="202406" y="58266"/>
                  <a:pt x="202406" y="71438"/>
                </a:cubicBezTo>
                <a:cubicBezTo>
                  <a:pt x="202406" y="84609"/>
                  <a:pt x="191765" y="95250"/>
                  <a:pt x="178594" y="95250"/>
                </a:cubicBezTo>
                <a:lnTo>
                  <a:pt x="93092" y="95250"/>
                </a:lnTo>
                <a:cubicBezTo>
                  <a:pt x="74563" y="95250"/>
                  <a:pt x="59531" y="110282"/>
                  <a:pt x="59531" y="128811"/>
                </a:cubicBezTo>
                <a:cubicBezTo>
                  <a:pt x="59531" y="145554"/>
                  <a:pt x="71810" y="159693"/>
                  <a:pt x="88329" y="162074"/>
                </a:cubicBezTo>
                <a:lnTo>
                  <a:pt x="156493" y="171822"/>
                </a:lnTo>
                <a:cubicBezTo>
                  <a:pt x="196528" y="177552"/>
                  <a:pt x="226219" y="211782"/>
                  <a:pt x="226219" y="252189"/>
                </a:cubicBezTo>
                <a:cubicBezTo>
                  <a:pt x="226219" y="297061"/>
                  <a:pt x="189830" y="333375"/>
                  <a:pt x="145033" y="333375"/>
                </a:cubicBezTo>
                <a:lnTo>
                  <a:pt x="136922" y="333375"/>
                </a:lnTo>
                <a:lnTo>
                  <a:pt x="136922" y="363141"/>
                </a:lnTo>
                <a:cubicBezTo>
                  <a:pt x="136922" y="373038"/>
                  <a:pt x="128960" y="381000"/>
                  <a:pt x="119063" y="381000"/>
                </a:cubicBezTo>
                <a:cubicBezTo>
                  <a:pt x="109165" y="381000"/>
                  <a:pt x="101203" y="373038"/>
                  <a:pt x="101203" y="363141"/>
                </a:cubicBezTo>
                <a:lnTo>
                  <a:pt x="101203" y="333375"/>
                </a:lnTo>
                <a:lnTo>
                  <a:pt x="47625" y="333375"/>
                </a:lnTo>
                <a:cubicBezTo>
                  <a:pt x="34454" y="333375"/>
                  <a:pt x="23812" y="322734"/>
                  <a:pt x="23812" y="309563"/>
                </a:cubicBezTo>
                <a:cubicBezTo>
                  <a:pt x="23812" y="296391"/>
                  <a:pt x="34454" y="285750"/>
                  <a:pt x="47625" y="285750"/>
                </a:cubicBezTo>
                <a:lnTo>
                  <a:pt x="145033" y="285750"/>
                </a:lnTo>
                <a:cubicBezTo>
                  <a:pt x="163562" y="285750"/>
                  <a:pt x="178594" y="270718"/>
                  <a:pt x="178594" y="252189"/>
                </a:cubicBezTo>
                <a:cubicBezTo>
                  <a:pt x="178594" y="235446"/>
                  <a:pt x="166315" y="221307"/>
                  <a:pt x="149796" y="218926"/>
                </a:cubicBezTo>
                <a:lnTo>
                  <a:pt x="81632" y="209178"/>
                </a:lnTo>
                <a:cubicBezTo>
                  <a:pt x="41597" y="203522"/>
                  <a:pt x="11906" y="169218"/>
                  <a:pt x="11906" y="128811"/>
                </a:cubicBezTo>
                <a:cubicBezTo>
                  <a:pt x="11906" y="84013"/>
                  <a:pt x="48295" y="47625"/>
                  <a:pt x="93092" y="47625"/>
                </a:cubicBezTo>
                <a:lnTo>
                  <a:pt x="101203" y="47625"/>
                </a:lnTo>
                <a:lnTo>
                  <a:pt x="101203" y="178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6"/>
          <p:cNvSpPr/>
          <p:nvPr/>
        </p:nvSpPr>
        <p:spPr>
          <a:xfrm>
            <a:off x="360733" y="3716352"/>
            <a:ext cx="2100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$4.45M</a:t>
            </a:r>
            <a:endParaRPr b="0" i="0" sz="900" u="none" cap="none" strike="noStrike"/>
          </a:p>
        </p:txBody>
      </p:sp>
      <p:sp>
        <p:nvSpPr>
          <p:cNvPr id="521" name="Google Shape;521;p26"/>
          <p:cNvSpPr/>
          <p:nvPr/>
        </p:nvSpPr>
        <p:spPr>
          <a:xfrm>
            <a:off x="385736" y="4002057"/>
            <a:ext cx="20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Average Breach Cost</a:t>
            </a:r>
            <a:endParaRPr b="0" i="0" sz="900" u="none" cap="none" strike="noStrike"/>
          </a:p>
        </p:txBody>
      </p:sp>
      <p:sp>
        <p:nvSpPr>
          <p:cNvPr id="522" name="Google Shape;522;p26"/>
          <p:cNvSpPr/>
          <p:nvPr/>
        </p:nvSpPr>
        <p:spPr>
          <a:xfrm>
            <a:off x="389308" y="4173472"/>
            <a:ext cx="20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Without compliance</a:t>
            </a:r>
            <a:endParaRPr b="0" i="0" sz="900" u="none" cap="none" strike="noStrike"/>
          </a:p>
        </p:txBody>
      </p:sp>
      <p:sp>
        <p:nvSpPr>
          <p:cNvPr id="523" name="Google Shape;523;p26"/>
          <p:cNvSpPr/>
          <p:nvPr/>
        </p:nvSpPr>
        <p:spPr>
          <a:xfrm>
            <a:off x="3289890" y="3202065"/>
            <a:ext cx="457200" cy="457200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24" name="Google Shape;524;p26"/>
          <p:cNvSpPr/>
          <p:nvPr/>
        </p:nvSpPr>
        <p:spPr>
          <a:xfrm>
            <a:off x="3413102" y="3323491"/>
            <a:ext cx="214313" cy="214313"/>
          </a:xfrm>
          <a:custGeom>
            <a:rect b="b" l="l" r="r" t="t"/>
            <a:pathLst>
              <a:path extrusionOk="0" h="381000" w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2468271" y="3716352"/>
            <a:ext cx="2100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287 days</a:t>
            </a:r>
            <a:endParaRPr b="0" i="0" sz="900" u="none" cap="none" strike="noStrike"/>
          </a:p>
        </p:txBody>
      </p:sp>
      <p:sp>
        <p:nvSpPr>
          <p:cNvPr id="526" name="Google Shape;526;p26"/>
          <p:cNvSpPr/>
          <p:nvPr/>
        </p:nvSpPr>
        <p:spPr>
          <a:xfrm>
            <a:off x="2493274" y="4002057"/>
            <a:ext cx="20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Average Breach Lifecycle</a:t>
            </a:r>
            <a:endParaRPr b="0" i="0" sz="900" u="none" cap="none" strike="noStrike"/>
          </a:p>
        </p:txBody>
      </p:sp>
      <p:sp>
        <p:nvSpPr>
          <p:cNvPr id="527" name="Google Shape;527;p26"/>
          <p:cNvSpPr/>
          <p:nvPr/>
        </p:nvSpPr>
        <p:spPr>
          <a:xfrm>
            <a:off x="2496846" y="4173472"/>
            <a:ext cx="20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Detection to containment</a:t>
            </a:r>
            <a:endParaRPr b="0" i="0" sz="900" u="none" cap="none" strike="noStrike"/>
          </a:p>
        </p:txBody>
      </p:sp>
      <p:sp>
        <p:nvSpPr>
          <p:cNvPr id="528" name="Google Shape;528;p26"/>
          <p:cNvSpPr/>
          <p:nvPr/>
        </p:nvSpPr>
        <p:spPr>
          <a:xfrm>
            <a:off x="5397427" y="3202065"/>
            <a:ext cx="457200" cy="457200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29" name="Google Shape;529;p26"/>
          <p:cNvSpPr/>
          <p:nvPr/>
        </p:nvSpPr>
        <p:spPr>
          <a:xfrm>
            <a:off x="5493850" y="3323491"/>
            <a:ext cx="267891" cy="214313"/>
          </a:xfrm>
          <a:custGeom>
            <a:rect b="b" l="l" r="r" t="t"/>
            <a:pathLst>
              <a:path extrusionOk="0" h="381000" w="47625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6"/>
          <p:cNvSpPr/>
          <p:nvPr/>
        </p:nvSpPr>
        <p:spPr>
          <a:xfrm>
            <a:off x="4575808" y="3716352"/>
            <a:ext cx="2100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65%</a:t>
            </a:r>
            <a:endParaRPr b="0" i="0" sz="900" u="none" cap="none" strike="noStrike"/>
          </a:p>
        </p:txBody>
      </p:sp>
      <p:sp>
        <p:nvSpPr>
          <p:cNvPr id="531" name="Google Shape;531;p26"/>
          <p:cNvSpPr/>
          <p:nvPr/>
        </p:nvSpPr>
        <p:spPr>
          <a:xfrm>
            <a:off x="4600811" y="4002057"/>
            <a:ext cx="20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Customer Loss</a:t>
            </a:r>
            <a:endParaRPr b="0" i="0" sz="900" u="none" cap="none" strike="noStrike"/>
          </a:p>
        </p:txBody>
      </p:sp>
      <p:sp>
        <p:nvSpPr>
          <p:cNvPr id="532" name="Google Shape;532;p26"/>
          <p:cNvSpPr/>
          <p:nvPr/>
        </p:nvSpPr>
        <p:spPr>
          <a:xfrm>
            <a:off x="4604383" y="4173472"/>
            <a:ext cx="20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After data breach</a:t>
            </a:r>
            <a:endParaRPr b="0" i="0" sz="900" u="none" cap="none" strike="noStrike"/>
          </a:p>
        </p:txBody>
      </p:sp>
      <p:sp>
        <p:nvSpPr>
          <p:cNvPr id="533" name="Google Shape;533;p26"/>
          <p:cNvSpPr/>
          <p:nvPr/>
        </p:nvSpPr>
        <p:spPr>
          <a:xfrm>
            <a:off x="7504965" y="3202065"/>
            <a:ext cx="457200" cy="457200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34" name="Google Shape;534;p26"/>
          <p:cNvSpPr/>
          <p:nvPr/>
        </p:nvSpPr>
        <p:spPr>
          <a:xfrm>
            <a:off x="7628177" y="3323491"/>
            <a:ext cx="214313" cy="214313"/>
          </a:xfrm>
          <a:custGeom>
            <a:rect b="b" l="l" r="r" t="t"/>
            <a:pathLst>
              <a:path extrusionOk="0" h="381000" w="381000">
                <a:moveTo>
                  <a:pt x="148828" y="35719"/>
                </a:moveTo>
                <a:lnTo>
                  <a:pt x="232172" y="35719"/>
                </a:lnTo>
                <a:cubicBezTo>
                  <a:pt x="235446" y="35719"/>
                  <a:pt x="238125" y="38398"/>
                  <a:pt x="238125" y="41672"/>
                </a:cubicBezTo>
                <a:lnTo>
                  <a:pt x="238125" y="71438"/>
                </a:lnTo>
                <a:lnTo>
                  <a:pt x="142875" y="71438"/>
                </a:lnTo>
                <a:lnTo>
                  <a:pt x="142875" y="41672"/>
                </a:lnTo>
                <a:cubicBezTo>
                  <a:pt x="142875" y="38398"/>
                  <a:pt x="145554" y="35719"/>
                  <a:pt x="148828" y="35719"/>
                </a:cubicBezTo>
                <a:close/>
                <a:moveTo>
                  <a:pt x="107156" y="41672"/>
                </a:moveTo>
                <a:lnTo>
                  <a:pt x="107156" y="71438"/>
                </a:lnTo>
                <a:lnTo>
                  <a:pt x="47625" y="71438"/>
                </a:lnTo>
                <a:cubicBezTo>
                  <a:pt x="21357" y="71438"/>
                  <a:pt x="0" y="92794"/>
                  <a:pt x="0" y="119063"/>
                </a:cubicBezTo>
                <a:lnTo>
                  <a:pt x="0" y="190500"/>
                </a:lnTo>
                <a:lnTo>
                  <a:pt x="381000" y="190500"/>
                </a:lnTo>
                <a:lnTo>
                  <a:pt x="381000" y="119063"/>
                </a:lnTo>
                <a:cubicBezTo>
                  <a:pt x="381000" y="92794"/>
                  <a:pt x="359643" y="71438"/>
                  <a:pt x="333375" y="71438"/>
                </a:cubicBezTo>
                <a:lnTo>
                  <a:pt x="273844" y="71438"/>
                </a:lnTo>
                <a:lnTo>
                  <a:pt x="273844" y="41672"/>
                </a:lnTo>
                <a:cubicBezTo>
                  <a:pt x="273844" y="18678"/>
                  <a:pt x="255166" y="0"/>
                  <a:pt x="232172" y="0"/>
                </a:cubicBezTo>
                <a:lnTo>
                  <a:pt x="148828" y="0"/>
                </a:lnTo>
                <a:cubicBezTo>
                  <a:pt x="125834" y="0"/>
                  <a:pt x="107156" y="18678"/>
                  <a:pt x="107156" y="41672"/>
                </a:cubicBezTo>
                <a:close/>
                <a:moveTo>
                  <a:pt x="381000" y="226219"/>
                </a:moveTo>
                <a:lnTo>
                  <a:pt x="238125" y="226219"/>
                </a:lnTo>
                <a:lnTo>
                  <a:pt x="238125" y="238125"/>
                </a:lnTo>
                <a:cubicBezTo>
                  <a:pt x="238125" y="251296"/>
                  <a:pt x="227484" y="261938"/>
                  <a:pt x="214313" y="261938"/>
                </a:cubicBezTo>
                <a:lnTo>
                  <a:pt x="166688" y="261938"/>
                </a:lnTo>
                <a:cubicBezTo>
                  <a:pt x="153516" y="261938"/>
                  <a:pt x="142875" y="251296"/>
                  <a:pt x="142875" y="238125"/>
                </a:cubicBezTo>
                <a:lnTo>
                  <a:pt x="142875" y="226219"/>
                </a:lnTo>
                <a:lnTo>
                  <a:pt x="0" y="226219"/>
                </a:ln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333375" y="357188"/>
                </a:lnTo>
                <a:cubicBezTo>
                  <a:pt x="359643" y="357188"/>
                  <a:pt x="381000" y="335831"/>
                  <a:pt x="381000" y="309563"/>
                </a:cubicBezTo>
                <a:lnTo>
                  <a:pt x="381000" y="2262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6"/>
          <p:cNvSpPr/>
          <p:nvPr/>
        </p:nvSpPr>
        <p:spPr>
          <a:xfrm>
            <a:off x="6683346" y="3716352"/>
            <a:ext cx="2100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3.5M</a:t>
            </a:r>
            <a:endParaRPr b="0" i="0" sz="900" u="none" cap="none" strike="noStrike"/>
          </a:p>
        </p:txBody>
      </p:sp>
      <p:sp>
        <p:nvSpPr>
          <p:cNvPr id="536" name="Google Shape;536;p26"/>
          <p:cNvSpPr/>
          <p:nvPr/>
        </p:nvSpPr>
        <p:spPr>
          <a:xfrm>
            <a:off x="6708349" y="4002057"/>
            <a:ext cx="20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Unfilled Cyber Jobs</a:t>
            </a:r>
            <a:endParaRPr b="0" i="0" sz="900" u="none" cap="none" strike="noStrike"/>
          </a:p>
        </p:txBody>
      </p:sp>
      <p:sp>
        <p:nvSpPr>
          <p:cNvPr id="537" name="Google Shape;537;p26"/>
          <p:cNvSpPr/>
          <p:nvPr/>
        </p:nvSpPr>
        <p:spPr>
          <a:xfrm>
            <a:off x="6711921" y="4173472"/>
            <a:ext cx="20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Global shortage by 2025</a:t>
            </a:r>
            <a:endParaRPr b="0" i="0" sz="900" u="none" cap="none" strike="noStrike"/>
          </a:p>
        </p:txBody>
      </p:sp>
      <p:sp>
        <p:nvSpPr>
          <p:cNvPr id="538" name="Google Shape;538;p26"/>
          <p:cNvSpPr/>
          <p:nvPr/>
        </p:nvSpPr>
        <p:spPr>
          <a:xfrm>
            <a:off x="293207" y="4479766"/>
            <a:ext cx="8557932" cy="457200"/>
          </a:xfrm>
          <a:custGeom>
            <a:rect b="b" l="l" r="r" t="t"/>
            <a:pathLst>
              <a:path extrusionOk="0" h="812800" w="15214102">
                <a:moveTo>
                  <a:pt x="0" y="0"/>
                </a:moveTo>
                <a:lnTo>
                  <a:pt x="15214102" y="0"/>
                </a:lnTo>
                <a:lnTo>
                  <a:pt x="15214102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539" name="Google Shape;539;p26"/>
          <p:cNvSpPr/>
          <p:nvPr/>
        </p:nvSpPr>
        <p:spPr>
          <a:xfrm>
            <a:off x="293207" y="4479766"/>
            <a:ext cx="28015" cy="457200"/>
          </a:xfrm>
          <a:custGeom>
            <a:rect b="b" l="l" r="r" t="t"/>
            <a:pathLst>
              <a:path extrusionOk="0" h="812800" w="49804">
                <a:moveTo>
                  <a:pt x="0" y="0"/>
                </a:moveTo>
                <a:lnTo>
                  <a:pt x="49804" y="0"/>
                </a:lnTo>
                <a:lnTo>
                  <a:pt x="49804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40" name="Google Shape;540;p26"/>
          <p:cNvSpPr/>
          <p:nvPr/>
        </p:nvSpPr>
        <p:spPr>
          <a:xfrm>
            <a:off x="421506" y="4536889"/>
            <a:ext cx="84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Strategic Recommendation: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Organizations must invest in building internal regulatory expertise through training, certification programs (CISSP, CIPP/E, CIPM), and cross-functional compliance teams. The cost of compliance is always lower than the cost of non-compliance.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9cc2a42c75101e531e3554ad74bb935d46bb05e9.jpg" id="546" name="Google Shape;546;p27"/>
          <p:cNvPicPr preferRelativeResize="0"/>
          <p:nvPr/>
        </p:nvPicPr>
        <p:blipFill rotWithShape="1">
          <a:blip r:embed="rId3">
            <a:alphaModFix amt="15000"/>
          </a:blip>
          <a:srcRect b="9532" l="0" r="0" t="9532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47" name="Google Shape;547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9144000" w="16256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94901"/>
                </a:srgbClr>
              </a:gs>
              <a:gs pos="50000">
                <a:srgbClr val="FFFFFF">
                  <a:alpha val="90196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548" name="Google Shape;548;p27"/>
          <p:cNvSpPr/>
          <p:nvPr/>
        </p:nvSpPr>
        <p:spPr>
          <a:xfrm>
            <a:off x="285750" y="314290"/>
            <a:ext cx="57150" cy="400050"/>
          </a:xfrm>
          <a:custGeom>
            <a:rect b="b" l="l" r="r" t="t"/>
            <a:pathLst>
              <a:path extrusionOk="0" h="711200" w="101600">
                <a:moveTo>
                  <a:pt x="0" y="0"/>
                </a:moveTo>
                <a:lnTo>
                  <a:pt x="101600" y="0"/>
                </a:lnTo>
                <a:lnTo>
                  <a:pt x="101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49" name="Google Shape;549;p27"/>
          <p:cNvSpPr/>
          <p:nvPr/>
        </p:nvSpPr>
        <p:spPr>
          <a:xfrm>
            <a:off x="457165" y="285750"/>
            <a:ext cx="36933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CONCLUSION</a:t>
            </a:r>
            <a:endParaRPr b="0" i="0" sz="900" u="none" cap="none" strike="noStrike"/>
          </a:p>
        </p:txBody>
      </p:sp>
      <p:sp>
        <p:nvSpPr>
          <p:cNvPr id="550" name="Google Shape;550;p27"/>
          <p:cNvSpPr/>
          <p:nvPr/>
        </p:nvSpPr>
        <p:spPr>
          <a:xfrm>
            <a:off x="457165" y="457165"/>
            <a:ext cx="3771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 Takeaways &amp; Call to Action</a:t>
            </a:r>
            <a:endParaRPr b="0" i="0" sz="900" u="none" cap="none" strike="noStrike"/>
          </a:p>
        </p:txBody>
      </p:sp>
      <p:sp>
        <p:nvSpPr>
          <p:cNvPr id="551" name="Google Shape;551;p27"/>
          <p:cNvSpPr/>
          <p:nvPr/>
        </p:nvSpPr>
        <p:spPr>
          <a:xfrm>
            <a:off x="299757" y="857159"/>
            <a:ext cx="4214532" cy="1257300"/>
          </a:xfrm>
          <a:custGeom>
            <a:rect b="b" l="l" r="r" t="t"/>
            <a:pathLst>
              <a:path extrusionOk="0" h="2235200" w="7492502">
                <a:moveTo>
                  <a:pt x="0" y="0"/>
                </a:moveTo>
                <a:lnTo>
                  <a:pt x="7492502" y="0"/>
                </a:lnTo>
                <a:lnTo>
                  <a:pt x="7492502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552" name="Google Shape;552;p27"/>
          <p:cNvSpPr/>
          <p:nvPr/>
        </p:nvSpPr>
        <p:spPr>
          <a:xfrm>
            <a:off x="299757" y="857159"/>
            <a:ext cx="28015" cy="1257300"/>
          </a:xfrm>
          <a:custGeom>
            <a:rect b="b" l="l" r="r" t="t"/>
            <a:pathLst>
              <a:path extrusionOk="0" h="2235200" w="49804">
                <a:moveTo>
                  <a:pt x="0" y="0"/>
                </a:moveTo>
                <a:lnTo>
                  <a:pt x="49804" y="0"/>
                </a:lnTo>
                <a:lnTo>
                  <a:pt x="49804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53" name="Google Shape;553;p27"/>
          <p:cNvSpPr/>
          <p:nvPr/>
        </p:nvSpPr>
        <p:spPr>
          <a:xfrm>
            <a:off x="456640" y="942870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54" name="Google Shape;554;p27"/>
          <p:cNvSpPr/>
          <p:nvPr/>
        </p:nvSpPr>
        <p:spPr>
          <a:xfrm>
            <a:off x="424493" y="942870"/>
            <a:ext cx="3500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</a:t>
            </a:r>
            <a:endParaRPr b="0" i="0" sz="900" u="none" cap="none" strike="noStrike"/>
          </a:p>
        </p:txBody>
      </p:sp>
      <p:sp>
        <p:nvSpPr>
          <p:cNvPr id="555" name="Google Shape;555;p27"/>
          <p:cNvSpPr/>
          <p:nvPr/>
        </p:nvSpPr>
        <p:spPr>
          <a:xfrm>
            <a:off x="828097" y="985719"/>
            <a:ext cx="19788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Compliance is Non-Negotiable</a:t>
            </a:r>
            <a:endParaRPr b="0" i="0" sz="900" u="none" cap="none" strike="noStrike"/>
          </a:p>
        </p:txBody>
      </p:sp>
      <p:sp>
        <p:nvSpPr>
          <p:cNvPr id="556" name="Google Shape;556;p27"/>
          <p:cNvSpPr/>
          <p:nvPr/>
        </p:nvSpPr>
        <p:spPr>
          <a:xfrm>
            <a:off x="456640" y="1285742"/>
            <a:ext cx="4114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Regulatory compliance is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not optional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—it is a fundamental business requirement. The financial penalties are severe: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HIPAA ($9.9M+ in 2024), PCI-DSS (revocation of merchant status), GDPR (€7.1B+ cumulative)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 Non-compliance threatens financial stability, reputation, and customer trust.</a:t>
            </a:r>
            <a:endParaRPr b="0" i="0" sz="900" u="none" cap="none" strike="noStrike"/>
          </a:p>
        </p:txBody>
      </p:sp>
      <p:sp>
        <p:nvSpPr>
          <p:cNvPr id="557" name="Google Shape;557;p27"/>
          <p:cNvSpPr/>
          <p:nvPr/>
        </p:nvSpPr>
        <p:spPr>
          <a:xfrm>
            <a:off x="4643131" y="857159"/>
            <a:ext cx="4214532" cy="1257300"/>
          </a:xfrm>
          <a:custGeom>
            <a:rect b="b" l="l" r="r" t="t"/>
            <a:pathLst>
              <a:path extrusionOk="0" h="2235200" w="7492502">
                <a:moveTo>
                  <a:pt x="0" y="0"/>
                </a:moveTo>
                <a:lnTo>
                  <a:pt x="7492502" y="0"/>
                </a:lnTo>
                <a:lnTo>
                  <a:pt x="7492502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558" name="Google Shape;558;p27"/>
          <p:cNvSpPr/>
          <p:nvPr/>
        </p:nvSpPr>
        <p:spPr>
          <a:xfrm>
            <a:off x="4643131" y="857159"/>
            <a:ext cx="28015" cy="1257300"/>
          </a:xfrm>
          <a:custGeom>
            <a:rect b="b" l="l" r="r" t="t"/>
            <a:pathLst>
              <a:path extrusionOk="0" h="2235200" w="49804">
                <a:moveTo>
                  <a:pt x="0" y="0"/>
                </a:moveTo>
                <a:lnTo>
                  <a:pt x="49804" y="0"/>
                </a:lnTo>
                <a:lnTo>
                  <a:pt x="49804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59" name="Google Shape;559;p27"/>
          <p:cNvSpPr/>
          <p:nvPr/>
        </p:nvSpPr>
        <p:spPr>
          <a:xfrm>
            <a:off x="4800013" y="942870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60" name="Google Shape;560;p27"/>
          <p:cNvSpPr/>
          <p:nvPr/>
        </p:nvSpPr>
        <p:spPr>
          <a:xfrm>
            <a:off x="4767866" y="942870"/>
            <a:ext cx="3500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</a:t>
            </a:r>
            <a:endParaRPr b="0" i="0" sz="900" u="none" cap="none" strike="noStrike"/>
          </a:p>
        </p:txBody>
      </p:sp>
      <p:sp>
        <p:nvSpPr>
          <p:cNvPr id="561" name="Google Shape;561;p27"/>
          <p:cNvSpPr/>
          <p:nvPr/>
        </p:nvSpPr>
        <p:spPr>
          <a:xfrm>
            <a:off x="5171471" y="985719"/>
            <a:ext cx="21288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Proactive Compliance is Essential</a:t>
            </a:r>
            <a:endParaRPr b="0" i="0" sz="900" u="none" cap="none" strike="noStrike"/>
          </a:p>
        </p:txBody>
      </p:sp>
      <p:sp>
        <p:nvSpPr>
          <p:cNvPr id="562" name="Google Shape;562;p27"/>
          <p:cNvSpPr/>
          <p:nvPr/>
        </p:nvSpPr>
        <p:spPr>
          <a:xfrm>
            <a:off x="4800013" y="1285742"/>
            <a:ext cx="41148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Organizations must move from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reactive to proactive compliance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 Implement comprehensive risk analysis, robust security controls, continuous monitoring, and regular audits.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Prevention is always more cost-effective than remediation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900" u="none" cap="none" strike="noStrike"/>
          </a:p>
        </p:txBody>
      </p:sp>
      <p:sp>
        <p:nvSpPr>
          <p:cNvPr id="563" name="Google Shape;563;p27"/>
          <p:cNvSpPr/>
          <p:nvPr/>
        </p:nvSpPr>
        <p:spPr>
          <a:xfrm>
            <a:off x="299757" y="2228480"/>
            <a:ext cx="4214532" cy="1257300"/>
          </a:xfrm>
          <a:custGeom>
            <a:rect b="b" l="l" r="r" t="t"/>
            <a:pathLst>
              <a:path extrusionOk="0" h="2235200" w="7492502">
                <a:moveTo>
                  <a:pt x="0" y="0"/>
                </a:moveTo>
                <a:lnTo>
                  <a:pt x="7492502" y="0"/>
                </a:lnTo>
                <a:lnTo>
                  <a:pt x="7492502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564" name="Google Shape;564;p27"/>
          <p:cNvSpPr/>
          <p:nvPr/>
        </p:nvSpPr>
        <p:spPr>
          <a:xfrm>
            <a:off x="299757" y="2228480"/>
            <a:ext cx="28015" cy="1257300"/>
          </a:xfrm>
          <a:custGeom>
            <a:rect b="b" l="l" r="r" t="t"/>
            <a:pathLst>
              <a:path extrusionOk="0" h="2235200" w="49804">
                <a:moveTo>
                  <a:pt x="0" y="0"/>
                </a:moveTo>
                <a:lnTo>
                  <a:pt x="49804" y="0"/>
                </a:lnTo>
                <a:lnTo>
                  <a:pt x="49804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65" name="Google Shape;565;p27"/>
          <p:cNvSpPr/>
          <p:nvPr/>
        </p:nvSpPr>
        <p:spPr>
          <a:xfrm>
            <a:off x="456640" y="2314184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66" name="Google Shape;566;p27"/>
          <p:cNvSpPr/>
          <p:nvPr/>
        </p:nvSpPr>
        <p:spPr>
          <a:xfrm>
            <a:off x="424493" y="2314184"/>
            <a:ext cx="3500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</a:t>
            </a:r>
            <a:endParaRPr b="0" i="0" sz="900" u="none" cap="none" strike="noStrike"/>
          </a:p>
        </p:txBody>
      </p:sp>
      <p:sp>
        <p:nvSpPr>
          <p:cNvPr id="567" name="Google Shape;567;p27"/>
          <p:cNvSpPr/>
          <p:nvPr/>
        </p:nvSpPr>
        <p:spPr>
          <a:xfrm>
            <a:off x="828097" y="2357040"/>
            <a:ext cx="31646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Professional Expertise is a Competitive Advantage</a:t>
            </a:r>
            <a:endParaRPr b="0" i="0" sz="900" u="none" cap="none" strike="noStrike"/>
          </a:p>
        </p:txBody>
      </p:sp>
      <p:sp>
        <p:nvSpPr>
          <p:cNvPr id="568" name="Google Shape;568;p27"/>
          <p:cNvSpPr/>
          <p:nvPr/>
        </p:nvSpPr>
        <p:spPr>
          <a:xfrm>
            <a:off x="456640" y="2657063"/>
            <a:ext cx="4114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Security professionals who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master cyberlaw and regulatory frameworks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have significant competitive advantage. This expertise commands premium compensation and is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essential for organizational success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in today's regulatory landscape.</a:t>
            </a:r>
            <a:endParaRPr b="0" i="0" sz="900" u="none" cap="none" strike="noStrike"/>
          </a:p>
        </p:txBody>
      </p:sp>
      <p:sp>
        <p:nvSpPr>
          <p:cNvPr id="569" name="Google Shape;569;p27"/>
          <p:cNvSpPr/>
          <p:nvPr/>
        </p:nvSpPr>
        <p:spPr>
          <a:xfrm>
            <a:off x="4643131" y="2228480"/>
            <a:ext cx="4214532" cy="1257300"/>
          </a:xfrm>
          <a:custGeom>
            <a:rect b="b" l="l" r="r" t="t"/>
            <a:pathLst>
              <a:path extrusionOk="0" h="2235200" w="7492502">
                <a:moveTo>
                  <a:pt x="0" y="0"/>
                </a:moveTo>
                <a:lnTo>
                  <a:pt x="7492502" y="0"/>
                </a:lnTo>
                <a:lnTo>
                  <a:pt x="7492502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570" name="Google Shape;570;p27"/>
          <p:cNvSpPr/>
          <p:nvPr/>
        </p:nvSpPr>
        <p:spPr>
          <a:xfrm>
            <a:off x="4643131" y="2228480"/>
            <a:ext cx="28015" cy="1257300"/>
          </a:xfrm>
          <a:custGeom>
            <a:rect b="b" l="l" r="r" t="t"/>
            <a:pathLst>
              <a:path extrusionOk="0" h="2235200" w="49804">
                <a:moveTo>
                  <a:pt x="0" y="0"/>
                </a:moveTo>
                <a:lnTo>
                  <a:pt x="49804" y="0"/>
                </a:lnTo>
                <a:lnTo>
                  <a:pt x="49804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71" name="Google Shape;571;p27"/>
          <p:cNvSpPr/>
          <p:nvPr/>
        </p:nvSpPr>
        <p:spPr>
          <a:xfrm>
            <a:off x="4800013" y="2314184"/>
            <a:ext cx="285750" cy="285750"/>
          </a:xfrm>
          <a:custGeom>
            <a:rect b="b" l="l" r="r" t="t"/>
            <a:pathLst>
              <a:path extrusionOk="0" h="508000" w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</p:sp>
      <p:sp>
        <p:nvSpPr>
          <p:cNvPr id="572" name="Google Shape;572;p27"/>
          <p:cNvSpPr/>
          <p:nvPr/>
        </p:nvSpPr>
        <p:spPr>
          <a:xfrm>
            <a:off x="4767866" y="2314184"/>
            <a:ext cx="3500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</a:t>
            </a:r>
            <a:endParaRPr b="0" i="0" sz="900" u="none" cap="none" strike="noStrike"/>
          </a:p>
        </p:txBody>
      </p:sp>
      <p:sp>
        <p:nvSpPr>
          <p:cNvPr id="573" name="Google Shape;573;p27"/>
          <p:cNvSpPr/>
          <p:nvPr/>
        </p:nvSpPr>
        <p:spPr>
          <a:xfrm>
            <a:off x="5171471" y="2357040"/>
            <a:ext cx="172164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Bridge the Knowledge Gap</a:t>
            </a:r>
            <a:endParaRPr b="0" i="0" sz="900" u="none" cap="none" strike="noStrike"/>
          </a:p>
        </p:txBody>
      </p:sp>
      <p:sp>
        <p:nvSpPr>
          <p:cNvPr id="574" name="Google Shape;574;p27"/>
          <p:cNvSpPr/>
          <p:nvPr/>
        </p:nvSpPr>
        <p:spPr>
          <a:xfrm>
            <a:off x="4800013" y="2657063"/>
            <a:ext cx="4114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Organizations must </a:t>
            </a:r>
            <a:r>
              <a:rPr b="1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invest in building internal regulatory expertise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through training, certification, and cross-functional teams. Understanding applicable legislation enables precise implementation of required controls and </a:t>
            </a:r>
            <a:r>
              <a:rPr b="0" i="0" lang="en" sz="9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demonstrates due diligence to regulators</a:t>
            </a:r>
            <a:r>
              <a:rPr b="0" i="0" lang="en" sz="9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b="0" i="0" sz="900" u="none" cap="none" strike="noStrike"/>
          </a:p>
        </p:txBody>
      </p:sp>
      <p:sp>
        <p:nvSpPr>
          <p:cNvPr id="575" name="Google Shape;575;p27"/>
          <p:cNvSpPr/>
          <p:nvPr/>
        </p:nvSpPr>
        <p:spPr>
          <a:xfrm>
            <a:off x="292754" y="3606805"/>
            <a:ext cx="8557932" cy="1157007"/>
          </a:xfrm>
          <a:custGeom>
            <a:rect b="b" l="l" r="r" t="t"/>
            <a:pathLst>
              <a:path extrusionOk="0" h="2056902" w="15214102">
                <a:moveTo>
                  <a:pt x="0" y="0"/>
                </a:moveTo>
                <a:lnTo>
                  <a:pt x="15214102" y="0"/>
                </a:lnTo>
                <a:lnTo>
                  <a:pt x="15214102" y="2056902"/>
                </a:lnTo>
                <a:lnTo>
                  <a:pt x="0" y="20569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 cap="flat" cmpd="sng" w="249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27"/>
          <p:cNvSpPr/>
          <p:nvPr/>
        </p:nvSpPr>
        <p:spPr>
          <a:xfrm>
            <a:off x="478342" y="3756636"/>
            <a:ext cx="192881" cy="257175"/>
          </a:xfrm>
          <a:custGeom>
            <a:rect b="b" l="l" r="r" t="t"/>
            <a:pathLst>
              <a:path extrusionOk="0" h="457200" w="3429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849765" y="3728096"/>
            <a:ext cx="7965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Call to Action</a:t>
            </a:r>
            <a:endParaRPr b="0" i="0" sz="900" u="none" cap="none" strike="noStrike"/>
          </a:p>
        </p:txBody>
      </p:sp>
      <p:sp>
        <p:nvSpPr>
          <p:cNvPr id="578" name="Google Shape;578;p27"/>
          <p:cNvSpPr/>
          <p:nvPr/>
        </p:nvSpPr>
        <p:spPr>
          <a:xfrm>
            <a:off x="849765" y="4013804"/>
            <a:ext cx="79438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Start your compliance journey today.</a:t>
            </a:r>
            <a:r>
              <a:rPr b="0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Conduct a comprehensive gap analysis against HIPAA, PCI-DSS, and GDPR requirements. Develop a prioritized remediation roadmap. Invest in training and certification for your security team. Remember: </a:t>
            </a:r>
            <a:r>
              <a:rPr b="0" i="0" lang="en" sz="1000" u="none" cap="none" strike="noStrike">
                <a:solidFill>
                  <a:srgbClr val="8B000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cost of compliance is always lower than the cost of non-compliance</a:t>
            </a:r>
            <a:r>
              <a:rPr b="0" i="0" lang="en" sz="1000" u="none" cap="none" strike="noStrike">
                <a:solidFill>
                  <a:srgbClr val="1F2937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 Protect data, maintain trust, and avoid penalties.</a:t>
            </a:r>
            <a:endParaRPr b="0" i="0" sz="900" u="none" cap="none" strike="noStrike"/>
          </a:p>
        </p:txBody>
      </p:sp>
      <p:sp>
        <p:nvSpPr>
          <p:cNvPr id="579" name="Google Shape;579;p27"/>
          <p:cNvSpPr/>
          <p:nvPr/>
        </p:nvSpPr>
        <p:spPr>
          <a:xfrm>
            <a:off x="2990062" y="4883269"/>
            <a:ext cx="114300" cy="1143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7"/>
          <p:cNvSpPr/>
          <p:nvPr/>
        </p:nvSpPr>
        <p:spPr>
          <a:xfrm>
            <a:off x="3175773" y="4854729"/>
            <a:ext cx="6715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Protect Data</a:t>
            </a:r>
            <a:endParaRPr b="0" i="0" sz="900" u="none" cap="none" strike="noStrike"/>
          </a:p>
        </p:txBody>
      </p:sp>
      <p:sp>
        <p:nvSpPr>
          <p:cNvPr id="581" name="Google Shape;581;p27"/>
          <p:cNvSpPr/>
          <p:nvPr/>
        </p:nvSpPr>
        <p:spPr>
          <a:xfrm>
            <a:off x="4023796" y="4883269"/>
            <a:ext cx="128588" cy="114300"/>
          </a:xfrm>
          <a:custGeom>
            <a:rect b="b" l="l" r="r" t="t"/>
            <a:pathLst>
              <a:path extrusionOk="0" h="203200" w="228600">
                <a:moveTo>
                  <a:pt x="106720" y="33814"/>
                </a:moveTo>
                <a:lnTo>
                  <a:pt x="60444" y="85249"/>
                </a:lnTo>
                <a:cubicBezTo>
                  <a:pt x="58618" y="87273"/>
                  <a:pt x="58698" y="90408"/>
                  <a:pt x="60643" y="92353"/>
                </a:cubicBezTo>
                <a:cubicBezTo>
                  <a:pt x="72747" y="104458"/>
                  <a:pt x="92393" y="104458"/>
                  <a:pt x="104497" y="92353"/>
                </a:cubicBezTo>
                <a:lnTo>
                  <a:pt x="117118" y="79732"/>
                </a:lnTo>
                <a:cubicBezTo>
                  <a:pt x="118785" y="78065"/>
                  <a:pt x="120888" y="77153"/>
                  <a:pt x="123031" y="76994"/>
                </a:cubicBezTo>
                <a:cubicBezTo>
                  <a:pt x="125730" y="76756"/>
                  <a:pt x="128508" y="77668"/>
                  <a:pt x="130572" y="79732"/>
                </a:cubicBezTo>
                <a:lnTo>
                  <a:pt x="200660" y="149225"/>
                </a:lnTo>
                <a:lnTo>
                  <a:pt x="228600" y="127000"/>
                </a:lnTo>
                <a:lnTo>
                  <a:pt x="228600" y="12700"/>
                </a:lnTo>
                <a:lnTo>
                  <a:pt x="184150" y="38100"/>
                </a:lnTo>
                <a:lnTo>
                  <a:pt x="174704" y="31790"/>
                </a:lnTo>
                <a:cubicBezTo>
                  <a:pt x="168434" y="27622"/>
                  <a:pt x="161092" y="25400"/>
                  <a:pt x="153551" y="25400"/>
                </a:cubicBezTo>
                <a:lnTo>
                  <a:pt x="125611" y="25400"/>
                </a:lnTo>
                <a:cubicBezTo>
                  <a:pt x="125174" y="25400"/>
                  <a:pt x="124698" y="25400"/>
                  <a:pt x="124262" y="25440"/>
                </a:cubicBezTo>
                <a:cubicBezTo>
                  <a:pt x="117554" y="25797"/>
                  <a:pt x="111244" y="28813"/>
                  <a:pt x="106720" y="33814"/>
                </a:cubicBezTo>
                <a:close/>
                <a:moveTo>
                  <a:pt x="46276" y="72509"/>
                </a:moveTo>
                <a:lnTo>
                  <a:pt x="88662" y="25400"/>
                </a:lnTo>
                <a:lnTo>
                  <a:pt x="72946" y="25400"/>
                </a:lnTo>
                <a:cubicBezTo>
                  <a:pt x="62825" y="25400"/>
                  <a:pt x="53142" y="29408"/>
                  <a:pt x="45998" y="36552"/>
                </a:cubicBezTo>
                <a:lnTo>
                  <a:pt x="44450" y="38100"/>
                </a:lnTo>
                <a:lnTo>
                  <a:pt x="0" y="12700"/>
                </a:lnTo>
                <a:lnTo>
                  <a:pt x="0" y="127000"/>
                </a:lnTo>
                <a:lnTo>
                  <a:pt x="62071" y="178713"/>
                </a:lnTo>
                <a:cubicBezTo>
                  <a:pt x="71199" y="186333"/>
                  <a:pt x="82709" y="190500"/>
                  <a:pt x="94575" y="190500"/>
                </a:cubicBezTo>
                <a:lnTo>
                  <a:pt x="100806" y="190500"/>
                </a:lnTo>
                <a:lnTo>
                  <a:pt x="98028" y="187722"/>
                </a:lnTo>
                <a:cubicBezTo>
                  <a:pt x="94298" y="183991"/>
                  <a:pt x="94298" y="177959"/>
                  <a:pt x="98028" y="174268"/>
                </a:cubicBezTo>
                <a:cubicBezTo>
                  <a:pt x="101759" y="170577"/>
                  <a:pt x="107791" y="170537"/>
                  <a:pt x="111482" y="174268"/>
                </a:cubicBezTo>
                <a:lnTo>
                  <a:pt x="127754" y="190540"/>
                </a:lnTo>
                <a:lnTo>
                  <a:pt x="131326" y="190540"/>
                </a:lnTo>
                <a:cubicBezTo>
                  <a:pt x="138906" y="190540"/>
                  <a:pt x="146328" y="188833"/>
                  <a:pt x="153075" y="185658"/>
                </a:cubicBezTo>
                <a:lnTo>
                  <a:pt x="142478" y="175022"/>
                </a:lnTo>
                <a:cubicBezTo>
                  <a:pt x="138748" y="171291"/>
                  <a:pt x="138748" y="165259"/>
                  <a:pt x="142478" y="161568"/>
                </a:cubicBezTo>
                <a:cubicBezTo>
                  <a:pt x="146209" y="157877"/>
                  <a:pt x="152241" y="157837"/>
                  <a:pt x="155932" y="161568"/>
                </a:cubicBezTo>
                <a:lnTo>
                  <a:pt x="168632" y="174268"/>
                </a:lnTo>
                <a:lnTo>
                  <a:pt x="175577" y="167323"/>
                </a:lnTo>
                <a:cubicBezTo>
                  <a:pt x="179110" y="163790"/>
                  <a:pt x="180142" y="158671"/>
                  <a:pt x="178594" y="154186"/>
                </a:cubicBezTo>
                <a:lnTo>
                  <a:pt x="123865" y="99893"/>
                </a:lnTo>
                <a:lnTo>
                  <a:pt x="117951" y="105807"/>
                </a:lnTo>
                <a:cubicBezTo>
                  <a:pt x="98385" y="125373"/>
                  <a:pt x="66715" y="125373"/>
                  <a:pt x="47149" y="105807"/>
                </a:cubicBezTo>
                <a:cubicBezTo>
                  <a:pt x="38021" y="96679"/>
                  <a:pt x="37663" y="82034"/>
                  <a:pt x="46276" y="72469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4216651" y="4854729"/>
            <a:ext cx="807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Maintain Trust</a:t>
            </a:r>
            <a:endParaRPr b="0" i="0" sz="900" u="none" cap="none" strike="noStrike"/>
          </a:p>
        </p:txBody>
      </p:sp>
      <p:sp>
        <p:nvSpPr>
          <p:cNvPr id="583" name="Google Shape;583;p27"/>
          <p:cNvSpPr/>
          <p:nvPr/>
        </p:nvSpPr>
        <p:spPr>
          <a:xfrm>
            <a:off x="5192132" y="4883269"/>
            <a:ext cx="142875" cy="114300"/>
          </a:xfrm>
          <a:custGeom>
            <a:rect b="b" l="l" r="r" t="t"/>
            <a:pathLst>
              <a:path extrusionOk="0" h="203200" w="254000">
                <a:moveTo>
                  <a:pt x="152400" y="12700"/>
                </a:moveTo>
                <a:lnTo>
                  <a:pt x="203200" y="12700"/>
                </a:lnTo>
                <a:cubicBezTo>
                  <a:pt x="210225" y="12700"/>
                  <a:pt x="215900" y="18375"/>
                  <a:pt x="215900" y="25400"/>
                </a:cubicBezTo>
                <a:cubicBezTo>
                  <a:pt x="215900" y="32425"/>
                  <a:pt x="210225" y="38100"/>
                  <a:pt x="203200" y="38100"/>
                </a:cubicBezTo>
                <a:lnTo>
                  <a:pt x="158115" y="38100"/>
                </a:lnTo>
                <a:cubicBezTo>
                  <a:pt x="156051" y="48339"/>
                  <a:pt x="149027" y="56793"/>
                  <a:pt x="139700" y="60841"/>
                </a:cubicBezTo>
                <a:lnTo>
                  <a:pt x="139700" y="177800"/>
                </a:lnTo>
                <a:lnTo>
                  <a:pt x="203200" y="177800"/>
                </a:lnTo>
                <a:cubicBezTo>
                  <a:pt x="210225" y="177800"/>
                  <a:pt x="215900" y="183475"/>
                  <a:pt x="215900" y="190500"/>
                </a:cubicBezTo>
                <a:cubicBezTo>
                  <a:pt x="215900" y="197525"/>
                  <a:pt x="210225" y="203200"/>
                  <a:pt x="203200" y="203200"/>
                </a:cubicBezTo>
                <a:lnTo>
                  <a:pt x="50800" y="203200"/>
                </a:lnTo>
                <a:cubicBezTo>
                  <a:pt x="43775" y="203200"/>
                  <a:pt x="38100" y="197525"/>
                  <a:pt x="38100" y="190500"/>
                </a:cubicBezTo>
                <a:cubicBezTo>
                  <a:pt x="38100" y="183475"/>
                  <a:pt x="43775" y="177800"/>
                  <a:pt x="50800" y="177800"/>
                </a:cubicBezTo>
                <a:lnTo>
                  <a:pt x="114300" y="177800"/>
                </a:lnTo>
                <a:lnTo>
                  <a:pt x="114300" y="60841"/>
                </a:lnTo>
                <a:cubicBezTo>
                  <a:pt x="104973" y="56753"/>
                  <a:pt x="97949" y="48300"/>
                  <a:pt x="95885" y="38100"/>
                </a:cubicBezTo>
                <a:lnTo>
                  <a:pt x="50800" y="38100"/>
                </a:lnTo>
                <a:cubicBezTo>
                  <a:pt x="43775" y="38100"/>
                  <a:pt x="38100" y="32425"/>
                  <a:pt x="38100" y="25400"/>
                </a:cubicBezTo>
                <a:cubicBezTo>
                  <a:pt x="38100" y="18375"/>
                  <a:pt x="43775" y="12700"/>
                  <a:pt x="50800" y="12700"/>
                </a:cubicBezTo>
                <a:lnTo>
                  <a:pt x="101600" y="12700"/>
                </a:lnTo>
                <a:cubicBezTo>
                  <a:pt x="107394" y="5001"/>
                  <a:pt x="116602" y="0"/>
                  <a:pt x="127000" y="0"/>
                </a:cubicBezTo>
                <a:cubicBezTo>
                  <a:pt x="137398" y="0"/>
                  <a:pt x="146606" y="5001"/>
                  <a:pt x="152400" y="12700"/>
                </a:cubicBezTo>
                <a:close/>
                <a:moveTo>
                  <a:pt x="174466" y="127000"/>
                </a:moveTo>
                <a:lnTo>
                  <a:pt x="231934" y="127000"/>
                </a:lnTo>
                <a:lnTo>
                  <a:pt x="203200" y="77708"/>
                </a:lnTo>
                <a:lnTo>
                  <a:pt x="174466" y="127000"/>
                </a:lnTo>
                <a:close/>
                <a:moveTo>
                  <a:pt x="203200" y="165100"/>
                </a:moveTo>
                <a:cubicBezTo>
                  <a:pt x="178237" y="165100"/>
                  <a:pt x="157480" y="151606"/>
                  <a:pt x="153194" y="133787"/>
                </a:cubicBezTo>
                <a:cubicBezTo>
                  <a:pt x="152162" y="129421"/>
                  <a:pt x="153591" y="124936"/>
                  <a:pt x="155853" y="121047"/>
                </a:cubicBezTo>
                <a:lnTo>
                  <a:pt x="193635" y="56277"/>
                </a:lnTo>
                <a:cubicBezTo>
                  <a:pt x="195620" y="52864"/>
                  <a:pt x="199271" y="50800"/>
                  <a:pt x="203200" y="50800"/>
                </a:cubicBezTo>
                <a:cubicBezTo>
                  <a:pt x="207129" y="50800"/>
                  <a:pt x="210780" y="52903"/>
                  <a:pt x="212765" y="56277"/>
                </a:cubicBezTo>
                <a:lnTo>
                  <a:pt x="250547" y="121047"/>
                </a:lnTo>
                <a:cubicBezTo>
                  <a:pt x="252809" y="124936"/>
                  <a:pt x="254238" y="129421"/>
                  <a:pt x="253206" y="133787"/>
                </a:cubicBezTo>
                <a:cubicBezTo>
                  <a:pt x="248920" y="151567"/>
                  <a:pt x="228163" y="165100"/>
                  <a:pt x="203200" y="165100"/>
                </a:cubicBezTo>
                <a:close/>
                <a:moveTo>
                  <a:pt x="50324" y="77708"/>
                </a:moveTo>
                <a:lnTo>
                  <a:pt x="21590" y="127000"/>
                </a:lnTo>
                <a:lnTo>
                  <a:pt x="79097" y="127000"/>
                </a:lnTo>
                <a:lnTo>
                  <a:pt x="50324" y="77708"/>
                </a:lnTo>
                <a:close/>
                <a:moveTo>
                  <a:pt x="357" y="133787"/>
                </a:moveTo>
                <a:cubicBezTo>
                  <a:pt x="-675" y="129421"/>
                  <a:pt x="754" y="124936"/>
                  <a:pt x="3016" y="121047"/>
                </a:cubicBezTo>
                <a:lnTo>
                  <a:pt x="40799" y="56277"/>
                </a:lnTo>
                <a:cubicBezTo>
                  <a:pt x="42783" y="52864"/>
                  <a:pt x="46434" y="50800"/>
                  <a:pt x="50363" y="50800"/>
                </a:cubicBezTo>
                <a:cubicBezTo>
                  <a:pt x="54293" y="50800"/>
                  <a:pt x="57944" y="52903"/>
                  <a:pt x="59928" y="56277"/>
                </a:cubicBezTo>
                <a:lnTo>
                  <a:pt x="97711" y="121047"/>
                </a:lnTo>
                <a:cubicBezTo>
                  <a:pt x="99973" y="124936"/>
                  <a:pt x="101402" y="129421"/>
                  <a:pt x="100370" y="133787"/>
                </a:cubicBezTo>
                <a:cubicBezTo>
                  <a:pt x="96083" y="151567"/>
                  <a:pt x="75327" y="165100"/>
                  <a:pt x="50363" y="165100"/>
                </a:cubicBezTo>
                <a:cubicBezTo>
                  <a:pt x="25400" y="165100"/>
                  <a:pt x="4643" y="151606"/>
                  <a:pt x="357" y="133787"/>
                </a:cubicBezTo>
                <a:close/>
              </a:path>
            </a:pathLst>
          </a:custGeom>
          <a:solidFill>
            <a:srgbClr val="8B000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5392131" y="4854729"/>
            <a:ext cx="8358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Avoid Penalties</a:t>
            </a:r>
            <a:endParaRPr b="0" i="0" sz="9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